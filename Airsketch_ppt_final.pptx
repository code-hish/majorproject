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9144000" cy="5143500"/>
  <p:embeddedFontLst>
    <p:embeddedFont>
      <p:font typeface="Robo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AEAFE88-0B47-443B-AB1A-5A2CBCF41706}">
  <a:tblStyle styleId="{EAEAFE88-0B47-443B-AB1A-5A2CBCF41706}"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68BD0A6-1AFE-4EE6-B650-E037337C5E72}"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1: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 name="Google Shape;66;p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2: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4: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0: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4" name="Google Shape;104;p1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1: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1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2: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p12: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3: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3" name="Google Shape;163;p1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4: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0" name="Google Shape;170;p14: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5: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6: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16: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7: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17: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8: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p18: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9: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p19: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20: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7" name="Google Shape;227;p20: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21:notes"/>
          <p:cNvSpPr/>
          <p:nvPr>
            <p:ph idx="2" type="sldImg"/>
          </p:nvPr>
        </p:nvSpPr>
        <p:spPr>
          <a:xfrm>
            <a:off x="1524300" y="385750"/>
            <a:ext cx="6096300" cy="19287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21:notes"/>
          <p:cNvSpPr txBox="1"/>
          <p:nvPr>
            <p:ph idx="1" type="body"/>
          </p:nvPr>
        </p:nvSpPr>
        <p:spPr>
          <a:xfrm>
            <a:off x="914400" y="2443150"/>
            <a:ext cx="7315200" cy="2314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2: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p22: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3: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p23: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9.png"/><Relationship Id="rId4" Type="http://schemas.openxmlformats.org/officeDocument/2006/relationships/image" Target="../media/image14.png"/><Relationship Id="rId5" Type="http://schemas.openxmlformats.org/officeDocument/2006/relationships/image" Target="../media/image1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2"/>
          <p:cNvSpPr txBox="1"/>
          <p:nvPr>
            <p:ph type="title"/>
          </p:nvPr>
        </p:nvSpPr>
        <p:spPr>
          <a:xfrm>
            <a:off x="2270730" y="522820"/>
            <a:ext cx="4678045" cy="52831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3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
          <p:cNvSpPr txBox="1"/>
          <p:nvPr>
            <p:ph idx="1" type="body"/>
          </p:nvPr>
        </p:nvSpPr>
        <p:spPr>
          <a:xfrm>
            <a:off x="420299" y="1595937"/>
            <a:ext cx="8377555" cy="2875279"/>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i="0" sz="1700">
                <a:solidFill>
                  <a:schemeClr val="lt1"/>
                </a:solidFill>
                <a:latin typeface="Cambria"/>
                <a:ea typeface="Cambria"/>
                <a:cs typeface="Cambria"/>
                <a:sym typeface="Cambria"/>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showMasterSp="0">
  <p:cSld name="Two Content">
    <p:bg>
      <p:bgPr>
        <a:solidFill>
          <a:schemeClr val="lt1"/>
        </a:solidFill>
      </p:bgPr>
    </p:bg>
    <p:spTree>
      <p:nvGrpSpPr>
        <p:cNvPr id="35" name="Shape 35"/>
        <p:cNvGrpSpPr/>
        <p:nvPr/>
      </p:nvGrpSpPr>
      <p:grpSpPr>
        <a:xfrm>
          <a:off x="0" y="0"/>
          <a:ext cx="0" cy="0"/>
          <a:chOff x="0" y="0"/>
          <a:chExt cx="0" cy="0"/>
        </a:xfrm>
      </p:grpSpPr>
      <p:pic>
        <p:nvPicPr>
          <p:cNvPr id="36" name="Google Shape;36;p3"/>
          <p:cNvPicPr preferRelativeResize="0"/>
          <p:nvPr/>
        </p:nvPicPr>
        <p:blipFill rotWithShape="1">
          <a:blip r:embed="rId2">
            <a:alphaModFix/>
          </a:blip>
          <a:srcRect b="0" l="0" r="0" t="0"/>
          <a:stretch/>
        </p:blipFill>
        <p:spPr>
          <a:xfrm>
            <a:off x="0" y="0"/>
            <a:ext cx="9144000" cy="5143498"/>
          </a:xfrm>
          <a:prstGeom prst="rect">
            <a:avLst/>
          </a:prstGeom>
          <a:noFill/>
          <a:ln>
            <a:noFill/>
          </a:ln>
        </p:spPr>
      </p:pic>
      <p:sp>
        <p:nvSpPr>
          <p:cNvPr id="37" name="Google Shape;37;p3"/>
          <p:cNvSpPr/>
          <p:nvPr/>
        </p:nvSpPr>
        <p:spPr>
          <a:xfrm>
            <a:off x="0" y="101676"/>
            <a:ext cx="1958339" cy="391160"/>
          </a:xfrm>
          <a:custGeom>
            <a:rect b="b" l="l" r="r" t="t"/>
            <a:pathLst>
              <a:path extrusionOk="0" h="391159" w="1958339">
                <a:moveTo>
                  <a:pt x="0" y="390796"/>
                </a:moveTo>
                <a:lnTo>
                  <a:pt x="408062" y="390796"/>
                </a:lnTo>
                <a:lnTo>
                  <a:pt x="799155" y="0"/>
                </a:lnTo>
                <a:lnTo>
                  <a:pt x="1957965"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8" name="Google Shape;38;p3"/>
          <p:cNvPicPr preferRelativeResize="0"/>
          <p:nvPr/>
        </p:nvPicPr>
        <p:blipFill rotWithShape="1">
          <a:blip r:embed="rId3">
            <a:alphaModFix/>
          </a:blip>
          <a:srcRect b="0" l="0" r="0" t="0"/>
          <a:stretch/>
        </p:blipFill>
        <p:spPr>
          <a:xfrm>
            <a:off x="1920527" y="64489"/>
            <a:ext cx="74623" cy="74623"/>
          </a:xfrm>
          <a:prstGeom prst="rect">
            <a:avLst/>
          </a:prstGeom>
          <a:noFill/>
          <a:ln>
            <a:noFill/>
          </a:ln>
        </p:spPr>
      </p:pic>
      <p:sp>
        <p:nvSpPr>
          <p:cNvPr id="39" name="Google Shape;39;p3"/>
          <p:cNvSpPr/>
          <p:nvPr/>
        </p:nvSpPr>
        <p:spPr>
          <a:xfrm>
            <a:off x="0" y="4650776"/>
            <a:ext cx="1958339" cy="391160"/>
          </a:xfrm>
          <a:custGeom>
            <a:rect b="b" l="l" r="r" t="t"/>
            <a:pathLst>
              <a:path extrusionOk="0" h="391160" w="1958339">
                <a:moveTo>
                  <a:pt x="0" y="0"/>
                </a:moveTo>
                <a:lnTo>
                  <a:pt x="408062" y="0"/>
                </a:lnTo>
                <a:lnTo>
                  <a:pt x="799155" y="390795"/>
                </a:lnTo>
                <a:lnTo>
                  <a:pt x="1957965" y="390795"/>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 name="Google Shape;40;p3"/>
          <p:cNvPicPr preferRelativeResize="0"/>
          <p:nvPr/>
        </p:nvPicPr>
        <p:blipFill rotWithShape="1">
          <a:blip r:embed="rId4">
            <a:alphaModFix/>
          </a:blip>
          <a:srcRect b="0" l="0" r="0" t="0"/>
          <a:stretch/>
        </p:blipFill>
        <p:spPr>
          <a:xfrm>
            <a:off x="1920527" y="5004383"/>
            <a:ext cx="74623" cy="74623"/>
          </a:xfrm>
          <a:prstGeom prst="rect">
            <a:avLst/>
          </a:prstGeom>
          <a:noFill/>
          <a:ln>
            <a:noFill/>
          </a:ln>
        </p:spPr>
      </p:pic>
      <p:pic>
        <p:nvPicPr>
          <p:cNvPr id="41" name="Google Shape;41;p3"/>
          <p:cNvPicPr preferRelativeResize="0"/>
          <p:nvPr/>
        </p:nvPicPr>
        <p:blipFill rotWithShape="1">
          <a:blip r:embed="rId5">
            <a:alphaModFix/>
          </a:blip>
          <a:srcRect b="0" l="0" r="0" t="0"/>
          <a:stretch/>
        </p:blipFill>
        <p:spPr>
          <a:xfrm>
            <a:off x="1139325" y="1843725"/>
            <a:ext cx="2855249" cy="1456049"/>
          </a:xfrm>
          <a:prstGeom prst="rect">
            <a:avLst/>
          </a:prstGeom>
          <a:noFill/>
          <a:ln>
            <a:noFill/>
          </a:ln>
        </p:spPr>
      </p:pic>
      <p:sp>
        <p:nvSpPr>
          <p:cNvPr id="42" name="Google Shape;42;p3"/>
          <p:cNvSpPr txBox="1"/>
          <p:nvPr>
            <p:ph type="title"/>
          </p:nvPr>
        </p:nvSpPr>
        <p:spPr>
          <a:xfrm>
            <a:off x="2270730" y="522820"/>
            <a:ext cx="4678045" cy="52831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3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4" name="Google Shape;44;p3"/>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45" name="Google Shape;45;p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p:cSld name="Blank">
    <p:bg>
      <p:bgPr>
        <a:solidFill>
          <a:schemeClr val="lt1"/>
        </a:solidFill>
      </p:bgPr>
    </p:bg>
    <p:spTree>
      <p:nvGrpSpPr>
        <p:cNvPr id="48" name="Shape 48"/>
        <p:cNvGrpSpPr/>
        <p:nvPr/>
      </p:nvGrpSpPr>
      <p:grpSpPr>
        <a:xfrm>
          <a:off x="0" y="0"/>
          <a:ext cx="0" cy="0"/>
          <a:chOff x="0" y="0"/>
          <a:chExt cx="0" cy="0"/>
        </a:xfrm>
      </p:grpSpPr>
      <p:pic>
        <p:nvPicPr>
          <p:cNvPr id="49" name="Google Shape;49;p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0" name="Google Shape;50;p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53" name="Shape 53"/>
        <p:cNvGrpSpPr/>
        <p:nvPr/>
      </p:nvGrpSpPr>
      <p:grpSpPr>
        <a:xfrm>
          <a:off x="0" y="0"/>
          <a:ext cx="0" cy="0"/>
          <a:chOff x="0" y="0"/>
          <a:chExt cx="0" cy="0"/>
        </a:xfrm>
      </p:grpSpPr>
      <p:sp>
        <p:nvSpPr>
          <p:cNvPr id="54" name="Google Shape;54;p5"/>
          <p:cNvSpPr txBox="1"/>
          <p:nvPr>
            <p:ph type="title"/>
          </p:nvPr>
        </p:nvSpPr>
        <p:spPr>
          <a:xfrm>
            <a:off x="2270730" y="522820"/>
            <a:ext cx="4678045" cy="528319"/>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3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58" name="Shape 58"/>
        <p:cNvGrpSpPr/>
        <p:nvPr/>
      </p:nvGrpSpPr>
      <p:grpSpPr>
        <a:xfrm>
          <a:off x="0" y="0"/>
          <a:ext cx="0" cy="0"/>
          <a:chOff x="0" y="0"/>
          <a:chExt cx="0" cy="0"/>
        </a:xfrm>
      </p:grpSpPr>
      <p:sp>
        <p:nvSpPr>
          <p:cNvPr id="59" name="Google Shape;59;p6"/>
          <p:cNvSpPr txBox="1"/>
          <p:nvPr>
            <p:ph type="ctrTitle"/>
          </p:nvPr>
        </p:nvSpPr>
        <p:spPr>
          <a:xfrm>
            <a:off x="685800" y="1594485"/>
            <a:ext cx="7772400" cy="10801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0" i="0" sz="3300">
                <a:solidFill>
                  <a:schemeClr val="lt1"/>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700">
                <a:solidFill>
                  <a:schemeClr val="lt1"/>
                </a:solidFill>
                <a:latin typeface="Cambria"/>
                <a:ea typeface="Cambria"/>
                <a:cs typeface="Cambria"/>
                <a:sym typeface="Cambr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image" Target="../media/image11.png"/><Relationship Id="rId13" Type="http://schemas.openxmlformats.org/officeDocument/2006/relationships/slideLayout" Target="../slideLayouts/slideLayout2.xml"/><Relationship Id="rId12" Type="http://schemas.openxmlformats.org/officeDocument/2006/relationships/slideLayout" Target="../slideLayouts/slideLayout1.xml"/><Relationship Id="rId1" Type="http://schemas.openxmlformats.org/officeDocument/2006/relationships/image" Target="../media/image1.jp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16.png"/><Relationship Id="rId9" Type="http://schemas.openxmlformats.org/officeDocument/2006/relationships/image" Target="../media/image4.png"/><Relationship Id="rId15" Type="http://schemas.openxmlformats.org/officeDocument/2006/relationships/slideLayout" Target="../slideLayouts/slideLayout4.xml"/><Relationship Id="rId14" Type="http://schemas.openxmlformats.org/officeDocument/2006/relationships/slideLayout" Target="../slideLayouts/slideLayout3.xml"/><Relationship Id="rId17" Type="http://schemas.openxmlformats.org/officeDocument/2006/relationships/theme" Target="../theme/theme1.xml"/><Relationship Id="rId16" Type="http://schemas.openxmlformats.org/officeDocument/2006/relationships/slideLayout" Target="../slideLayouts/slideLayout5.xml"/><Relationship Id="rId5" Type="http://schemas.openxmlformats.org/officeDocument/2006/relationships/image" Target="../media/image17.png"/><Relationship Id="rId6" Type="http://schemas.openxmlformats.org/officeDocument/2006/relationships/image" Target="../media/image6.png"/><Relationship Id="rId7" Type="http://schemas.openxmlformats.org/officeDocument/2006/relationships/image" Target="../media/image15.png"/><Relationship Id="rId8" Type="http://schemas.openxmlformats.org/officeDocument/2006/relationships/image" Target="../media/image13.png"/></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7" name="Google Shape;7;p1"/>
          <p:cNvSpPr/>
          <p:nvPr/>
        </p:nvSpPr>
        <p:spPr>
          <a:xfrm>
            <a:off x="8797889" y="310053"/>
            <a:ext cx="0" cy="753110"/>
          </a:xfrm>
          <a:custGeom>
            <a:rect b="b" l="l" r="r" t="t"/>
            <a:pathLst>
              <a:path extrusionOk="0" h="753110" w="120000">
                <a:moveTo>
                  <a:pt x="0" y="752996"/>
                </a:move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 name="Google Shape;8;p1"/>
          <p:cNvPicPr preferRelativeResize="0"/>
          <p:nvPr/>
        </p:nvPicPr>
        <p:blipFill rotWithShape="1">
          <a:blip r:embed="rId2">
            <a:alphaModFix/>
          </a:blip>
          <a:srcRect b="0" l="0" r="0" t="0"/>
          <a:stretch/>
        </p:blipFill>
        <p:spPr>
          <a:xfrm>
            <a:off x="8753671" y="1019914"/>
            <a:ext cx="86275" cy="86275"/>
          </a:xfrm>
          <a:prstGeom prst="rect">
            <a:avLst/>
          </a:prstGeom>
          <a:noFill/>
          <a:ln>
            <a:noFill/>
          </a:ln>
        </p:spPr>
      </p:pic>
      <p:pic>
        <p:nvPicPr>
          <p:cNvPr id="9" name="Google Shape;9;p1"/>
          <p:cNvPicPr preferRelativeResize="0"/>
          <p:nvPr/>
        </p:nvPicPr>
        <p:blipFill rotWithShape="1">
          <a:blip r:embed="rId3">
            <a:alphaModFix/>
          </a:blip>
          <a:srcRect b="0" l="0" r="0" t="0"/>
          <a:stretch/>
        </p:blipFill>
        <p:spPr>
          <a:xfrm>
            <a:off x="8754380" y="268214"/>
            <a:ext cx="86275" cy="86275"/>
          </a:xfrm>
          <a:prstGeom prst="rect">
            <a:avLst/>
          </a:prstGeom>
          <a:noFill/>
          <a:ln>
            <a:noFill/>
          </a:ln>
        </p:spPr>
      </p:pic>
      <p:sp>
        <p:nvSpPr>
          <p:cNvPr id="10" name="Google Shape;10;p1"/>
          <p:cNvSpPr/>
          <p:nvPr/>
        </p:nvSpPr>
        <p:spPr>
          <a:xfrm>
            <a:off x="8361706" y="0"/>
            <a:ext cx="290195" cy="1434465"/>
          </a:xfrm>
          <a:custGeom>
            <a:rect b="b" l="l" r="r" t="t"/>
            <a:pathLst>
              <a:path extrusionOk="0" h="1434465" w="290195">
                <a:moveTo>
                  <a:pt x="139425" y="1434302"/>
                </a:moveTo>
                <a:lnTo>
                  <a:pt x="139425" y="810545"/>
                </a:lnTo>
                <a:lnTo>
                  <a:pt x="0" y="670715"/>
                </a:lnTo>
                <a:lnTo>
                  <a:pt x="0" y="292867"/>
                </a:lnTo>
                <a:lnTo>
                  <a:pt x="289681"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 name="Google Shape;11;p1"/>
          <p:cNvPicPr preferRelativeResize="0"/>
          <p:nvPr/>
        </p:nvPicPr>
        <p:blipFill rotWithShape="1">
          <a:blip r:embed="rId4">
            <a:alphaModFix/>
          </a:blip>
          <a:srcRect b="0" l="0" r="0" t="0"/>
          <a:stretch/>
        </p:blipFill>
        <p:spPr>
          <a:xfrm>
            <a:off x="8464392" y="1397144"/>
            <a:ext cx="72734" cy="74346"/>
          </a:xfrm>
          <a:prstGeom prst="rect">
            <a:avLst/>
          </a:prstGeom>
          <a:noFill/>
          <a:ln>
            <a:noFill/>
          </a:ln>
        </p:spPr>
      </p:pic>
      <p:sp>
        <p:nvSpPr>
          <p:cNvPr id="12" name="Google Shape;12;p1"/>
          <p:cNvSpPr/>
          <p:nvPr/>
        </p:nvSpPr>
        <p:spPr>
          <a:xfrm>
            <a:off x="8470010" y="4617498"/>
            <a:ext cx="455930" cy="370840"/>
          </a:xfrm>
          <a:custGeom>
            <a:rect b="b" l="l" r="r" t="t"/>
            <a:pathLst>
              <a:path extrusionOk="0" h="370839" w="455929">
                <a:moveTo>
                  <a:pt x="0" y="0"/>
                </a:moveTo>
                <a:lnTo>
                  <a:pt x="206543" y="0"/>
                </a:lnTo>
                <a:lnTo>
                  <a:pt x="455492" y="248947"/>
                </a:lnTo>
                <a:lnTo>
                  <a:pt x="455661" y="370513"/>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 name="Google Shape;13;p1"/>
          <p:cNvPicPr preferRelativeResize="0"/>
          <p:nvPr/>
        </p:nvPicPr>
        <p:blipFill rotWithShape="1">
          <a:blip r:embed="rId5">
            <a:alphaModFix/>
          </a:blip>
          <a:srcRect b="0" l="0" r="0" t="0"/>
          <a:stretch/>
        </p:blipFill>
        <p:spPr>
          <a:xfrm>
            <a:off x="8435621" y="4583944"/>
            <a:ext cx="68781" cy="68779"/>
          </a:xfrm>
          <a:prstGeom prst="rect">
            <a:avLst/>
          </a:prstGeom>
          <a:noFill/>
          <a:ln>
            <a:noFill/>
          </a:ln>
        </p:spPr>
      </p:pic>
      <p:pic>
        <p:nvPicPr>
          <p:cNvPr id="14" name="Google Shape;14;p1"/>
          <p:cNvPicPr preferRelativeResize="0"/>
          <p:nvPr/>
        </p:nvPicPr>
        <p:blipFill rotWithShape="1">
          <a:blip r:embed="rId6">
            <a:alphaModFix/>
          </a:blip>
          <a:srcRect b="0" l="0" r="0" t="0"/>
          <a:stretch/>
        </p:blipFill>
        <p:spPr>
          <a:xfrm>
            <a:off x="8891077" y="4954664"/>
            <a:ext cx="68778" cy="68779"/>
          </a:xfrm>
          <a:prstGeom prst="rect">
            <a:avLst/>
          </a:prstGeom>
          <a:noFill/>
          <a:ln>
            <a:noFill/>
          </a:ln>
        </p:spPr>
      </p:pic>
      <p:sp>
        <p:nvSpPr>
          <p:cNvPr id="15" name="Google Shape;15;p1"/>
          <p:cNvSpPr/>
          <p:nvPr/>
        </p:nvSpPr>
        <p:spPr>
          <a:xfrm>
            <a:off x="7970103" y="4849851"/>
            <a:ext cx="1174115" cy="15240"/>
          </a:xfrm>
          <a:custGeom>
            <a:rect b="b" l="l" r="r" t="t"/>
            <a:pathLst>
              <a:path extrusionOk="0" h="15239" w="1174115">
                <a:moveTo>
                  <a:pt x="1173895" y="0"/>
                </a:moveTo>
                <a:lnTo>
                  <a:pt x="1158809" y="15074"/>
                </a:lnTo>
                <a:lnTo>
                  <a:pt x="0" y="15074"/>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 name="Google Shape;16;p1"/>
          <p:cNvPicPr preferRelativeResize="0"/>
          <p:nvPr/>
        </p:nvPicPr>
        <p:blipFill rotWithShape="1">
          <a:blip r:embed="rId7">
            <a:alphaModFix/>
          </a:blip>
          <a:srcRect b="0" l="0" r="0" t="0"/>
          <a:stretch/>
        </p:blipFill>
        <p:spPr>
          <a:xfrm>
            <a:off x="7932918" y="4827738"/>
            <a:ext cx="74624" cy="74623"/>
          </a:xfrm>
          <a:prstGeom prst="rect">
            <a:avLst/>
          </a:prstGeom>
          <a:noFill/>
          <a:ln>
            <a:noFill/>
          </a:ln>
        </p:spPr>
      </p:pic>
      <p:sp>
        <p:nvSpPr>
          <p:cNvPr id="17" name="Google Shape;17;p1"/>
          <p:cNvSpPr/>
          <p:nvPr/>
        </p:nvSpPr>
        <p:spPr>
          <a:xfrm>
            <a:off x="0" y="116625"/>
            <a:ext cx="1104265" cy="0"/>
          </a:xfrm>
          <a:custGeom>
            <a:rect b="b" l="l" r="r" t="t"/>
            <a:pathLst>
              <a:path extrusionOk="0" h="120000" w="1104265">
                <a:moveTo>
                  <a:pt x="0" y="0"/>
                </a:moveTo>
                <a:lnTo>
                  <a:pt x="1103663"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 name="Google Shape;18;p1"/>
          <p:cNvPicPr preferRelativeResize="0"/>
          <p:nvPr/>
        </p:nvPicPr>
        <p:blipFill rotWithShape="1">
          <a:blip r:embed="rId8">
            <a:alphaModFix/>
          </a:blip>
          <a:srcRect b="0" l="0" r="0" t="0"/>
          <a:stretch/>
        </p:blipFill>
        <p:spPr>
          <a:xfrm>
            <a:off x="1066469" y="79439"/>
            <a:ext cx="72823" cy="74623"/>
          </a:xfrm>
          <a:prstGeom prst="rect">
            <a:avLst/>
          </a:prstGeom>
          <a:noFill/>
          <a:ln>
            <a:noFill/>
          </a:ln>
        </p:spPr>
      </p:pic>
      <p:sp>
        <p:nvSpPr>
          <p:cNvPr id="19" name="Google Shape;19;p1"/>
          <p:cNvSpPr/>
          <p:nvPr/>
        </p:nvSpPr>
        <p:spPr>
          <a:xfrm>
            <a:off x="0" y="4628733"/>
            <a:ext cx="530860" cy="368300"/>
          </a:xfrm>
          <a:custGeom>
            <a:rect b="b" l="l" r="r" t="t"/>
            <a:pathLst>
              <a:path extrusionOk="0" h="368300" w="530860">
                <a:moveTo>
                  <a:pt x="530340" y="368295"/>
                </a:moveTo>
                <a:lnTo>
                  <a:pt x="182533" y="20439"/>
                </a:lnTo>
                <a:lnTo>
                  <a:pt x="20457" y="20439"/>
                </a:ln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 name="Google Shape;20;p1"/>
          <p:cNvPicPr preferRelativeResize="0"/>
          <p:nvPr/>
        </p:nvPicPr>
        <p:blipFill rotWithShape="1">
          <a:blip r:embed="rId9">
            <a:alphaModFix/>
          </a:blip>
          <a:srcRect b="0" l="0" r="0" t="0"/>
          <a:stretch/>
        </p:blipFill>
        <p:spPr>
          <a:xfrm>
            <a:off x="494618" y="4961304"/>
            <a:ext cx="73261" cy="73262"/>
          </a:xfrm>
          <a:prstGeom prst="rect">
            <a:avLst/>
          </a:prstGeom>
          <a:noFill/>
          <a:ln>
            <a:noFill/>
          </a:ln>
        </p:spPr>
      </p:pic>
      <p:sp>
        <p:nvSpPr>
          <p:cNvPr id="21" name="Google Shape;21;p1"/>
          <p:cNvSpPr/>
          <p:nvPr/>
        </p:nvSpPr>
        <p:spPr>
          <a:xfrm>
            <a:off x="324902" y="4291167"/>
            <a:ext cx="791845" cy="624840"/>
          </a:xfrm>
          <a:custGeom>
            <a:rect b="b" l="l" r="r" t="t"/>
            <a:pathLst>
              <a:path extrusionOk="0" h="624839" w="791844">
                <a:moveTo>
                  <a:pt x="791842" y="624602"/>
                </a:moveTo>
                <a:lnTo>
                  <a:pt x="319807" y="624602"/>
                </a:lnTo>
                <a:lnTo>
                  <a:pt x="0" y="304394"/>
                </a:ln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 name="Google Shape;22;p1"/>
          <p:cNvPicPr preferRelativeResize="0"/>
          <p:nvPr/>
        </p:nvPicPr>
        <p:blipFill rotWithShape="1">
          <a:blip r:embed="rId10">
            <a:alphaModFix/>
          </a:blip>
          <a:srcRect b="0" l="0" r="0" t="0"/>
          <a:stretch/>
        </p:blipFill>
        <p:spPr>
          <a:xfrm>
            <a:off x="1079560" y="4878582"/>
            <a:ext cx="72733" cy="72733"/>
          </a:xfrm>
          <a:prstGeom prst="rect">
            <a:avLst/>
          </a:prstGeom>
          <a:noFill/>
          <a:ln>
            <a:noFill/>
          </a:ln>
        </p:spPr>
      </p:pic>
      <p:pic>
        <p:nvPicPr>
          <p:cNvPr id="23" name="Google Shape;23;p1"/>
          <p:cNvPicPr preferRelativeResize="0"/>
          <p:nvPr/>
        </p:nvPicPr>
        <p:blipFill rotWithShape="1">
          <a:blip r:embed="rId11">
            <a:alphaModFix/>
          </a:blip>
          <a:srcRect b="0" l="0" r="0" t="0"/>
          <a:stretch/>
        </p:blipFill>
        <p:spPr>
          <a:xfrm>
            <a:off x="287715" y="4255687"/>
            <a:ext cx="74346" cy="72733"/>
          </a:xfrm>
          <a:prstGeom prst="rect">
            <a:avLst/>
          </a:prstGeom>
          <a:noFill/>
          <a:ln>
            <a:noFill/>
          </a:ln>
        </p:spPr>
      </p:pic>
      <p:sp>
        <p:nvSpPr>
          <p:cNvPr id="24" name="Google Shape;24;p1"/>
          <p:cNvSpPr txBox="1"/>
          <p:nvPr>
            <p:ph type="title"/>
          </p:nvPr>
        </p:nvSpPr>
        <p:spPr>
          <a:xfrm>
            <a:off x="2270730" y="522820"/>
            <a:ext cx="4678045" cy="52831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3300" u="none" cap="none" strike="noStrike">
                <a:solidFill>
                  <a:schemeClr val="lt1"/>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5" name="Google Shape;25;p1"/>
          <p:cNvSpPr txBox="1"/>
          <p:nvPr>
            <p:ph idx="1" type="body"/>
          </p:nvPr>
        </p:nvSpPr>
        <p:spPr>
          <a:xfrm>
            <a:off x="420299" y="1595937"/>
            <a:ext cx="8377555" cy="2875279"/>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1" i="0" sz="1700" u="none" cap="none" strike="noStrike">
                <a:solidFill>
                  <a:schemeClr val="lt1"/>
                </a:solidFill>
                <a:latin typeface="Cambria"/>
                <a:ea typeface="Cambria"/>
                <a:cs typeface="Cambria"/>
                <a:sym typeface="Cambria"/>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26" name="Google Shape;26;p1"/>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7" name="Google Shape;27;p1"/>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8" name="Google Shape;28;p1"/>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12"/>
    <p:sldLayoutId id="2147483649" r:id="rId13"/>
    <p:sldLayoutId id="2147483650" r:id="rId14"/>
    <p:sldLayoutId id="2147483651" r:id="rId15"/>
    <p:sldLayoutId id="2147483652"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15.png"/><Relationship Id="rId5" Type="http://schemas.openxmlformats.org/officeDocument/2006/relationships/image" Target="../media/image13.png"/><Relationship Id="rId6" Type="http://schemas.openxmlformats.org/officeDocument/2006/relationships/image" Target="../media/image2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16.png"/><Relationship Id="rId13" Type="http://schemas.openxmlformats.org/officeDocument/2006/relationships/image" Target="../media/image25.png"/><Relationship Id="rId12" Type="http://schemas.openxmlformats.org/officeDocument/2006/relationships/image" Target="../media/image11.png"/><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6.png"/><Relationship Id="rId9" Type="http://schemas.openxmlformats.org/officeDocument/2006/relationships/image" Target="../media/image3.png"/><Relationship Id="rId5" Type="http://schemas.openxmlformats.org/officeDocument/2006/relationships/image" Target="../media/image15.png"/><Relationship Id="rId6" Type="http://schemas.openxmlformats.org/officeDocument/2006/relationships/image" Target="../media/image4.png"/><Relationship Id="rId7" Type="http://schemas.openxmlformats.org/officeDocument/2006/relationships/image" Target="../media/image7.png"/><Relationship Id="rId8" Type="http://schemas.openxmlformats.org/officeDocument/2006/relationships/image" Target="../media/image2.png"/></Relationships>
</file>

<file path=ppt/slides/_rels/slide6.xml.rels><?xml version="1.0" encoding="UTF-8" standalone="yes"?><Relationships xmlns="http://schemas.openxmlformats.org/package/2006/relationships"><Relationship Id="rId11" Type="http://schemas.openxmlformats.org/officeDocument/2006/relationships/image" Target="../media/image11.png"/><Relationship Id="rId10" Type="http://schemas.openxmlformats.org/officeDocument/2006/relationships/image" Target="../media/image4.png"/><Relationship Id="rId12" Type="http://schemas.openxmlformats.org/officeDocument/2006/relationships/image" Target="../media/image7.png"/><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 Id="rId9" Type="http://schemas.openxmlformats.org/officeDocument/2006/relationships/image" Target="../media/image13.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6.png"/><Relationship Id="rId8"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1.png"/><Relationship Id="rId4" Type="http://schemas.openxmlformats.org/officeDocument/2006/relationships/image" Target="../media/image27.png"/><Relationship Id="rId5" Type="http://schemas.openxmlformats.org/officeDocument/2006/relationships/image" Target="../media/image20.png"/><Relationship Id="rId6"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7" name="Shape 67"/>
        <p:cNvGrpSpPr/>
        <p:nvPr/>
      </p:nvGrpSpPr>
      <p:grpSpPr>
        <a:xfrm>
          <a:off x="0" y="0"/>
          <a:ext cx="0" cy="0"/>
          <a:chOff x="0" y="0"/>
          <a:chExt cx="0" cy="0"/>
        </a:xfrm>
      </p:grpSpPr>
      <p:pic>
        <p:nvPicPr>
          <p:cNvPr id="68" name="Google Shape;68;p7"/>
          <p:cNvPicPr preferRelativeResize="0"/>
          <p:nvPr/>
        </p:nvPicPr>
        <p:blipFill rotWithShape="1">
          <a:blip r:embed="rId3">
            <a:alphaModFix/>
          </a:blip>
          <a:srcRect b="0" l="0" r="0" t="0"/>
          <a:stretch/>
        </p:blipFill>
        <p:spPr>
          <a:xfrm>
            <a:off x="0" y="8164"/>
            <a:ext cx="9143999" cy="5135335"/>
          </a:xfrm>
          <a:prstGeom prst="rect">
            <a:avLst/>
          </a:prstGeom>
          <a:noFill/>
          <a:ln>
            <a:noFill/>
          </a:ln>
        </p:spPr>
      </p:pic>
      <p:grpSp>
        <p:nvGrpSpPr>
          <p:cNvPr id="69" name="Google Shape;69;p7"/>
          <p:cNvGrpSpPr/>
          <p:nvPr/>
        </p:nvGrpSpPr>
        <p:grpSpPr>
          <a:xfrm>
            <a:off x="7342344" y="4597079"/>
            <a:ext cx="1801849" cy="428232"/>
            <a:chOff x="7342344" y="4597079"/>
            <a:chExt cx="1801849" cy="428232"/>
          </a:xfrm>
        </p:grpSpPr>
        <p:sp>
          <p:nvSpPr>
            <p:cNvPr id="70" name="Google Shape;70;p7"/>
            <p:cNvSpPr/>
            <p:nvPr/>
          </p:nvSpPr>
          <p:spPr>
            <a:xfrm>
              <a:off x="7379529" y="4597079"/>
              <a:ext cx="1764664" cy="391160"/>
            </a:xfrm>
            <a:custGeom>
              <a:rect b="b" l="l" r="r" t="t"/>
              <a:pathLst>
                <a:path extrusionOk="0" h="391160" w="1764665">
                  <a:moveTo>
                    <a:pt x="1764470" y="0"/>
                  </a:moveTo>
                  <a:lnTo>
                    <a:pt x="1549901" y="0"/>
                  </a:lnTo>
                  <a:lnTo>
                    <a:pt x="1158808" y="390795"/>
                  </a:lnTo>
                  <a:lnTo>
                    <a:pt x="0" y="390795"/>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1" name="Google Shape;71;p7"/>
            <p:cNvPicPr preferRelativeResize="0"/>
            <p:nvPr/>
          </p:nvPicPr>
          <p:blipFill rotWithShape="1">
            <a:blip r:embed="rId4">
              <a:alphaModFix/>
            </a:blip>
            <a:srcRect b="0" l="0" r="0" t="0"/>
            <a:stretch/>
          </p:blipFill>
          <p:spPr>
            <a:xfrm>
              <a:off x="7342344" y="4950688"/>
              <a:ext cx="74623" cy="74623"/>
            </a:xfrm>
            <a:prstGeom prst="rect">
              <a:avLst/>
            </a:prstGeom>
            <a:noFill/>
            <a:ln>
              <a:noFill/>
            </a:ln>
          </p:spPr>
        </p:pic>
      </p:grpSp>
      <p:grpSp>
        <p:nvGrpSpPr>
          <p:cNvPr id="72" name="Google Shape;72;p7"/>
          <p:cNvGrpSpPr/>
          <p:nvPr/>
        </p:nvGrpSpPr>
        <p:grpSpPr>
          <a:xfrm>
            <a:off x="0" y="118189"/>
            <a:ext cx="1801667" cy="428346"/>
            <a:chOff x="0" y="118189"/>
            <a:chExt cx="1801667" cy="428346"/>
          </a:xfrm>
        </p:grpSpPr>
        <p:sp>
          <p:nvSpPr>
            <p:cNvPr id="73" name="Google Shape;73;p7"/>
            <p:cNvSpPr/>
            <p:nvPr/>
          </p:nvSpPr>
          <p:spPr>
            <a:xfrm>
              <a:off x="0" y="155375"/>
              <a:ext cx="1766570" cy="391160"/>
            </a:xfrm>
            <a:custGeom>
              <a:rect b="b" l="l" r="r" t="t"/>
              <a:pathLst>
                <a:path extrusionOk="0" h="391159" w="1766570">
                  <a:moveTo>
                    <a:pt x="0" y="390796"/>
                  </a:moveTo>
                  <a:lnTo>
                    <a:pt x="215697" y="390796"/>
                  </a:lnTo>
                  <a:lnTo>
                    <a:pt x="607228" y="0"/>
                  </a:lnTo>
                  <a:lnTo>
                    <a:pt x="1766038"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4" name="Google Shape;74;p7"/>
            <p:cNvPicPr preferRelativeResize="0"/>
            <p:nvPr/>
          </p:nvPicPr>
          <p:blipFill rotWithShape="1">
            <a:blip r:embed="rId5">
              <a:alphaModFix/>
            </a:blip>
            <a:srcRect b="0" l="0" r="0" t="0"/>
            <a:stretch/>
          </p:blipFill>
          <p:spPr>
            <a:xfrm>
              <a:off x="1728844" y="118189"/>
              <a:ext cx="72823" cy="74623"/>
            </a:xfrm>
            <a:prstGeom prst="rect">
              <a:avLst/>
            </a:prstGeom>
            <a:noFill/>
            <a:ln>
              <a:noFill/>
            </a:ln>
          </p:spPr>
        </p:pic>
      </p:grpSp>
      <p:sp>
        <p:nvSpPr>
          <p:cNvPr id="75" name="Google Shape;75;p7"/>
          <p:cNvSpPr txBox="1"/>
          <p:nvPr/>
        </p:nvSpPr>
        <p:spPr>
          <a:xfrm>
            <a:off x="1479899" y="2925723"/>
            <a:ext cx="6827520" cy="36068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200"/>
              <a:buFont typeface="Arial"/>
              <a:buNone/>
            </a:pPr>
            <a:r>
              <a:rPr b="0" i="0" lang="en-US" sz="2200" u="none" cap="none" strike="noStrike">
                <a:solidFill>
                  <a:srgbClr val="FFFFFF"/>
                </a:solidFill>
                <a:latin typeface="Verdana"/>
                <a:ea typeface="Verdana"/>
                <a:cs typeface="Verdana"/>
                <a:sym typeface="Verdana"/>
              </a:rPr>
              <a:t>Topic- AirSketch: Gesture Based Virtual Drawing</a:t>
            </a:r>
            <a:endParaRPr b="0" i="0" sz="2200" u="none" cap="none" strike="noStrike">
              <a:solidFill>
                <a:srgbClr val="000000"/>
              </a:solidFill>
              <a:latin typeface="Verdana"/>
              <a:ea typeface="Verdana"/>
              <a:cs typeface="Verdana"/>
              <a:sym typeface="Verdana"/>
            </a:endParaRPr>
          </a:p>
        </p:txBody>
      </p:sp>
      <p:sp>
        <p:nvSpPr>
          <p:cNvPr id="76" name="Google Shape;76;p7"/>
          <p:cNvSpPr txBox="1"/>
          <p:nvPr/>
        </p:nvSpPr>
        <p:spPr>
          <a:xfrm>
            <a:off x="4312000" y="3560100"/>
            <a:ext cx="4616400" cy="1321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Trebuchet MS"/>
                <a:ea typeface="Trebuchet MS"/>
                <a:cs typeface="Trebuchet MS"/>
                <a:sym typeface="Trebuchet MS"/>
              </a:rPr>
              <a:t>Presented by:</a:t>
            </a:r>
            <a:endParaRPr b="0" i="0" sz="1700" u="none" cap="none" strike="noStrike">
              <a:solidFill>
                <a:srgbClr val="000000"/>
              </a:solidFill>
              <a:latin typeface="Trebuchet MS"/>
              <a:ea typeface="Trebuchet MS"/>
              <a:cs typeface="Trebuchet MS"/>
              <a:sym typeface="Trebuchet MS"/>
            </a:endParaRPr>
          </a:p>
          <a:p>
            <a:pPr indent="0" lvl="0" marL="33274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Trebuchet MS"/>
                <a:ea typeface="Trebuchet MS"/>
                <a:cs typeface="Trebuchet MS"/>
                <a:sym typeface="Trebuchet MS"/>
              </a:rPr>
              <a:t>Hisham Khuram (USN-3PD23CS050)</a:t>
            </a:r>
            <a:endParaRPr b="0" i="0" sz="1700" u="none" cap="none" strike="noStrike">
              <a:solidFill>
                <a:srgbClr val="000000"/>
              </a:solidFill>
              <a:latin typeface="Trebuchet MS"/>
              <a:ea typeface="Trebuchet MS"/>
              <a:cs typeface="Trebuchet MS"/>
              <a:sym typeface="Trebuchet MS"/>
            </a:endParaRPr>
          </a:p>
          <a:p>
            <a:pPr indent="0" lvl="0" marL="332740" marR="0"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Trebuchet MS"/>
                <a:ea typeface="Trebuchet MS"/>
                <a:cs typeface="Trebuchet MS"/>
                <a:sym typeface="Trebuchet MS"/>
              </a:rPr>
              <a:t>Md Ahmed Raza Sofi (USN- 3PD23CS065)</a:t>
            </a:r>
            <a:endParaRPr b="0" i="0" sz="1700" u="none" cap="none" strike="noStrike">
              <a:solidFill>
                <a:srgbClr val="000000"/>
              </a:solidFill>
              <a:latin typeface="Trebuchet MS"/>
              <a:ea typeface="Trebuchet MS"/>
              <a:cs typeface="Trebuchet MS"/>
              <a:sym typeface="Trebuchet MS"/>
            </a:endParaRPr>
          </a:p>
          <a:p>
            <a:pPr indent="0" lvl="0" marL="332740" marR="1006475" rtl="0" algn="l">
              <a:lnSpc>
                <a:spcPct val="100000"/>
              </a:lnSpc>
              <a:spcBef>
                <a:spcPts val="0"/>
              </a:spcBef>
              <a:spcAft>
                <a:spcPts val="0"/>
              </a:spcAft>
              <a:buClr>
                <a:srgbClr val="000000"/>
              </a:buClr>
              <a:buSzPts val="1700"/>
              <a:buFont typeface="Arial"/>
              <a:buNone/>
            </a:pPr>
            <a:r>
              <a:rPr b="1" i="0" lang="en-US" sz="1700" u="none" cap="none" strike="noStrike">
                <a:solidFill>
                  <a:srgbClr val="FFFFFF"/>
                </a:solidFill>
                <a:latin typeface="Trebuchet MS"/>
                <a:ea typeface="Trebuchet MS"/>
                <a:cs typeface="Trebuchet MS"/>
                <a:sym typeface="Trebuchet MS"/>
              </a:rPr>
              <a:t>Mohammed Abdul Maaz Hanan (USN-3PD23CS070)</a:t>
            </a:r>
            <a:endParaRPr b="0" i="0" sz="1700" u="none" cap="none" strike="noStrike">
              <a:solidFill>
                <a:srgbClr val="000000"/>
              </a:solidFill>
              <a:latin typeface="Trebuchet MS"/>
              <a:ea typeface="Trebuchet MS"/>
              <a:cs typeface="Trebuchet MS"/>
              <a:sym typeface="Trebuchet MS"/>
            </a:endParaRPr>
          </a:p>
        </p:txBody>
      </p:sp>
      <p:sp>
        <p:nvSpPr>
          <p:cNvPr id="77" name="Google Shape;77;p7"/>
          <p:cNvSpPr txBox="1"/>
          <p:nvPr>
            <p:ph type="title"/>
          </p:nvPr>
        </p:nvSpPr>
        <p:spPr>
          <a:xfrm>
            <a:off x="2930340" y="173259"/>
            <a:ext cx="3284854" cy="4826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3000"/>
              <a:t>H.K.E SOCIETY’S</a:t>
            </a:r>
            <a:endParaRPr sz="3000"/>
          </a:p>
        </p:txBody>
      </p:sp>
      <p:sp>
        <p:nvSpPr>
          <p:cNvPr id="78" name="Google Shape;78;p7"/>
          <p:cNvSpPr txBox="1"/>
          <p:nvPr/>
        </p:nvSpPr>
        <p:spPr>
          <a:xfrm>
            <a:off x="1389374" y="517949"/>
            <a:ext cx="6756400" cy="971550"/>
          </a:xfrm>
          <a:prstGeom prst="rect">
            <a:avLst/>
          </a:prstGeom>
          <a:noFill/>
          <a:ln>
            <a:noFill/>
          </a:ln>
        </p:spPr>
        <p:txBody>
          <a:bodyPr anchorCtr="0" anchor="t" bIns="0" lIns="0" spcFirstLastPara="1" rIns="0" wrap="square" tIns="146675">
            <a:spAutoFit/>
          </a:bodyPr>
          <a:lstStyle/>
          <a:p>
            <a:pPr indent="0" lvl="0" marL="201930" marR="0" rtl="0" algn="l">
              <a:lnSpc>
                <a:spcPct val="100000"/>
              </a:lnSpc>
              <a:spcBef>
                <a:spcPts val="0"/>
              </a:spcBef>
              <a:spcAft>
                <a:spcPts val="0"/>
              </a:spcAft>
              <a:buClr>
                <a:srgbClr val="000000"/>
              </a:buClr>
              <a:buSzPts val="3000"/>
              <a:buFont typeface="Arial"/>
              <a:buNone/>
            </a:pPr>
            <a:r>
              <a:rPr b="0" i="0" lang="en-US" sz="3000" u="none" cap="none" strike="noStrike">
                <a:solidFill>
                  <a:srgbClr val="FFFFFF"/>
                </a:solidFill>
                <a:latin typeface="Verdana"/>
                <a:ea typeface="Verdana"/>
                <a:cs typeface="Verdana"/>
                <a:sym typeface="Verdana"/>
              </a:rPr>
              <a:t>P.D.A COLLEGE OF ENGINEERING</a:t>
            </a:r>
            <a:endParaRPr b="0" i="0" sz="3000" u="none" cap="none" strike="noStrike">
              <a:solidFill>
                <a:srgbClr val="000000"/>
              </a:solidFill>
              <a:latin typeface="Verdana"/>
              <a:ea typeface="Verdana"/>
              <a:cs typeface="Verdana"/>
              <a:sym typeface="Verdana"/>
            </a:endParaRPr>
          </a:p>
          <a:p>
            <a:pPr indent="0" lvl="0" marL="12700" marR="0" rtl="0" algn="l">
              <a:lnSpc>
                <a:spcPct val="100000"/>
              </a:lnSpc>
              <a:spcBef>
                <a:spcPts val="630"/>
              </a:spcBef>
              <a:spcAft>
                <a:spcPts val="0"/>
              </a:spcAft>
              <a:buClr>
                <a:srgbClr val="000000"/>
              </a:buClr>
              <a:buSzPts val="1800"/>
              <a:buFont typeface="Arial"/>
              <a:buNone/>
            </a:pPr>
            <a:r>
              <a:rPr b="0" i="0" lang="en-US" sz="1800" u="none" cap="none" strike="noStrike">
                <a:solidFill>
                  <a:srgbClr val="FFFFFF"/>
                </a:solidFill>
                <a:latin typeface="Verdana"/>
                <a:ea typeface="Verdana"/>
                <a:cs typeface="Verdana"/>
                <a:sym typeface="Verdana"/>
              </a:rPr>
              <a:t>DEPARTMENT OF COMPUTER SCIENCE AND ENGINEERING</a:t>
            </a:r>
            <a:endParaRPr b="0" i="0" sz="1800" u="none" cap="none" strike="noStrike">
              <a:solidFill>
                <a:srgbClr val="000000"/>
              </a:solidFill>
              <a:latin typeface="Verdana"/>
              <a:ea typeface="Verdana"/>
              <a:cs typeface="Verdana"/>
              <a:sym typeface="Verdana"/>
            </a:endParaRPr>
          </a:p>
        </p:txBody>
      </p:sp>
      <p:pic>
        <p:nvPicPr>
          <p:cNvPr id="79" name="Google Shape;79;p7"/>
          <p:cNvPicPr preferRelativeResize="0"/>
          <p:nvPr/>
        </p:nvPicPr>
        <p:blipFill rotWithShape="1">
          <a:blip r:embed="rId6">
            <a:alphaModFix/>
          </a:blip>
          <a:srcRect b="0" l="0" r="0" t="0"/>
          <a:stretch/>
        </p:blipFill>
        <p:spPr>
          <a:xfrm>
            <a:off x="2953088" y="785075"/>
            <a:ext cx="2992721" cy="3035749"/>
          </a:xfrm>
          <a:prstGeom prst="rect">
            <a:avLst/>
          </a:prstGeom>
          <a:noFill/>
          <a:ln>
            <a:noFill/>
          </a:ln>
        </p:spPr>
      </p:pic>
      <p:sp>
        <p:nvSpPr>
          <p:cNvPr id="80" name="Google Shape;80;p7"/>
          <p:cNvSpPr txBox="1"/>
          <p:nvPr/>
        </p:nvSpPr>
        <p:spPr>
          <a:xfrm>
            <a:off x="493141" y="3549015"/>
            <a:ext cx="2809875" cy="635000"/>
          </a:xfrm>
          <a:prstGeom prst="rect">
            <a:avLst/>
          </a:prstGeom>
          <a:noFill/>
          <a:ln>
            <a:noFill/>
          </a:ln>
        </p:spPr>
        <p:txBody>
          <a:bodyPr anchorCtr="0" anchor="t" bIns="0" lIns="0" spcFirstLastPara="1" rIns="0" wrap="square" tIns="12700">
            <a:spAutoFit/>
          </a:bodyPr>
          <a:lstStyle/>
          <a:p>
            <a:pPr indent="-381000" lvl="0" marL="393065" marR="508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Trebuchet MS"/>
                <a:ea typeface="Trebuchet MS"/>
                <a:cs typeface="Trebuchet MS"/>
                <a:sym typeface="Trebuchet MS"/>
              </a:rPr>
              <a:t>Under the Guidance of: Dr. Anita Harsoor</a:t>
            </a:r>
            <a:endParaRPr b="0" i="0" sz="20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8"/>
          <p:cNvSpPr txBox="1"/>
          <p:nvPr/>
        </p:nvSpPr>
        <p:spPr>
          <a:xfrm>
            <a:off x="764750" y="1373556"/>
            <a:ext cx="8040300" cy="2182800"/>
          </a:xfrm>
          <a:prstGeom prst="rect">
            <a:avLst/>
          </a:prstGeom>
          <a:noFill/>
          <a:ln>
            <a:noFill/>
          </a:ln>
        </p:spPr>
        <p:txBody>
          <a:bodyPr anchorCtr="0" anchor="t" bIns="0" lIns="0" spcFirstLastPara="1" rIns="0" wrap="square" tIns="12700">
            <a:spAutoFit/>
          </a:bodyPr>
          <a:lstStyle/>
          <a:p>
            <a:pPr indent="0" lvl="0" marL="12700" marR="120014" rtl="0" algn="l">
              <a:lnSpc>
                <a:spcPct val="114999"/>
              </a:lnSpc>
              <a:spcBef>
                <a:spcPts val="0"/>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AirSketch is an interactive</a:t>
            </a:r>
            <a:r>
              <a:rPr b="1" lang="en-US">
                <a:solidFill>
                  <a:srgbClr val="FFFFFF"/>
                </a:solidFill>
                <a:latin typeface="Cambria"/>
                <a:ea typeface="Cambria"/>
                <a:cs typeface="Cambria"/>
                <a:sym typeface="Cambria"/>
              </a:rPr>
              <a:t> </a:t>
            </a:r>
            <a:r>
              <a:rPr b="1" i="0" lang="en-US" sz="1400" u="none" cap="none" strike="noStrike">
                <a:solidFill>
                  <a:srgbClr val="FFFFFF"/>
                </a:solidFill>
                <a:latin typeface="Cambria"/>
                <a:ea typeface="Cambria"/>
                <a:cs typeface="Cambria"/>
                <a:sym typeface="Cambria"/>
              </a:rPr>
              <a:t>application that allows users to draw on a digital canvas using hand gestures detected through a webcam. By converting these gestures into drawing actions, the system eliminates the need for physical input devices while providing a smooth and responsive drawing experience.</a:t>
            </a:r>
            <a:endParaRPr b="0" i="0" sz="1400" u="none" cap="none" strike="noStrike">
              <a:solidFill>
                <a:srgbClr val="000000"/>
              </a:solidFill>
              <a:latin typeface="Cambria"/>
              <a:ea typeface="Cambria"/>
              <a:cs typeface="Cambria"/>
              <a:sym typeface="Cambria"/>
            </a:endParaRPr>
          </a:p>
          <a:p>
            <a:pPr indent="0" lvl="0" marL="12700" marR="299085" rtl="0" algn="l">
              <a:lnSpc>
                <a:spcPct val="114999"/>
              </a:lnSpc>
              <a:spcBef>
                <a:spcPts val="0"/>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Users will be able to draw by extending a single finger, change colors by performing specific gestures, switch to eraser mode, and clear the canvas and so on.</a:t>
            </a:r>
            <a:endParaRPr b="0" i="0" sz="1400" u="none" cap="none" strike="noStrike">
              <a:solidFill>
                <a:srgbClr val="000000"/>
              </a:solidFill>
              <a:latin typeface="Cambria"/>
              <a:ea typeface="Cambria"/>
              <a:cs typeface="Cambria"/>
              <a:sym typeface="Cambria"/>
            </a:endParaRPr>
          </a:p>
          <a:p>
            <a:pPr indent="0" lvl="0" marL="12700" marR="5080" rtl="0" algn="just">
              <a:lnSpc>
                <a:spcPct val="100000"/>
              </a:lnSpc>
              <a:spcBef>
                <a:spcPts val="285"/>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The system also promotes accessibility by enabling physically challenged users to interact with the application using simple hand and finger gestures. By eliminating the need for traditional input devices such as a mouse or stylus.</a:t>
            </a:r>
            <a:endParaRPr b="0" i="0" sz="1400" u="none" cap="none" strike="noStrike">
              <a:solidFill>
                <a:srgbClr val="000000"/>
              </a:solidFill>
              <a:latin typeface="Cambria"/>
              <a:ea typeface="Cambria"/>
              <a:cs typeface="Cambria"/>
              <a:sym typeface="Cambria"/>
            </a:endParaRPr>
          </a:p>
        </p:txBody>
      </p:sp>
      <p:pic>
        <p:nvPicPr>
          <p:cNvPr id="86" name="Google Shape;86;p8"/>
          <p:cNvPicPr preferRelativeResize="0"/>
          <p:nvPr/>
        </p:nvPicPr>
        <p:blipFill rotWithShape="1">
          <a:blip r:embed="rId3">
            <a:alphaModFix/>
          </a:blip>
          <a:srcRect b="0" l="0" r="0" t="0"/>
          <a:stretch/>
        </p:blipFill>
        <p:spPr>
          <a:xfrm>
            <a:off x="653325" y="454275"/>
            <a:ext cx="7875449" cy="744149"/>
          </a:xfrm>
          <a:prstGeom prst="rect">
            <a:avLst/>
          </a:prstGeom>
          <a:noFill/>
          <a:ln>
            <a:noFill/>
          </a:ln>
        </p:spPr>
      </p:pic>
      <p:sp>
        <p:nvSpPr>
          <p:cNvPr id="87" name="Google Shape;87;p8"/>
          <p:cNvSpPr txBox="1"/>
          <p:nvPr>
            <p:ph type="title"/>
          </p:nvPr>
        </p:nvSpPr>
        <p:spPr>
          <a:xfrm>
            <a:off x="2270730" y="522820"/>
            <a:ext cx="4678045" cy="528319"/>
          </a:xfrm>
          <a:prstGeom prst="rect">
            <a:avLst/>
          </a:prstGeom>
          <a:noFill/>
          <a:ln>
            <a:noFill/>
          </a:ln>
        </p:spPr>
        <p:txBody>
          <a:bodyPr anchorCtr="0" anchor="t" bIns="0" lIns="0" spcFirstLastPara="1" rIns="0" wrap="square" tIns="12700">
            <a:spAutoFit/>
          </a:bodyPr>
          <a:lstStyle/>
          <a:p>
            <a:pPr indent="0" lvl="0" marL="1198245" rtl="0" algn="l">
              <a:lnSpc>
                <a:spcPct val="100000"/>
              </a:lnSpc>
              <a:spcBef>
                <a:spcPts val="0"/>
              </a:spcBef>
              <a:spcAft>
                <a:spcPts val="0"/>
              </a:spcAft>
              <a:buSzPts val="1400"/>
              <a:buNone/>
            </a:pPr>
            <a:r>
              <a:rPr lang="en-US"/>
              <a:t>ABSTRACT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9"/>
          <p:cNvSpPr txBox="1"/>
          <p:nvPr/>
        </p:nvSpPr>
        <p:spPr>
          <a:xfrm>
            <a:off x="1477200" y="2057411"/>
            <a:ext cx="2340600" cy="1028700"/>
          </a:xfrm>
          <a:prstGeom prst="rect">
            <a:avLst/>
          </a:prstGeom>
          <a:noFill/>
          <a:ln>
            <a:noFill/>
          </a:ln>
        </p:spPr>
        <p:txBody>
          <a:bodyPr anchorCtr="0" anchor="t" bIns="0" lIns="0" spcFirstLastPara="1" rIns="0" wrap="square" tIns="12700">
            <a:spAutoFit/>
          </a:bodyPr>
          <a:lstStyle/>
          <a:p>
            <a:pPr indent="87630" lvl="0" marL="12700" marR="5080" rtl="0" algn="l">
              <a:lnSpc>
                <a:spcPct val="100000"/>
              </a:lnSpc>
              <a:spcBef>
                <a:spcPts val="0"/>
              </a:spcBef>
              <a:spcAft>
                <a:spcPts val="0"/>
              </a:spcAft>
              <a:buClr>
                <a:srgbClr val="000000"/>
              </a:buClr>
              <a:buSzPts val="3300"/>
              <a:buFont typeface="Arial"/>
              <a:buNone/>
            </a:pPr>
            <a:r>
              <a:rPr b="0" i="0" lang="en-US" sz="3300" u="none" cap="none" strike="noStrike">
                <a:solidFill>
                  <a:srgbClr val="FFFFFF"/>
                </a:solidFill>
                <a:latin typeface="Verdana"/>
                <a:ea typeface="Verdana"/>
                <a:cs typeface="Verdana"/>
                <a:sym typeface="Verdana"/>
              </a:rPr>
              <a:t>TABLE OF CONTENTS</a:t>
            </a:r>
            <a:endParaRPr b="0" i="0" sz="3300" u="none" cap="none" strike="noStrike">
              <a:solidFill>
                <a:srgbClr val="000000"/>
              </a:solidFill>
              <a:latin typeface="Verdana"/>
              <a:ea typeface="Verdana"/>
              <a:cs typeface="Verdana"/>
              <a:sym typeface="Verdana"/>
            </a:endParaRPr>
          </a:p>
        </p:txBody>
      </p:sp>
      <p:sp>
        <p:nvSpPr>
          <p:cNvPr id="93" name="Google Shape;93;p9"/>
          <p:cNvSpPr txBox="1"/>
          <p:nvPr>
            <p:ph type="title"/>
          </p:nvPr>
        </p:nvSpPr>
        <p:spPr>
          <a:xfrm>
            <a:off x="4292700" y="154058"/>
            <a:ext cx="2651125" cy="39116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2400">
                <a:latin typeface="MS PGothic"/>
                <a:ea typeface="MS PGothic"/>
                <a:cs typeface="MS PGothic"/>
                <a:sym typeface="MS PGothic"/>
              </a:rPr>
              <a:t>❏	</a:t>
            </a:r>
            <a:r>
              <a:rPr lang="en-US" sz="2000">
                <a:solidFill>
                  <a:srgbClr val="FFBD33"/>
                </a:solidFill>
              </a:rPr>
              <a:t>INTRODUCTION</a:t>
            </a:r>
            <a:endParaRPr sz="2000">
              <a:latin typeface="MS PGothic"/>
              <a:ea typeface="MS PGothic"/>
              <a:cs typeface="MS PGothic"/>
              <a:sym typeface="MS PGothic"/>
            </a:endParaRPr>
          </a:p>
        </p:txBody>
      </p:sp>
      <p:sp>
        <p:nvSpPr>
          <p:cNvPr id="94" name="Google Shape;94;p9"/>
          <p:cNvSpPr txBox="1"/>
          <p:nvPr/>
        </p:nvSpPr>
        <p:spPr>
          <a:xfrm>
            <a:off x="4292699" y="501556"/>
            <a:ext cx="3289935" cy="4414520"/>
          </a:xfrm>
          <a:prstGeom prst="rect">
            <a:avLst/>
          </a:prstGeom>
          <a:noFill/>
          <a:ln>
            <a:noFill/>
          </a:ln>
        </p:spPr>
        <p:txBody>
          <a:bodyPr anchorCtr="0" anchor="t" bIns="0" lIns="0" spcFirstLastPara="1" rIns="0" wrap="square" tIns="195575">
            <a:spAutoFit/>
          </a:bodyPr>
          <a:lstStyle/>
          <a:p>
            <a:pPr indent="0" lvl="0" marL="12700" marR="0" rtl="0" algn="l">
              <a:lnSpc>
                <a:spcPct val="100000"/>
              </a:lnSpc>
              <a:spcBef>
                <a:spcPts val="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LITERATURE SURVEY</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PROBLEM STATEMENT</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OBJECTIVES</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EXISTING SYSTEM</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PROPOSED SYSTEM</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METHODOLOGY</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CONCLUSION</a:t>
            </a:r>
            <a:endParaRPr b="0" i="0" sz="2000" u="none" cap="none" strike="noStrike">
              <a:solidFill>
                <a:srgbClr val="000000"/>
              </a:solidFill>
              <a:latin typeface="Verdana"/>
              <a:ea typeface="Verdana"/>
              <a:cs typeface="Verdana"/>
              <a:sym typeface="Verdana"/>
            </a:endParaRPr>
          </a:p>
          <a:p>
            <a:pPr indent="0" lvl="0" marL="12700" marR="0" rtl="0" algn="l">
              <a:lnSpc>
                <a:spcPct val="100000"/>
              </a:lnSpc>
              <a:spcBef>
                <a:spcPts val="1440"/>
              </a:spcBef>
              <a:spcAft>
                <a:spcPts val="0"/>
              </a:spcAft>
              <a:buClr>
                <a:srgbClr val="000000"/>
              </a:buClr>
              <a:buSzPts val="2400"/>
              <a:buFont typeface="Arial"/>
              <a:buNone/>
            </a:pPr>
            <a:r>
              <a:rPr b="0" i="0" lang="en-US" sz="2400" u="none" cap="none" strike="noStrike">
                <a:solidFill>
                  <a:srgbClr val="FFFFFF"/>
                </a:solidFill>
                <a:latin typeface="MS PGothic"/>
                <a:ea typeface="MS PGothic"/>
                <a:cs typeface="MS PGothic"/>
                <a:sym typeface="MS PGothic"/>
              </a:rPr>
              <a:t>❏	</a:t>
            </a:r>
            <a:r>
              <a:rPr b="0" i="0" lang="en-US" sz="2000" u="none" cap="none" strike="noStrike">
                <a:solidFill>
                  <a:srgbClr val="FFBD33"/>
                </a:solidFill>
                <a:latin typeface="Verdana"/>
                <a:ea typeface="Verdana"/>
                <a:cs typeface="Verdana"/>
                <a:sym typeface="Verdana"/>
              </a:rPr>
              <a:t>REFERENCES</a:t>
            </a:r>
            <a:endParaRPr b="0" i="0" sz="2000" u="none" cap="none" strike="noStrike">
              <a:solidFill>
                <a:srgbClr val="000000"/>
              </a:solidFill>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0"/>
          <p:cNvPicPr preferRelativeResize="0"/>
          <p:nvPr/>
        </p:nvPicPr>
        <p:blipFill rotWithShape="1">
          <a:blip r:embed="rId3">
            <a:alphaModFix/>
          </a:blip>
          <a:srcRect b="0" l="0" r="0" t="0"/>
          <a:stretch/>
        </p:blipFill>
        <p:spPr>
          <a:xfrm>
            <a:off x="653325" y="454275"/>
            <a:ext cx="7875449" cy="744149"/>
          </a:xfrm>
          <a:prstGeom prst="rect">
            <a:avLst/>
          </a:prstGeom>
          <a:noFill/>
          <a:ln>
            <a:noFill/>
          </a:ln>
        </p:spPr>
      </p:pic>
      <p:sp>
        <p:nvSpPr>
          <p:cNvPr id="100" name="Google Shape;100;p10"/>
          <p:cNvSpPr txBox="1"/>
          <p:nvPr>
            <p:ph type="title"/>
          </p:nvPr>
        </p:nvSpPr>
        <p:spPr>
          <a:xfrm>
            <a:off x="2270730" y="522820"/>
            <a:ext cx="4678045" cy="528319"/>
          </a:xfrm>
          <a:prstGeom prst="rect">
            <a:avLst/>
          </a:prstGeom>
          <a:noFill/>
          <a:ln>
            <a:noFill/>
          </a:ln>
        </p:spPr>
        <p:txBody>
          <a:bodyPr anchorCtr="0" anchor="t" bIns="0" lIns="0" spcFirstLastPara="1" rIns="0" wrap="square" tIns="12700">
            <a:spAutoFit/>
          </a:bodyPr>
          <a:lstStyle/>
          <a:p>
            <a:pPr indent="0" lvl="0" marL="715645" rtl="0" algn="l">
              <a:lnSpc>
                <a:spcPct val="100000"/>
              </a:lnSpc>
              <a:spcBef>
                <a:spcPts val="0"/>
              </a:spcBef>
              <a:spcAft>
                <a:spcPts val="0"/>
              </a:spcAft>
              <a:buSzPts val="1400"/>
              <a:buNone/>
            </a:pPr>
            <a:r>
              <a:rPr lang="en-US"/>
              <a:t>INTRODUCTION</a:t>
            </a:r>
            <a:endParaRPr/>
          </a:p>
        </p:txBody>
      </p:sp>
      <p:sp>
        <p:nvSpPr>
          <p:cNvPr id="101" name="Google Shape;101;p10"/>
          <p:cNvSpPr txBox="1"/>
          <p:nvPr/>
        </p:nvSpPr>
        <p:spPr>
          <a:xfrm>
            <a:off x="490985" y="1216815"/>
            <a:ext cx="8078400" cy="2210700"/>
          </a:xfrm>
          <a:prstGeom prst="rect">
            <a:avLst/>
          </a:prstGeom>
          <a:noFill/>
          <a:ln>
            <a:noFill/>
          </a:ln>
        </p:spPr>
        <p:txBody>
          <a:bodyPr anchorCtr="0" anchor="t" bIns="0" lIns="0" spcFirstLastPara="1" rIns="0" wrap="square" tIns="12700">
            <a:spAutoFit/>
          </a:bodyPr>
          <a:lstStyle/>
          <a:p>
            <a:pPr indent="-317500" lvl="0" marL="457200" marR="5080" rtl="0" algn="l">
              <a:lnSpc>
                <a:spcPct val="114999"/>
              </a:lnSpc>
              <a:spcBef>
                <a:spcPts val="0"/>
              </a:spcBef>
              <a:spcAft>
                <a:spcPts val="0"/>
              </a:spcAft>
              <a:buClr>
                <a:srgbClr val="FFFFFF"/>
              </a:buClr>
              <a:buSzPts val="1400"/>
              <a:buChar char="●"/>
            </a:pPr>
            <a:r>
              <a:rPr b="1" lang="en-US">
                <a:solidFill>
                  <a:schemeClr val="lt1"/>
                </a:solidFill>
                <a:latin typeface="Cambria"/>
                <a:ea typeface="Cambria"/>
                <a:cs typeface="Cambria"/>
                <a:sym typeface="Cambria"/>
              </a:rPr>
              <a:t>AirSketch aims to develop an interactive web application that enables users to draw on a digital canvas using hand gestures. The system will track hand movements, identify specific finger configurations, and translate these gestures into drawing actions.</a:t>
            </a:r>
            <a:endParaRPr b="1">
              <a:solidFill>
                <a:schemeClr val="lt1"/>
              </a:solidFill>
              <a:latin typeface="Cambria"/>
              <a:ea typeface="Cambria"/>
              <a:cs typeface="Cambria"/>
              <a:sym typeface="Cambria"/>
            </a:endParaRPr>
          </a:p>
          <a:p>
            <a:pPr indent="0" lvl="0" marL="457200" marR="5080" rtl="0" algn="l">
              <a:lnSpc>
                <a:spcPct val="114999"/>
              </a:lnSpc>
              <a:spcBef>
                <a:spcPts val="0"/>
              </a:spcBef>
              <a:spcAft>
                <a:spcPts val="0"/>
              </a:spcAft>
              <a:buNone/>
            </a:pPr>
            <a:r>
              <a:t/>
            </a:r>
            <a:endParaRPr b="1">
              <a:solidFill>
                <a:schemeClr val="lt1"/>
              </a:solidFill>
              <a:latin typeface="Cambria"/>
              <a:ea typeface="Cambria"/>
              <a:cs typeface="Cambria"/>
              <a:sym typeface="Cambria"/>
            </a:endParaRPr>
          </a:p>
          <a:p>
            <a:pPr indent="-317500" lvl="0" marL="457200" marR="5080" rtl="0" algn="l">
              <a:lnSpc>
                <a:spcPct val="114999"/>
              </a:lnSpc>
              <a:spcBef>
                <a:spcPts val="0"/>
              </a:spcBef>
              <a:spcAft>
                <a:spcPts val="0"/>
              </a:spcAft>
              <a:buClr>
                <a:srgbClr val="FFFFFF"/>
              </a:buClr>
              <a:buSzPts val="1400"/>
              <a:buChar char="●"/>
            </a:pPr>
            <a:r>
              <a:rPr b="1" i="0" lang="en-US" sz="1400" u="none" cap="none" strike="noStrike">
                <a:solidFill>
                  <a:srgbClr val="FFFFFF"/>
                </a:solidFill>
                <a:latin typeface="Cambria"/>
                <a:ea typeface="Cambria"/>
                <a:cs typeface="Cambria"/>
                <a:sym typeface="Cambria"/>
              </a:rPr>
              <a:t>Hand gesture recognition is one of the most widely studied approaches in this field. By detecting and analyzing the movement and position of fingers and hands, computer systems can interpret specific gestures as commands. This technology has been used in various applications such as virtual reality environments, interactive gaming systems, smart classrooms, sign language recognition, and touchless control interfaces.</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1"/>
          <p:cNvSpPr/>
          <p:nvPr/>
        </p:nvSpPr>
        <p:spPr>
          <a:xfrm>
            <a:off x="8361706" y="0"/>
            <a:ext cx="290195" cy="1434465"/>
          </a:xfrm>
          <a:custGeom>
            <a:rect b="b" l="l" r="r" t="t"/>
            <a:pathLst>
              <a:path extrusionOk="0" h="1434465" w="290195">
                <a:moveTo>
                  <a:pt x="139425" y="1434302"/>
                </a:moveTo>
                <a:lnTo>
                  <a:pt x="139425" y="810545"/>
                </a:lnTo>
                <a:lnTo>
                  <a:pt x="0" y="670715"/>
                </a:lnTo>
                <a:lnTo>
                  <a:pt x="0" y="292867"/>
                </a:lnTo>
                <a:lnTo>
                  <a:pt x="289681"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07" name="Google Shape;107;p11"/>
          <p:cNvGrpSpPr/>
          <p:nvPr/>
        </p:nvGrpSpPr>
        <p:grpSpPr>
          <a:xfrm>
            <a:off x="7970104" y="4583944"/>
            <a:ext cx="1174115" cy="439499"/>
            <a:chOff x="7970104" y="4583944"/>
            <a:chExt cx="1174115" cy="439499"/>
          </a:xfrm>
        </p:grpSpPr>
        <p:sp>
          <p:nvSpPr>
            <p:cNvPr id="108" name="Google Shape;108;p11"/>
            <p:cNvSpPr/>
            <p:nvPr/>
          </p:nvSpPr>
          <p:spPr>
            <a:xfrm>
              <a:off x="8470011" y="4617498"/>
              <a:ext cx="455930" cy="370840"/>
            </a:xfrm>
            <a:custGeom>
              <a:rect b="b" l="l" r="r" t="t"/>
              <a:pathLst>
                <a:path extrusionOk="0" h="370839" w="455929">
                  <a:moveTo>
                    <a:pt x="0" y="0"/>
                  </a:moveTo>
                  <a:lnTo>
                    <a:pt x="206543" y="0"/>
                  </a:lnTo>
                  <a:lnTo>
                    <a:pt x="455492" y="248947"/>
                  </a:lnTo>
                  <a:lnTo>
                    <a:pt x="455661" y="370513"/>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09" name="Google Shape;109;p11"/>
            <p:cNvPicPr preferRelativeResize="0"/>
            <p:nvPr/>
          </p:nvPicPr>
          <p:blipFill rotWithShape="1">
            <a:blip r:embed="rId3">
              <a:alphaModFix/>
            </a:blip>
            <a:srcRect b="0" l="0" r="0" t="0"/>
            <a:stretch/>
          </p:blipFill>
          <p:spPr>
            <a:xfrm>
              <a:off x="8435621" y="4583944"/>
              <a:ext cx="68781" cy="68779"/>
            </a:xfrm>
            <a:prstGeom prst="rect">
              <a:avLst/>
            </a:prstGeom>
            <a:noFill/>
            <a:ln>
              <a:noFill/>
            </a:ln>
          </p:spPr>
        </p:pic>
        <p:pic>
          <p:nvPicPr>
            <p:cNvPr id="110" name="Google Shape;110;p11"/>
            <p:cNvPicPr preferRelativeResize="0"/>
            <p:nvPr/>
          </p:nvPicPr>
          <p:blipFill rotWithShape="1">
            <a:blip r:embed="rId4">
              <a:alphaModFix/>
            </a:blip>
            <a:srcRect b="0" l="0" r="0" t="0"/>
            <a:stretch/>
          </p:blipFill>
          <p:spPr>
            <a:xfrm>
              <a:off x="8891078" y="4954664"/>
              <a:ext cx="68778" cy="68779"/>
            </a:xfrm>
            <a:prstGeom prst="rect">
              <a:avLst/>
            </a:prstGeom>
            <a:noFill/>
            <a:ln>
              <a:noFill/>
            </a:ln>
          </p:spPr>
        </p:pic>
        <p:sp>
          <p:nvSpPr>
            <p:cNvPr id="111" name="Google Shape;111;p11"/>
            <p:cNvSpPr/>
            <p:nvPr/>
          </p:nvSpPr>
          <p:spPr>
            <a:xfrm>
              <a:off x="7970104" y="4849851"/>
              <a:ext cx="1174115" cy="15240"/>
            </a:xfrm>
            <a:custGeom>
              <a:rect b="b" l="l" r="r" t="t"/>
              <a:pathLst>
                <a:path extrusionOk="0" h="15239" w="1174115">
                  <a:moveTo>
                    <a:pt x="1173895" y="0"/>
                  </a:moveTo>
                  <a:lnTo>
                    <a:pt x="1158809" y="15074"/>
                  </a:lnTo>
                  <a:lnTo>
                    <a:pt x="0" y="15074"/>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12" name="Google Shape;112;p11"/>
          <p:cNvPicPr preferRelativeResize="0"/>
          <p:nvPr/>
        </p:nvPicPr>
        <p:blipFill rotWithShape="1">
          <a:blip r:embed="rId5">
            <a:alphaModFix/>
          </a:blip>
          <a:srcRect b="0" l="0" r="0" t="0"/>
          <a:stretch/>
        </p:blipFill>
        <p:spPr>
          <a:xfrm>
            <a:off x="7932918" y="4827738"/>
            <a:ext cx="74624" cy="74623"/>
          </a:xfrm>
          <a:prstGeom prst="rect">
            <a:avLst/>
          </a:prstGeom>
          <a:noFill/>
          <a:ln>
            <a:noFill/>
          </a:ln>
        </p:spPr>
      </p:pic>
      <p:grpSp>
        <p:nvGrpSpPr>
          <p:cNvPr id="113" name="Google Shape;113;p11"/>
          <p:cNvGrpSpPr/>
          <p:nvPr/>
        </p:nvGrpSpPr>
        <p:grpSpPr>
          <a:xfrm>
            <a:off x="0" y="4628734"/>
            <a:ext cx="567879" cy="405832"/>
            <a:chOff x="0" y="4628734"/>
            <a:chExt cx="567879" cy="405832"/>
          </a:xfrm>
        </p:grpSpPr>
        <p:sp>
          <p:nvSpPr>
            <p:cNvPr id="114" name="Google Shape;114;p11"/>
            <p:cNvSpPr/>
            <p:nvPr/>
          </p:nvSpPr>
          <p:spPr>
            <a:xfrm>
              <a:off x="0" y="4628734"/>
              <a:ext cx="530860" cy="368300"/>
            </a:xfrm>
            <a:custGeom>
              <a:rect b="b" l="l" r="r" t="t"/>
              <a:pathLst>
                <a:path extrusionOk="0" h="368300" w="530860">
                  <a:moveTo>
                    <a:pt x="530340" y="368295"/>
                  </a:moveTo>
                  <a:lnTo>
                    <a:pt x="182533" y="20439"/>
                  </a:lnTo>
                  <a:lnTo>
                    <a:pt x="20457" y="20439"/>
                  </a:ln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5" name="Google Shape;115;p11"/>
            <p:cNvPicPr preferRelativeResize="0"/>
            <p:nvPr/>
          </p:nvPicPr>
          <p:blipFill rotWithShape="1">
            <a:blip r:embed="rId6">
              <a:alphaModFix/>
            </a:blip>
            <a:srcRect b="0" l="0" r="0" t="0"/>
            <a:stretch/>
          </p:blipFill>
          <p:spPr>
            <a:xfrm>
              <a:off x="494618" y="4961304"/>
              <a:ext cx="73261" cy="73262"/>
            </a:xfrm>
            <a:prstGeom prst="rect">
              <a:avLst/>
            </a:prstGeom>
            <a:noFill/>
            <a:ln>
              <a:noFill/>
            </a:ln>
          </p:spPr>
        </p:pic>
      </p:grpSp>
      <p:sp>
        <p:nvSpPr>
          <p:cNvPr id="116" name="Google Shape;116;p11"/>
          <p:cNvSpPr/>
          <p:nvPr/>
        </p:nvSpPr>
        <p:spPr>
          <a:xfrm>
            <a:off x="324902" y="4291167"/>
            <a:ext cx="791845" cy="624840"/>
          </a:xfrm>
          <a:custGeom>
            <a:rect b="b" l="l" r="r" t="t"/>
            <a:pathLst>
              <a:path extrusionOk="0" h="624839" w="791844">
                <a:moveTo>
                  <a:pt x="791842" y="624602"/>
                </a:moveTo>
                <a:lnTo>
                  <a:pt x="319807" y="624602"/>
                </a:lnTo>
                <a:lnTo>
                  <a:pt x="0" y="304394"/>
                </a:ln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7" name="Google Shape;117;p11"/>
          <p:cNvPicPr preferRelativeResize="0"/>
          <p:nvPr/>
        </p:nvPicPr>
        <p:blipFill rotWithShape="1">
          <a:blip r:embed="rId7">
            <a:alphaModFix/>
          </a:blip>
          <a:srcRect b="0" l="0" r="0" t="0"/>
          <a:stretch/>
        </p:blipFill>
        <p:spPr>
          <a:xfrm>
            <a:off x="287715" y="4255687"/>
            <a:ext cx="74346" cy="72733"/>
          </a:xfrm>
          <a:prstGeom prst="rect">
            <a:avLst/>
          </a:prstGeom>
          <a:noFill/>
          <a:ln>
            <a:noFill/>
          </a:ln>
        </p:spPr>
      </p:pic>
      <p:graphicFrame>
        <p:nvGraphicFramePr>
          <p:cNvPr id="118" name="Google Shape;118;p11"/>
          <p:cNvGraphicFramePr/>
          <p:nvPr/>
        </p:nvGraphicFramePr>
        <p:xfrm>
          <a:off x="294449" y="191634"/>
          <a:ext cx="3000000" cy="3000000"/>
        </p:xfrm>
        <a:graphic>
          <a:graphicData uri="http://schemas.openxmlformats.org/drawingml/2006/table">
            <a:tbl>
              <a:tblPr bandRow="1" firstRow="1">
                <a:noFill/>
                <a:tableStyleId>{EAEAFE88-0B47-443B-AB1A-5A2CBCF41706}</a:tableStyleId>
              </a:tblPr>
              <a:tblGrid>
                <a:gridCol w="422800"/>
                <a:gridCol w="2365075"/>
                <a:gridCol w="2209000"/>
                <a:gridCol w="2177150"/>
                <a:gridCol w="1565925"/>
              </a:tblGrid>
              <a:tr h="379100">
                <a:tc gridSpan="4">
                  <a:txBody>
                    <a:bodyPr/>
                    <a:lstStyle/>
                    <a:p>
                      <a:pPr indent="0" lvl="0" marL="183515" marR="0" rtl="0" algn="ctr">
                        <a:lnSpc>
                          <a:spcPct val="74545"/>
                        </a:lnSpc>
                        <a:spcBef>
                          <a:spcPts val="0"/>
                        </a:spcBef>
                        <a:spcAft>
                          <a:spcPts val="0"/>
                        </a:spcAft>
                        <a:buClr>
                          <a:srgbClr val="000000"/>
                        </a:buClr>
                        <a:buSzPts val="3300"/>
                        <a:buFont typeface="Arial"/>
                        <a:buNone/>
                      </a:pPr>
                      <a:r>
                        <a:t/>
                      </a:r>
                      <a:endParaRPr sz="3300" u="none" cap="none" strike="noStrike">
                        <a:latin typeface="Verdana"/>
                        <a:ea typeface="Verdana"/>
                        <a:cs typeface="Verdana"/>
                        <a:sym typeface="Verdana"/>
                      </a:endParaRPr>
                    </a:p>
                  </a:txBody>
                  <a:tcPr marT="0" marB="0" marR="0" marL="0">
                    <a:lnR cap="flat" cmpd="sng" w="9525">
                      <a:solidFill>
                        <a:srgbClr val="FFBD33"/>
                      </a:solidFill>
                      <a:prstDash val="solid"/>
                      <a:round/>
                      <a:headEnd len="sm" w="sm" type="none"/>
                      <a:tailEnd len="sm" w="sm" type="none"/>
                    </a:lnR>
                    <a:lnB cap="flat" cmpd="sng" w="9525">
                      <a:solidFill>
                        <a:srgbClr val="9E9E9E"/>
                      </a:solidFill>
                      <a:prstDash val="solid"/>
                      <a:round/>
                      <a:headEnd len="sm" w="sm" type="none"/>
                      <a:tailEnd len="sm" w="sm" type="none"/>
                    </a:lnB>
                  </a:tcPr>
                </a:tc>
                <a:tc hMerge="1"/>
                <a:tc hMerge="1"/>
                <a:tc hMerge="1"/>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txBody>
                  <a:tcPr marT="0" marB="0" marR="0" marL="0">
                    <a:lnL cap="flat" cmpd="sng" w="9525">
                      <a:solidFill>
                        <a:srgbClr val="FFBD33"/>
                      </a:solidFill>
                      <a:prstDash val="solid"/>
                      <a:round/>
                      <a:headEnd len="sm" w="sm" type="none"/>
                      <a:tailEnd len="sm" w="sm" type="none"/>
                    </a:lnL>
                    <a:lnR cap="flat" cmpd="sng" w="9525">
                      <a:solidFill>
                        <a:srgbClr val="FFBD33"/>
                      </a:solidFill>
                      <a:prstDash val="solid"/>
                      <a:round/>
                      <a:headEnd len="sm" w="sm" type="none"/>
                      <a:tailEnd len="sm" w="sm" type="none"/>
                    </a:lnR>
                    <a:lnB cap="flat" cmpd="sng" w="9525">
                      <a:solidFill>
                        <a:srgbClr val="9E9E9E"/>
                      </a:solidFill>
                      <a:prstDash val="solid"/>
                      <a:round/>
                      <a:headEnd len="sm" w="sm" type="none"/>
                      <a:tailEnd len="sm" w="sm" type="none"/>
                    </a:lnB>
                  </a:tcPr>
                </a:tc>
              </a:tr>
              <a:tr h="4218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No.</a:t>
                      </a:r>
                      <a:endParaRPr sz="1400" u="none" cap="none" strike="noStrike">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542925" marR="0" rtl="0" algn="l">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Research papers</a:t>
                      </a:r>
                      <a:endParaRPr sz="1400" u="none" cap="none" strike="noStrike">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     </a:t>
                      </a:r>
                      <a:r>
                        <a:rPr lang="en-US" sz="1400" u="none" cap="none" strike="noStrike">
                          <a:solidFill>
                            <a:schemeClr val="lt1"/>
                          </a:solidFill>
                          <a:latin typeface="Arial"/>
                          <a:ea typeface="Arial"/>
                          <a:cs typeface="Arial"/>
                          <a:sym typeface="Arial"/>
                        </a:rPr>
                        <a:t>Conclusion &amp; Drawback</a:t>
                      </a:r>
                      <a:endParaRPr sz="1400" u="none" cap="none" strike="noStrike">
                        <a:solidFill>
                          <a:schemeClr val="lt1"/>
                        </a:solidFill>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latin typeface="Arial"/>
                          <a:ea typeface="Arial"/>
                          <a:cs typeface="Arial"/>
                          <a:sym typeface="Arial"/>
                        </a:rPr>
                        <a:t>  Relevance for our system</a:t>
                      </a:r>
                      <a:endParaRPr sz="1400" u="none" cap="none" strike="noStrike">
                        <a:solidFill>
                          <a:schemeClr val="lt1"/>
                        </a:solidFill>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FFBD3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lt1"/>
                          </a:solidFill>
                          <a:latin typeface="Arial"/>
                          <a:ea typeface="Arial"/>
                          <a:cs typeface="Arial"/>
                          <a:sym typeface="Arial"/>
                        </a:rPr>
                        <a:t>        Published By</a:t>
                      </a:r>
                      <a:endParaRPr sz="1400" u="none" cap="none" strike="noStrike">
                        <a:solidFill>
                          <a:schemeClr val="lt1"/>
                        </a:solidFill>
                        <a:latin typeface="Arial"/>
                        <a:ea typeface="Arial"/>
                        <a:cs typeface="Arial"/>
                        <a:sym typeface="Arial"/>
                      </a:endParaRPr>
                    </a:p>
                  </a:txBody>
                  <a:tcPr marT="0" marB="0" marR="0" marL="0" anchor="ctr">
                    <a:lnL cap="flat" cmpd="sng" w="9525">
                      <a:solidFill>
                        <a:srgbClr val="FFBD33"/>
                      </a:solidFill>
                      <a:prstDash val="solid"/>
                      <a:round/>
                      <a:headEnd len="sm" w="sm" type="none"/>
                      <a:tailEnd len="sm" w="sm" type="none"/>
                    </a:lnL>
                    <a:lnR cap="flat" cmpd="sng" w="9525">
                      <a:solidFill>
                        <a:srgbClr val="FFBD33"/>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35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1</a:t>
                      </a:r>
                      <a:endParaRPr sz="1400" u="none" cap="none" strike="noStrike">
                        <a:latin typeface="Arial"/>
                        <a:ea typeface="Arial"/>
                        <a:cs typeface="Arial"/>
                        <a:sym typeface="Arial"/>
                      </a:endParaRPr>
                    </a:p>
                  </a:txBody>
                  <a:tcPr marT="2032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147320" marR="221615" rtl="0" algn="l">
                        <a:lnSpc>
                          <a:spcPct val="100000"/>
                        </a:lnSpc>
                        <a:spcBef>
                          <a:spcPts val="0"/>
                        </a:spcBef>
                        <a:spcAft>
                          <a:spcPts val="0"/>
                        </a:spcAft>
                        <a:buClr>
                          <a:schemeClr val="dk1"/>
                        </a:buClr>
                        <a:buSzPts val="1000"/>
                        <a:buFont typeface="Arial"/>
                        <a:buNone/>
                      </a:pPr>
                      <a:r>
                        <a:rPr b="1" lang="en-US" sz="1000" u="none" cap="none" strike="noStrike">
                          <a:solidFill>
                            <a:schemeClr val="lt1"/>
                          </a:solidFill>
                          <a:latin typeface="Cambria"/>
                          <a:ea typeface="Cambria"/>
                          <a:cs typeface="Cambria"/>
                          <a:sym typeface="Cambria"/>
                        </a:rPr>
                        <a:t>A New Challenging Benchmark for Skeleton based Micro Hand Gesture</a:t>
                      </a:r>
                      <a:r>
                        <a:rPr lang="en-US" sz="1000" u="none" cap="none" strike="noStrike">
                          <a:latin typeface="Cambria"/>
                          <a:ea typeface="Cambria"/>
                          <a:cs typeface="Cambria"/>
                          <a:sym typeface="Cambria"/>
                        </a:rPr>
                        <a:t> </a:t>
                      </a:r>
                      <a:r>
                        <a:rPr b="1" lang="en-US" sz="1000" u="none" cap="none" strike="noStrike">
                          <a:solidFill>
                            <a:schemeClr val="lt1"/>
                          </a:solidFill>
                          <a:latin typeface="Cambria"/>
                          <a:ea typeface="Cambria"/>
                          <a:cs typeface="Cambria"/>
                          <a:sym typeface="Cambria"/>
                        </a:rPr>
                        <a:t>Recognition. 2026</a:t>
                      </a:r>
                      <a:endParaRPr sz="1000" u="none" cap="none" strike="noStrike">
                        <a:latin typeface="Cambria"/>
                        <a:ea typeface="Cambria"/>
                        <a:cs typeface="Cambria"/>
                        <a:sym typeface="Cambria"/>
                      </a:endParaRPr>
                    </a:p>
                  </a:txBody>
                  <a:tcPr marT="12192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Real time hand tracking using MediaPipe and OpenCV.</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Dependancy on camera based tracking sensitive to lighting and background variations</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solidFill>
                          <a:schemeClr val="lt1"/>
                        </a:solidFill>
                        <a:latin typeface="Cambria"/>
                        <a:ea typeface="Cambria"/>
                        <a:cs typeface="Cambria"/>
                        <a:sym typeface="Cambria"/>
                      </a:endParaRPr>
                    </a:p>
                  </a:txBody>
                  <a:tcPr marT="2920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Accurate hand tracking with simple gesture mapping can enable a responsive real-time air drawing system</a:t>
                      </a:r>
                      <a:endParaRPr b="1" sz="1000" u="none" cap="none" strike="noStrike">
                        <a:solidFill>
                          <a:schemeClr val="lt1"/>
                        </a:solidFill>
                        <a:latin typeface="Cambria"/>
                        <a:ea typeface="Cambria"/>
                        <a:cs typeface="Cambria"/>
                        <a:sym typeface="Cambria"/>
                      </a:endParaRPr>
                    </a:p>
                  </a:txBody>
                  <a:tcPr marT="71125"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54000" lvl="0" marL="541655" marR="0" rtl="0" algn="l">
                        <a:lnSpc>
                          <a:spcPct val="100000"/>
                        </a:lnSpc>
                        <a:spcBef>
                          <a:spcPts val="0"/>
                        </a:spcBef>
                        <a:spcAft>
                          <a:spcPts val="0"/>
                        </a:spcAft>
                        <a:buClr>
                          <a:srgbClr val="000000"/>
                        </a:buClr>
                        <a:buSzPts val="1300"/>
                        <a:buFont typeface="Arial"/>
                        <a:buNone/>
                      </a:pPr>
                      <a:r>
                        <a:rPr b="1" lang="en-US" sz="1300" u="none" cap="none" strike="noStrike">
                          <a:solidFill>
                            <a:srgbClr val="FFFFFF"/>
                          </a:solidFill>
                          <a:latin typeface="Cambria"/>
                          <a:ea typeface="Cambria"/>
                          <a:cs typeface="Cambria"/>
                          <a:sym typeface="Cambria"/>
                        </a:rPr>
                        <a:t>   ScienceOpen</a:t>
                      </a:r>
                      <a:endParaRPr b="1" sz="1300" u="none" cap="none" strike="noStrike">
                        <a:solidFill>
                          <a:srgbClr val="FFFFFF"/>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0181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2</a:t>
                      </a:r>
                      <a:endParaRPr sz="1400" u="none" cap="none" strike="noStrike">
                        <a:latin typeface="Arial"/>
                        <a:ea typeface="Arial"/>
                        <a:cs typeface="Arial"/>
                        <a:sym typeface="Arial"/>
                      </a:endParaRPr>
                    </a:p>
                  </a:txBody>
                  <a:tcPr marT="1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1068070" lvl="0" marL="1097280" marR="23495" rtl="0" algn="l">
                        <a:lnSpc>
                          <a:spcPct val="100000"/>
                        </a:lnSpc>
                        <a:spcBef>
                          <a:spcPts val="0"/>
                        </a:spcBef>
                        <a:spcAft>
                          <a:spcPts val="0"/>
                        </a:spcAft>
                        <a:buClr>
                          <a:schemeClr val="dk1"/>
                        </a:buClr>
                        <a:buSzPts val="1000"/>
                        <a:buFont typeface="Arial"/>
                        <a:buNone/>
                      </a:pPr>
                      <a:r>
                        <a:rPr b="1" lang="en-US" sz="1000" u="none" cap="none" strike="noStrike">
                          <a:solidFill>
                            <a:schemeClr val="lt1"/>
                          </a:solidFill>
                          <a:latin typeface="Cambria"/>
                          <a:ea typeface="Cambria"/>
                          <a:cs typeface="Cambria"/>
                          <a:sym typeface="Cambria"/>
                        </a:rPr>
                        <a:t>  Dynamic LIBRAS Gesture recognition using cnn 2026</a:t>
                      </a:r>
                      <a:endParaRPr b="1" sz="1000" u="none" cap="none" strike="noStrike">
                        <a:solidFill>
                          <a:schemeClr val="lt1"/>
                        </a:solidFill>
                        <a:latin typeface="Cambria"/>
                        <a:ea typeface="Cambria"/>
                        <a:cs typeface="Cambria"/>
                        <a:sym typeface="Cambria"/>
                      </a:endParaRPr>
                    </a:p>
                  </a:txBody>
                  <a:tcPr marT="114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Improves user interaction and enables accurate air writing on virtual canvases</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D.Struggles with variability in hand movements and lack of tactile feedback</a:t>
                      </a:r>
                      <a:endParaRPr b="1" sz="1000" u="none" cap="none" strike="noStrike">
                        <a:solidFill>
                          <a:schemeClr val="lt1"/>
                        </a:solidFill>
                        <a:latin typeface="Cambria"/>
                        <a:ea typeface="Cambria"/>
                        <a:cs typeface="Cambria"/>
                        <a:sym typeface="Cambria"/>
                      </a:endParaRPr>
                    </a:p>
                  </a:txBody>
                  <a:tcPr marT="8065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71120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Combining fingertip </a:t>
                      </a:r>
                      <a:endParaRPr b="1" sz="1000" u="none" cap="none" strike="noStrike">
                        <a:solidFill>
                          <a:schemeClr val="lt1"/>
                        </a:solidFill>
                        <a:latin typeface="Cambria"/>
                        <a:ea typeface="Cambria"/>
                        <a:cs typeface="Cambria"/>
                        <a:sym typeface="Cambria"/>
                      </a:endParaRPr>
                    </a:p>
                    <a:p>
                      <a:pPr indent="0" lvl="0" marL="0" marR="71120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detection with preprocessing enhance accuracy</a:t>
                      </a:r>
                      <a:endParaRPr b="1" sz="1000" u="none" cap="none" strike="noStrike">
                        <a:solidFill>
                          <a:schemeClr val="lt1"/>
                        </a:solidFill>
                        <a:latin typeface="Cambria"/>
                        <a:ea typeface="Cambria"/>
                        <a:cs typeface="Cambria"/>
                        <a:sym typeface="Cambria"/>
                      </a:endParaRPr>
                    </a:p>
                  </a:txBody>
                  <a:tcPr marT="71125"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923290" rtl="0" algn="l">
                        <a:lnSpc>
                          <a:spcPct val="100000"/>
                        </a:lnSpc>
                        <a:spcBef>
                          <a:spcPts val="0"/>
                        </a:spcBef>
                        <a:spcAft>
                          <a:spcPts val="0"/>
                        </a:spcAft>
                        <a:buClr>
                          <a:srgbClr val="000000"/>
                        </a:buClr>
                        <a:buSzPts val="1300"/>
                        <a:buFont typeface="Arial"/>
                        <a:buNone/>
                      </a:pPr>
                      <a:r>
                        <a:t/>
                      </a:r>
                      <a:endParaRPr b="1" sz="1300" u="none" cap="none" strike="noStrike">
                        <a:solidFill>
                          <a:srgbClr val="FFFFFF"/>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442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3</a:t>
                      </a:r>
                      <a:endParaRPr sz="1400" u="none" cap="none" strike="noStrike">
                        <a:latin typeface="Arial"/>
                        <a:ea typeface="Arial"/>
                        <a:cs typeface="Arial"/>
                        <a:sym typeface="Arial"/>
                      </a:endParaRPr>
                    </a:p>
                  </a:txBody>
                  <a:tcPr marT="1536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0" lvl="0" marL="0" marR="0" rtl="0" algn="l">
                        <a:lnSpc>
                          <a:spcPct val="100000"/>
                        </a:lnSpc>
                        <a:spcBef>
                          <a:spcPts val="84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1068070" lvl="0" marL="1097280" marR="23495" rtl="0" algn="l">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mbria"/>
                          <a:ea typeface="Cambria"/>
                          <a:cs typeface="Cambria"/>
                          <a:sym typeface="Cambria"/>
                        </a:rPr>
                        <a:t>Painting with hand gestures using media pipe 2024</a:t>
                      </a:r>
                      <a:endParaRPr sz="1000" u="none" cap="none" strike="noStrike">
                        <a:latin typeface="Cambria"/>
                        <a:ea typeface="Cambria"/>
                        <a:cs typeface="Cambria"/>
                        <a:sym typeface="Cambria"/>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Effective real-time hand gesture painting system by tracking fingertip movements.</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Sensitive to lighting conditions and background noise which can reduce drawing accuracy.</a:t>
                      </a:r>
                      <a:endParaRPr b="1" sz="1000" u="none" cap="none" strike="noStrike">
                        <a:solidFill>
                          <a:schemeClr val="lt1"/>
                        </a:solidFill>
                        <a:latin typeface="Cambria"/>
                        <a:ea typeface="Cambria"/>
                        <a:cs typeface="Cambria"/>
                        <a:sym typeface="Cambria"/>
                      </a:endParaRPr>
                    </a:p>
                  </a:txBody>
                  <a:tcPr marT="0"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Simple fingertip tracking and gesture mapping can be used to build an air drawing system, which we can enhance with better accuracy and stability.</a:t>
                      </a:r>
                      <a:endParaRPr b="1" sz="1000" u="none" cap="none" strike="noStrike">
                        <a:solidFill>
                          <a:schemeClr val="lt1"/>
                        </a:solidFill>
                        <a:latin typeface="Cambria"/>
                        <a:ea typeface="Cambria"/>
                        <a:cs typeface="Cambria"/>
                        <a:sym typeface="Cambria"/>
                      </a:endParaRPr>
                    </a:p>
                  </a:txBody>
                  <a:tcPr marT="71125"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55270" lvl="0" marL="542925" marR="358775" rtl="0" algn="l">
                        <a:lnSpc>
                          <a:spcPct val="100000"/>
                        </a:lnSpc>
                        <a:spcBef>
                          <a:spcPts val="0"/>
                        </a:spcBef>
                        <a:spcAft>
                          <a:spcPts val="0"/>
                        </a:spcAft>
                        <a:buClr>
                          <a:srgbClr val="000000"/>
                        </a:buClr>
                        <a:buSzPts val="1300"/>
                        <a:buFont typeface="Arial"/>
                        <a:buNone/>
                      </a:pPr>
                      <a:r>
                        <a:rPr b="1" lang="en-US" sz="1300" u="none" cap="none" strike="noStrike">
                          <a:solidFill>
                            <a:srgbClr val="FFFFFF"/>
                          </a:solidFill>
                          <a:latin typeface="Cambria"/>
                          <a:ea typeface="Cambria"/>
                          <a:cs typeface="Cambria"/>
                          <a:sym typeface="Cambria"/>
                        </a:rPr>
                        <a:t>           IJISRT</a:t>
                      </a:r>
                      <a:endParaRPr b="1" sz="1300" u="none" cap="none" strike="noStrike">
                        <a:solidFill>
                          <a:srgbClr val="FFFFFF"/>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6204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4</a:t>
                      </a:r>
                      <a:endParaRPr sz="1400" u="none" cap="none" strike="noStrike">
                        <a:latin typeface="Arial"/>
                        <a:ea typeface="Arial"/>
                        <a:cs typeface="Arial"/>
                        <a:sym typeface="Arial"/>
                      </a:endParaRPr>
                    </a:p>
                  </a:txBody>
                  <a:tcPr marT="18352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274955" lvl="0" marL="381635" marR="96520" rtl="0" algn="l">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mbria"/>
                          <a:ea typeface="Cambria"/>
                          <a:cs typeface="Cambria"/>
                          <a:sym typeface="Cambria"/>
                        </a:rPr>
                        <a:t>Air Canvas Handtracking 2022</a:t>
                      </a:r>
                      <a:endParaRPr sz="1000" u="none" cap="none" strike="noStrike">
                        <a:latin typeface="Cambria"/>
                        <a:ea typeface="Cambria"/>
                        <a:cs typeface="Cambria"/>
                        <a:sym typeface="Cambria"/>
                      </a:endParaRPr>
                    </a:p>
                  </a:txBody>
                  <a:tcPr marT="1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Virtual air canvas system built using color-based object tracking</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Reliance on colored markers, making it less natural and less flexible</a:t>
                      </a:r>
                      <a:endParaRPr b="1" sz="1000" u="none" cap="none" strike="noStrike">
                        <a:solidFill>
                          <a:schemeClr val="lt1"/>
                        </a:solidFill>
                        <a:latin typeface="Cambria"/>
                        <a:ea typeface="Cambria"/>
                        <a:cs typeface="Cambria"/>
                        <a:sym typeface="Cambria"/>
                      </a:endParaRPr>
                    </a:p>
                  </a:txBody>
                  <a:tcPr marT="1275"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Simpler color detection methods can reduce computational complexity,</a:t>
                      </a:r>
                      <a:endParaRPr b="1" sz="1000" u="none" cap="none" strike="noStrike">
                        <a:solidFill>
                          <a:schemeClr val="lt1"/>
                        </a:solidFill>
                        <a:latin typeface="Cambria"/>
                        <a:ea typeface="Cambria"/>
                        <a:cs typeface="Cambria"/>
                        <a:sym typeface="Cambria"/>
                      </a:endParaRPr>
                    </a:p>
                  </a:txBody>
                  <a:tcPr marT="83175" marB="0"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256540" lvl="0" marL="541655" marR="0" rtl="0" algn="l">
                        <a:lnSpc>
                          <a:spcPct val="100000"/>
                        </a:lnSpc>
                        <a:spcBef>
                          <a:spcPts val="0"/>
                        </a:spcBef>
                        <a:spcAft>
                          <a:spcPts val="0"/>
                        </a:spcAft>
                        <a:buClr>
                          <a:srgbClr val="000000"/>
                        </a:buClr>
                        <a:buSzPts val="1300"/>
                        <a:buFont typeface="Arial"/>
                        <a:buNone/>
                      </a:pPr>
                      <a:r>
                        <a:rPr b="1" lang="en-US" sz="1300" u="none" cap="none" strike="noStrike">
                          <a:solidFill>
                            <a:srgbClr val="FFFFFF"/>
                          </a:solidFill>
                          <a:latin typeface="Cambria"/>
                          <a:ea typeface="Cambria"/>
                          <a:cs typeface="Cambria"/>
                          <a:sym typeface="Cambria"/>
                        </a:rPr>
                        <a:t>         JETIR</a:t>
                      </a:r>
                      <a:endParaRPr b="1" sz="1300" u="none" cap="none" strike="noStrike">
                        <a:solidFill>
                          <a:srgbClr val="FFFFFF"/>
                        </a:solidFill>
                        <a:latin typeface="Cambria"/>
                        <a:ea typeface="Cambria"/>
                        <a:cs typeface="Cambria"/>
                        <a:sym typeface="Cambria"/>
                      </a:endParaRPr>
                    </a:p>
                  </a:txBody>
                  <a:tcPr marT="8317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119" name="Google Shape;119;p11"/>
          <p:cNvPicPr preferRelativeResize="0"/>
          <p:nvPr/>
        </p:nvPicPr>
        <p:blipFill rotWithShape="1">
          <a:blip r:embed="rId8">
            <a:alphaModFix/>
          </a:blip>
          <a:srcRect b="0" l="0" r="0" t="0"/>
          <a:stretch/>
        </p:blipFill>
        <p:spPr>
          <a:xfrm>
            <a:off x="8753671" y="1019914"/>
            <a:ext cx="86275" cy="86275"/>
          </a:xfrm>
          <a:prstGeom prst="rect">
            <a:avLst/>
          </a:prstGeom>
          <a:noFill/>
          <a:ln>
            <a:noFill/>
          </a:ln>
        </p:spPr>
      </p:pic>
      <p:pic>
        <p:nvPicPr>
          <p:cNvPr id="120" name="Google Shape;120;p11"/>
          <p:cNvPicPr preferRelativeResize="0"/>
          <p:nvPr/>
        </p:nvPicPr>
        <p:blipFill rotWithShape="1">
          <a:blip r:embed="rId9">
            <a:alphaModFix/>
          </a:blip>
          <a:srcRect b="0" l="0" r="0" t="0"/>
          <a:stretch/>
        </p:blipFill>
        <p:spPr>
          <a:xfrm>
            <a:off x="8754380" y="268214"/>
            <a:ext cx="86275" cy="86275"/>
          </a:xfrm>
          <a:prstGeom prst="rect">
            <a:avLst/>
          </a:prstGeom>
          <a:noFill/>
          <a:ln>
            <a:noFill/>
          </a:ln>
        </p:spPr>
      </p:pic>
      <p:pic>
        <p:nvPicPr>
          <p:cNvPr id="121" name="Google Shape;121;p11"/>
          <p:cNvPicPr preferRelativeResize="0"/>
          <p:nvPr/>
        </p:nvPicPr>
        <p:blipFill rotWithShape="1">
          <a:blip r:embed="rId10">
            <a:alphaModFix/>
          </a:blip>
          <a:srcRect b="0" l="0" r="0" t="0"/>
          <a:stretch/>
        </p:blipFill>
        <p:spPr>
          <a:xfrm>
            <a:off x="8464393" y="1397144"/>
            <a:ext cx="72734" cy="74346"/>
          </a:xfrm>
          <a:prstGeom prst="rect">
            <a:avLst/>
          </a:prstGeom>
          <a:noFill/>
          <a:ln>
            <a:noFill/>
          </a:ln>
        </p:spPr>
      </p:pic>
      <p:grpSp>
        <p:nvGrpSpPr>
          <p:cNvPr id="122" name="Google Shape;122;p11"/>
          <p:cNvGrpSpPr/>
          <p:nvPr/>
        </p:nvGrpSpPr>
        <p:grpSpPr>
          <a:xfrm>
            <a:off x="0" y="79439"/>
            <a:ext cx="1139292" cy="74623"/>
            <a:chOff x="0" y="79439"/>
            <a:chExt cx="1139292" cy="74623"/>
          </a:xfrm>
        </p:grpSpPr>
        <p:sp>
          <p:nvSpPr>
            <p:cNvPr id="123" name="Google Shape;123;p11"/>
            <p:cNvSpPr/>
            <p:nvPr/>
          </p:nvSpPr>
          <p:spPr>
            <a:xfrm>
              <a:off x="0" y="116625"/>
              <a:ext cx="1104265" cy="0"/>
            </a:xfrm>
            <a:custGeom>
              <a:rect b="b" l="l" r="r" t="t"/>
              <a:pathLst>
                <a:path extrusionOk="0" h="120000" w="1104265">
                  <a:moveTo>
                    <a:pt x="0" y="0"/>
                  </a:moveTo>
                  <a:lnTo>
                    <a:pt x="1103663"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p11"/>
            <p:cNvPicPr preferRelativeResize="0"/>
            <p:nvPr/>
          </p:nvPicPr>
          <p:blipFill rotWithShape="1">
            <a:blip r:embed="rId11">
              <a:alphaModFix/>
            </a:blip>
            <a:srcRect b="0" l="0" r="0" t="0"/>
            <a:stretch/>
          </p:blipFill>
          <p:spPr>
            <a:xfrm>
              <a:off x="1066469" y="79439"/>
              <a:ext cx="72823" cy="74623"/>
            </a:xfrm>
            <a:prstGeom prst="rect">
              <a:avLst/>
            </a:prstGeom>
            <a:noFill/>
            <a:ln>
              <a:noFill/>
            </a:ln>
          </p:spPr>
        </p:pic>
      </p:grpSp>
      <p:pic>
        <p:nvPicPr>
          <p:cNvPr id="125" name="Google Shape;125;p11"/>
          <p:cNvPicPr preferRelativeResize="0"/>
          <p:nvPr/>
        </p:nvPicPr>
        <p:blipFill rotWithShape="1">
          <a:blip r:embed="rId12">
            <a:alphaModFix/>
          </a:blip>
          <a:srcRect b="0" l="0" r="0" t="0"/>
          <a:stretch/>
        </p:blipFill>
        <p:spPr>
          <a:xfrm>
            <a:off x="1079560" y="4878582"/>
            <a:ext cx="72733" cy="72733"/>
          </a:xfrm>
          <a:prstGeom prst="rect">
            <a:avLst/>
          </a:prstGeom>
          <a:noFill/>
          <a:ln>
            <a:noFill/>
          </a:ln>
        </p:spPr>
      </p:pic>
      <p:sp>
        <p:nvSpPr>
          <p:cNvPr id="126" name="Google Shape;126;p11"/>
          <p:cNvSpPr txBox="1"/>
          <p:nvPr/>
        </p:nvSpPr>
        <p:spPr>
          <a:xfrm>
            <a:off x="7868950" y="2413725"/>
            <a:ext cx="1299000" cy="446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chemeClr val="lt1"/>
              </a:solidFill>
              <a:latin typeface="Cambria"/>
              <a:ea typeface="Cambria"/>
              <a:cs typeface="Cambria"/>
              <a:sym typeface="Cambria"/>
            </a:endParaRPr>
          </a:p>
        </p:txBody>
      </p:sp>
      <p:sp>
        <p:nvSpPr>
          <p:cNvPr id="127" name="Google Shape;127;p11"/>
          <p:cNvSpPr txBox="1"/>
          <p:nvPr/>
        </p:nvSpPr>
        <p:spPr>
          <a:xfrm>
            <a:off x="7381875" y="2351325"/>
            <a:ext cx="1569600" cy="384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00"/>
              <a:buFont typeface="Arial"/>
              <a:buNone/>
            </a:pPr>
            <a:r>
              <a:rPr b="1" i="0" lang="en-US" sz="1300" u="none" cap="none" strike="noStrike">
                <a:solidFill>
                  <a:schemeClr val="lt1"/>
                </a:solidFill>
                <a:latin typeface="Cambria"/>
                <a:ea typeface="Cambria"/>
                <a:cs typeface="Cambria"/>
                <a:sym typeface="Cambria"/>
              </a:rPr>
              <a:t>Cornell University</a:t>
            </a:r>
            <a:endParaRPr b="1" i="0" sz="1300" u="none" cap="none" strike="noStrike">
              <a:solidFill>
                <a:schemeClr val="lt1"/>
              </a:solidFill>
              <a:latin typeface="Cambria"/>
              <a:ea typeface="Cambria"/>
              <a:cs typeface="Cambria"/>
              <a:sym typeface="Cambria"/>
            </a:endParaRPr>
          </a:p>
        </p:txBody>
      </p:sp>
      <p:sp>
        <p:nvSpPr>
          <p:cNvPr id="128" name="Google Shape;128;p11"/>
          <p:cNvSpPr txBox="1"/>
          <p:nvPr/>
        </p:nvSpPr>
        <p:spPr>
          <a:xfrm>
            <a:off x="420588" y="126500"/>
            <a:ext cx="8302800" cy="563400"/>
          </a:xfrm>
          <a:prstGeom prst="rect">
            <a:avLst/>
          </a:prstGeom>
          <a:noFill/>
          <a:ln>
            <a:noFill/>
          </a:ln>
        </p:spPr>
        <p:txBody>
          <a:bodyPr anchorCtr="0" anchor="t" bIns="91425" lIns="91425" spcFirstLastPara="1" rIns="91425" wrap="square" tIns="91425">
            <a:spAutoFit/>
          </a:bodyPr>
          <a:lstStyle/>
          <a:p>
            <a:pPr indent="0" lvl="0" marL="183515" marR="0" rtl="0" algn="ctr">
              <a:lnSpc>
                <a:spcPct val="74545"/>
              </a:lnSpc>
              <a:spcBef>
                <a:spcPts val="0"/>
              </a:spcBef>
              <a:spcAft>
                <a:spcPts val="0"/>
              </a:spcAft>
              <a:buClr>
                <a:srgbClr val="000000"/>
              </a:buClr>
              <a:buSzPts val="3300"/>
              <a:buFont typeface="Arial"/>
              <a:buNone/>
            </a:pPr>
            <a:r>
              <a:rPr b="0" i="0" lang="en-US" sz="3300" u="none" cap="none" strike="noStrike">
                <a:solidFill>
                  <a:schemeClr val="lt1"/>
                </a:solidFill>
                <a:latin typeface="Verdana"/>
                <a:ea typeface="Verdana"/>
                <a:cs typeface="Verdana"/>
                <a:sym typeface="Verdana"/>
              </a:rPr>
              <a:t>LITERATURE SURVEY</a:t>
            </a:r>
            <a:endParaRPr b="0" i="0" sz="3300" u="none" cap="none" strike="noStrike">
              <a:solidFill>
                <a:schemeClr val="dk1"/>
              </a:solidFill>
              <a:latin typeface="Verdana"/>
              <a:ea typeface="Verdana"/>
              <a:cs typeface="Verdana"/>
              <a:sym typeface="Verdana"/>
            </a:endParaRPr>
          </a:p>
        </p:txBody>
      </p:sp>
      <p:pic>
        <p:nvPicPr>
          <p:cNvPr id="129" name="Google Shape;129;p11"/>
          <p:cNvPicPr preferRelativeResize="0"/>
          <p:nvPr/>
        </p:nvPicPr>
        <p:blipFill rotWithShape="1">
          <a:blip r:embed="rId13">
            <a:alphaModFix/>
          </a:blip>
          <a:srcRect b="0" l="0" r="0" t="0"/>
          <a:stretch/>
        </p:blipFill>
        <p:spPr>
          <a:xfrm>
            <a:off x="662083" y="1087"/>
            <a:ext cx="7875450" cy="74816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grpSp>
        <p:nvGrpSpPr>
          <p:cNvPr id="134" name="Google Shape;134;p12"/>
          <p:cNvGrpSpPr/>
          <p:nvPr/>
        </p:nvGrpSpPr>
        <p:grpSpPr>
          <a:xfrm>
            <a:off x="8753671" y="268214"/>
            <a:ext cx="86984" cy="837975"/>
            <a:chOff x="8753671" y="268214"/>
            <a:chExt cx="86984" cy="837975"/>
          </a:xfrm>
        </p:grpSpPr>
        <p:sp>
          <p:nvSpPr>
            <p:cNvPr id="135" name="Google Shape;135;p12"/>
            <p:cNvSpPr/>
            <p:nvPr/>
          </p:nvSpPr>
          <p:spPr>
            <a:xfrm>
              <a:off x="8797889" y="310053"/>
              <a:ext cx="0" cy="753110"/>
            </a:xfrm>
            <a:custGeom>
              <a:rect b="b" l="l" r="r" t="t"/>
              <a:pathLst>
                <a:path extrusionOk="0" h="753110" w="120000">
                  <a:moveTo>
                    <a:pt x="0" y="752996"/>
                  </a:move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36" name="Google Shape;136;p12"/>
            <p:cNvPicPr preferRelativeResize="0"/>
            <p:nvPr/>
          </p:nvPicPr>
          <p:blipFill rotWithShape="1">
            <a:blip r:embed="rId3">
              <a:alphaModFix/>
            </a:blip>
            <a:srcRect b="0" l="0" r="0" t="0"/>
            <a:stretch/>
          </p:blipFill>
          <p:spPr>
            <a:xfrm>
              <a:off x="8753671" y="1019914"/>
              <a:ext cx="86275" cy="86275"/>
            </a:xfrm>
            <a:prstGeom prst="rect">
              <a:avLst/>
            </a:prstGeom>
            <a:noFill/>
            <a:ln>
              <a:noFill/>
            </a:ln>
          </p:spPr>
        </p:pic>
        <p:pic>
          <p:nvPicPr>
            <p:cNvPr id="137" name="Google Shape;137;p12"/>
            <p:cNvPicPr preferRelativeResize="0"/>
            <p:nvPr/>
          </p:nvPicPr>
          <p:blipFill rotWithShape="1">
            <a:blip r:embed="rId4">
              <a:alphaModFix/>
            </a:blip>
            <a:srcRect b="0" l="0" r="0" t="0"/>
            <a:stretch/>
          </p:blipFill>
          <p:spPr>
            <a:xfrm>
              <a:off x="8754380" y="268214"/>
              <a:ext cx="86275" cy="86275"/>
            </a:xfrm>
            <a:prstGeom prst="rect">
              <a:avLst/>
            </a:prstGeom>
            <a:noFill/>
            <a:ln>
              <a:noFill/>
            </a:ln>
          </p:spPr>
        </p:pic>
      </p:grpSp>
      <p:grpSp>
        <p:nvGrpSpPr>
          <p:cNvPr id="138" name="Google Shape;138;p12"/>
          <p:cNvGrpSpPr/>
          <p:nvPr/>
        </p:nvGrpSpPr>
        <p:grpSpPr>
          <a:xfrm>
            <a:off x="8361706" y="0"/>
            <a:ext cx="290195" cy="1471490"/>
            <a:chOff x="8361706" y="0"/>
            <a:chExt cx="290195" cy="1471490"/>
          </a:xfrm>
        </p:grpSpPr>
        <p:sp>
          <p:nvSpPr>
            <p:cNvPr id="139" name="Google Shape;139;p12"/>
            <p:cNvSpPr/>
            <p:nvPr/>
          </p:nvSpPr>
          <p:spPr>
            <a:xfrm>
              <a:off x="8361706" y="0"/>
              <a:ext cx="290195" cy="1434465"/>
            </a:xfrm>
            <a:custGeom>
              <a:rect b="b" l="l" r="r" t="t"/>
              <a:pathLst>
                <a:path extrusionOk="0" h="1434465" w="290195">
                  <a:moveTo>
                    <a:pt x="139425" y="1434302"/>
                  </a:moveTo>
                  <a:lnTo>
                    <a:pt x="139425" y="810545"/>
                  </a:lnTo>
                  <a:lnTo>
                    <a:pt x="0" y="670715"/>
                  </a:lnTo>
                  <a:lnTo>
                    <a:pt x="0" y="292867"/>
                  </a:lnTo>
                  <a:lnTo>
                    <a:pt x="289681"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0" name="Google Shape;140;p12"/>
            <p:cNvPicPr preferRelativeResize="0"/>
            <p:nvPr/>
          </p:nvPicPr>
          <p:blipFill rotWithShape="1">
            <a:blip r:embed="rId5">
              <a:alphaModFix/>
            </a:blip>
            <a:srcRect b="0" l="0" r="0" t="0"/>
            <a:stretch/>
          </p:blipFill>
          <p:spPr>
            <a:xfrm>
              <a:off x="8464392" y="1397144"/>
              <a:ext cx="72734" cy="74346"/>
            </a:xfrm>
            <a:prstGeom prst="rect">
              <a:avLst/>
            </a:prstGeom>
            <a:noFill/>
            <a:ln>
              <a:noFill/>
            </a:ln>
          </p:spPr>
        </p:pic>
      </p:grpSp>
      <p:grpSp>
        <p:nvGrpSpPr>
          <p:cNvPr id="141" name="Google Shape;141;p12"/>
          <p:cNvGrpSpPr/>
          <p:nvPr/>
        </p:nvGrpSpPr>
        <p:grpSpPr>
          <a:xfrm>
            <a:off x="7970104" y="4583944"/>
            <a:ext cx="1174115" cy="439499"/>
            <a:chOff x="7970104" y="4583944"/>
            <a:chExt cx="1174115" cy="439499"/>
          </a:xfrm>
        </p:grpSpPr>
        <p:sp>
          <p:nvSpPr>
            <p:cNvPr id="142" name="Google Shape;142;p12"/>
            <p:cNvSpPr/>
            <p:nvPr/>
          </p:nvSpPr>
          <p:spPr>
            <a:xfrm>
              <a:off x="8470011" y="4617498"/>
              <a:ext cx="455930" cy="370840"/>
            </a:xfrm>
            <a:custGeom>
              <a:rect b="b" l="l" r="r" t="t"/>
              <a:pathLst>
                <a:path extrusionOk="0" h="370839" w="455929">
                  <a:moveTo>
                    <a:pt x="0" y="0"/>
                  </a:moveTo>
                  <a:lnTo>
                    <a:pt x="206543" y="0"/>
                  </a:lnTo>
                  <a:lnTo>
                    <a:pt x="455492" y="248947"/>
                  </a:lnTo>
                  <a:lnTo>
                    <a:pt x="455661" y="370513"/>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3" name="Google Shape;143;p12"/>
            <p:cNvPicPr preferRelativeResize="0"/>
            <p:nvPr/>
          </p:nvPicPr>
          <p:blipFill rotWithShape="1">
            <a:blip r:embed="rId6">
              <a:alphaModFix/>
            </a:blip>
            <a:srcRect b="0" l="0" r="0" t="0"/>
            <a:stretch/>
          </p:blipFill>
          <p:spPr>
            <a:xfrm>
              <a:off x="8435621" y="4583944"/>
              <a:ext cx="68781" cy="68779"/>
            </a:xfrm>
            <a:prstGeom prst="rect">
              <a:avLst/>
            </a:prstGeom>
            <a:noFill/>
            <a:ln>
              <a:noFill/>
            </a:ln>
          </p:spPr>
        </p:pic>
        <p:pic>
          <p:nvPicPr>
            <p:cNvPr id="144" name="Google Shape;144;p12"/>
            <p:cNvPicPr preferRelativeResize="0"/>
            <p:nvPr/>
          </p:nvPicPr>
          <p:blipFill rotWithShape="1">
            <a:blip r:embed="rId7">
              <a:alphaModFix/>
            </a:blip>
            <a:srcRect b="0" l="0" r="0" t="0"/>
            <a:stretch/>
          </p:blipFill>
          <p:spPr>
            <a:xfrm>
              <a:off x="8891078" y="4954664"/>
              <a:ext cx="68778" cy="68779"/>
            </a:xfrm>
            <a:prstGeom prst="rect">
              <a:avLst/>
            </a:prstGeom>
            <a:noFill/>
            <a:ln>
              <a:noFill/>
            </a:ln>
          </p:spPr>
        </p:pic>
        <p:sp>
          <p:nvSpPr>
            <p:cNvPr id="145" name="Google Shape;145;p12"/>
            <p:cNvSpPr/>
            <p:nvPr/>
          </p:nvSpPr>
          <p:spPr>
            <a:xfrm>
              <a:off x="7970104" y="4849851"/>
              <a:ext cx="1174115" cy="15240"/>
            </a:xfrm>
            <a:custGeom>
              <a:rect b="b" l="l" r="r" t="t"/>
              <a:pathLst>
                <a:path extrusionOk="0" h="15239" w="1174115">
                  <a:moveTo>
                    <a:pt x="1173895" y="0"/>
                  </a:moveTo>
                  <a:lnTo>
                    <a:pt x="1158809" y="15074"/>
                  </a:lnTo>
                  <a:lnTo>
                    <a:pt x="0" y="15074"/>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46" name="Google Shape;146;p12"/>
          <p:cNvPicPr preferRelativeResize="0"/>
          <p:nvPr/>
        </p:nvPicPr>
        <p:blipFill rotWithShape="1">
          <a:blip r:embed="rId8">
            <a:alphaModFix/>
          </a:blip>
          <a:srcRect b="0" l="0" r="0" t="0"/>
          <a:stretch/>
        </p:blipFill>
        <p:spPr>
          <a:xfrm>
            <a:off x="7932918" y="4827738"/>
            <a:ext cx="74624" cy="74623"/>
          </a:xfrm>
          <a:prstGeom prst="rect">
            <a:avLst/>
          </a:prstGeom>
          <a:noFill/>
          <a:ln>
            <a:noFill/>
          </a:ln>
        </p:spPr>
      </p:pic>
      <p:grpSp>
        <p:nvGrpSpPr>
          <p:cNvPr id="147" name="Google Shape;147;p12"/>
          <p:cNvGrpSpPr/>
          <p:nvPr/>
        </p:nvGrpSpPr>
        <p:grpSpPr>
          <a:xfrm>
            <a:off x="0" y="79439"/>
            <a:ext cx="1139292" cy="74623"/>
            <a:chOff x="0" y="79439"/>
            <a:chExt cx="1139292" cy="74623"/>
          </a:xfrm>
        </p:grpSpPr>
        <p:sp>
          <p:nvSpPr>
            <p:cNvPr id="148" name="Google Shape;148;p12"/>
            <p:cNvSpPr/>
            <p:nvPr/>
          </p:nvSpPr>
          <p:spPr>
            <a:xfrm>
              <a:off x="0" y="116625"/>
              <a:ext cx="1104265" cy="0"/>
            </a:xfrm>
            <a:custGeom>
              <a:rect b="b" l="l" r="r" t="t"/>
              <a:pathLst>
                <a:path extrusionOk="0" h="120000" w="1104265">
                  <a:moveTo>
                    <a:pt x="0" y="0"/>
                  </a:moveTo>
                  <a:lnTo>
                    <a:pt x="1103663"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49" name="Google Shape;149;p12"/>
            <p:cNvPicPr preferRelativeResize="0"/>
            <p:nvPr/>
          </p:nvPicPr>
          <p:blipFill rotWithShape="1">
            <a:blip r:embed="rId9">
              <a:alphaModFix/>
            </a:blip>
            <a:srcRect b="0" l="0" r="0" t="0"/>
            <a:stretch/>
          </p:blipFill>
          <p:spPr>
            <a:xfrm>
              <a:off x="1066469" y="79439"/>
              <a:ext cx="72823" cy="74623"/>
            </a:xfrm>
            <a:prstGeom prst="rect">
              <a:avLst/>
            </a:prstGeom>
            <a:noFill/>
            <a:ln>
              <a:noFill/>
            </a:ln>
          </p:spPr>
        </p:pic>
      </p:grpSp>
      <p:sp>
        <p:nvSpPr>
          <p:cNvPr id="150" name="Google Shape;150;p12"/>
          <p:cNvSpPr/>
          <p:nvPr/>
        </p:nvSpPr>
        <p:spPr>
          <a:xfrm>
            <a:off x="0" y="4628734"/>
            <a:ext cx="530860" cy="368300"/>
          </a:xfrm>
          <a:custGeom>
            <a:rect b="b" l="l" r="r" t="t"/>
            <a:pathLst>
              <a:path extrusionOk="0" h="368300" w="530860">
                <a:moveTo>
                  <a:pt x="530340" y="368295"/>
                </a:moveTo>
                <a:lnTo>
                  <a:pt x="182533" y="20439"/>
                </a:lnTo>
                <a:lnTo>
                  <a:pt x="20457" y="20439"/>
                </a:ln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1" name="Google Shape;151;p12"/>
          <p:cNvPicPr preferRelativeResize="0"/>
          <p:nvPr/>
        </p:nvPicPr>
        <p:blipFill rotWithShape="1">
          <a:blip r:embed="rId10">
            <a:alphaModFix/>
          </a:blip>
          <a:srcRect b="0" l="0" r="0" t="0"/>
          <a:stretch/>
        </p:blipFill>
        <p:spPr>
          <a:xfrm>
            <a:off x="494618" y="4961304"/>
            <a:ext cx="73261" cy="73262"/>
          </a:xfrm>
          <a:prstGeom prst="rect">
            <a:avLst/>
          </a:prstGeom>
          <a:noFill/>
          <a:ln>
            <a:noFill/>
          </a:ln>
        </p:spPr>
      </p:pic>
      <p:sp>
        <p:nvSpPr>
          <p:cNvPr id="152" name="Google Shape;152;p12"/>
          <p:cNvSpPr/>
          <p:nvPr/>
        </p:nvSpPr>
        <p:spPr>
          <a:xfrm>
            <a:off x="324902" y="4291167"/>
            <a:ext cx="791845" cy="624840"/>
          </a:xfrm>
          <a:custGeom>
            <a:rect b="b" l="l" r="r" t="t"/>
            <a:pathLst>
              <a:path extrusionOk="0" h="624839" w="791844">
                <a:moveTo>
                  <a:pt x="791842" y="624602"/>
                </a:moveTo>
                <a:lnTo>
                  <a:pt x="319807" y="624602"/>
                </a:lnTo>
                <a:lnTo>
                  <a:pt x="0" y="304394"/>
                </a:lnTo>
                <a:lnTo>
                  <a:pt x="0" y="0"/>
                </a:lnTo>
              </a:path>
            </a:pathLst>
          </a:custGeom>
          <a:noFill/>
          <a:ln cap="flat" cmpd="sng" w="9525">
            <a:solidFill>
              <a:srgbClr val="FFBD3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3" name="Google Shape;153;p12"/>
          <p:cNvPicPr preferRelativeResize="0"/>
          <p:nvPr/>
        </p:nvPicPr>
        <p:blipFill rotWithShape="1">
          <a:blip r:embed="rId11">
            <a:alphaModFix/>
          </a:blip>
          <a:srcRect b="0" l="0" r="0" t="0"/>
          <a:stretch/>
        </p:blipFill>
        <p:spPr>
          <a:xfrm>
            <a:off x="1079560" y="4878582"/>
            <a:ext cx="72733" cy="72733"/>
          </a:xfrm>
          <a:prstGeom prst="rect">
            <a:avLst/>
          </a:prstGeom>
          <a:noFill/>
          <a:ln>
            <a:noFill/>
          </a:ln>
        </p:spPr>
      </p:pic>
      <p:pic>
        <p:nvPicPr>
          <p:cNvPr id="154" name="Google Shape;154;p12"/>
          <p:cNvPicPr preferRelativeResize="0"/>
          <p:nvPr/>
        </p:nvPicPr>
        <p:blipFill rotWithShape="1">
          <a:blip r:embed="rId12">
            <a:alphaModFix/>
          </a:blip>
          <a:srcRect b="0" l="0" r="0" t="0"/>
          <a:stretch/>
        </p:blipFill>
        <p:spPr>
          <a:xfrm>
            <a:off x="287715" y="4255687"/>
            <a:ext cx="74346" cy="72733"/>
          </a:xfrm>
          <a:prstGeom prst="rect">
            <a:avLst/>
          </a:prstGeom>
          <a:noFill/>
          <a:ln>
            <a:noFill/>
          </a:ln>
        </p:spPr>
      </p:pic>
      <p:graphicFrame>
        <p:nvGraphicFramePr>
          <p:cNvPr id="155" name="Google Shape;155;p12"/>
          <p:cNvGraphicFramePr/>
          <p:nvPr/>
        </p:nvGraphicFramePr>
        <p:xfrm>
          <a:off x="287724" y="347949"/>
          <a:ext cx="3000000" cy="3000000"/>
        </p:xfrm>
        <a:graphic>
          <a:graphicData uri="http://schemas.openxmlformats.org/drawingml/2006/table">
            <a:tbl>
              <a:tblPr bandRow="1" firstRow="1">
                <a:noFill/>
                <a:tableStyleId>{EAEAFE88-0B47-443B-AB1A-5A2CBCF41706}</a:tableStyleId>
              </a:tblPr>
              <a:tblGrid>
                <a:gridCol w="509900"/>
                <a:gridCol w="2242175"/>
                <a:gridCol w="2132650"/>
                <a:gridCol w="2107850"/>
                <a:gridCol w="1706650"/>
              </a:tblGrid>
              <a:tr h="428625">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No.</a:t>
                      </a:r>
                      <a:endParaRPr sz="1400" u="none" cap="none" strike="noStrike">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444500" marR="0" rtl="0" algn="l">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Research papers</a:t>
                      </a:r>
                      <a:endParaRPr sz="1400" u="none" cap="none" strike="noStrike">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Conclusion &amp; Drawback</a:t>
                      </a:r>
                      <a:endParaRPr sz="1400" u="none" cap="none" strike="noStrike">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100"/>
                        <a:buFont typeface="Arial"/>
                        <a:buNone/>
                      </a:pPr>
                      <a:r>
                        <a:rPr lang="en-US" sz="1400" u="none" cap="none" strike="noStrike">
                          <a:solidFill>
                            <a:schemeClr val="lt1"/>
                          </a:solidFill>
                          <a:latin typeface="Arial"/>
                          <a:ea typeface="Arial"/>
                          <a:cs typeface="Arial"/>
                          <a:sym typeface="Arial"/>
                        </a:rPr>
                        <a:t>Relevance for our system</a:t>
                      </a:r>
                      <a:endParaRPr sz="1400" u="none" cap="none" strike="noStrike">
                        <a:solidFill>
                          <a:schemeClr val="lt1"/>
                        </a:solidFill>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Published By</a:t>
                      </a:r>
                      <a:endParaRPr sz="1400" u="none" cap="none" strike="noStrike">
                        <a:latin typeface="Arial"/>
                        <a:ea typeface="Arial"/>
                        <a:cs typeface="Arial"/>
                        <a:sym typeface="Arial"/>
                      </a:endParaRPr>
                    </a:p>
                  </a:txBody>
                  <a:tcPr marT="8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73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5</a:t>
                      </a:r>
                      <a:endParaRPr sz="1400" u="none" cap="none" strike="noStrike">
                        <a:latin typeface="Arial"/>
                        <a:ea typeface="Arial"/>
                        <a:cs typeface="Arial"/>
                        <a:sym typeface="Arial"/>
                      </a:endParaRPr>
                    </a:p>
                  </a:txBody>
                  <a:tcPr marT="1080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219710" marR="0" rtl="0" algn="l">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mbria"/>
                          <a:ea typeface="Cambria"/>
                          <a:cs typeface="Cambria"/>
                          <a:sym typeface="Cambria"/>
                        </a:rPr>
                        <a:t>Deep Learning based Dynamic Hand Gesture Recognition System 2022</a:t>
                      </a:r>
                      <a:endParaRPr sz="1000" u="none" cap="none" strike="noStrike">
                        <a:latin typeface="Cambria"/>
                        <a:ea typeface="Cambria"/>
                        <a:cs typeface="Cambria"/>
                        <a:sym typeface="Cambria"/>
                      </a:endParaRPr>
                    </a:p>
                  </a:txBody>
                  <a:tcPr marT="1282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Deep learning significantly improves accuracy and efficiency</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Complex multimodal fusion and depth data processing, increasing system complexity</a:t>
                      </a:r>
                      <a:endParaRPr b="1" sz="1000" u="none" cap="none" strike="noStrike">
                        <a:solidFill>
                          <a:schemeClr val="lt1"/>
                        </a:solidFill>
                        <a:latin typeface="Cambria"/>
                        <a:ea typeface="Cambria"/>
                        <a:cs typeface="Cambria"/>
                        <a:sym typeface="Cambria"/>
                      </a:endParaRPr>
                    </a:p>
                  </a:txBody>
                  <a:tcPr marT="0" marB="91425"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 Combining multiple data modalities (depth + skeleton) enhances gesture understanding,</a:t>
                      </a:r>
                      <a:endParaRPr b="1" sz="1000" u="none" cap="none" strike="noStrike">
                        <a:solidFill>
                          <a:schemeClr val="lt1"/>
                        </a:solidFill>
                        <a:latin typeface="Cambria"/>
                        <a:ea typeface="Cambria"/>
                        <a:cs typeface="Cambria"/>
                        <a:sym typeface="Cambria"/>
                      </a:endParaRPr>
                    </a:p>
                  </a:txBody>
                  <a:tcPr marT="971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chemeClr val="lt1"/>
                          </a:solidFill>
                          <a:latin typeface="Cambria"/>
                          <a:ea typeface="Cambria"/>
                          <a:cs typeface="Cambria"/>
                          <a:sym typeface="Cambria"/>
                        </a:rPr>
                        <a:t>ResearchGate</a:t>
                      </a:r>
                      <a:endParaRPr b="1" sz="1300" u="none" cap="none" strike="noStrike">
                        <a:solidFill>
                          <a:schemeClr val="lt1"/>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9944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6</a:t>
                      </a:r>
                      <a:endParaRPr sz="1400" u="none" cap="none" strike="noStrike">
                        <a:latin typeface="Arial"/>
                        <a:ea typeface="Arial"/>
                        <a:cs typeface="Arial"/>
                        <a:sym typeface="Arial"/>
                      </a:endParaRPr>
                    </a:p>
                  </a:txBody>
                  <a:tcPr marT="1441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0" lvl="0" marL="193040" marR="177165" rtl="0" algn="ctr">
                        <a:lnSpc>
                          <a:spcPct val="100000"/>
                        </a:lnSpc>
                        <a:spcBef>
                          <a:spcPts val="0"/>
                        </a:spcBef>
                        <a:spcAft>
                          <a:spcPts val="0"/>
                        </a:spcAft>
                        <a:buClr>
                          <a:srgbClr val="000000"/>
                        </a:buClr>
                        <a:buSzPts val="1000"/>
                        <a:buFont typeface="Arial"/>
                        <a:buNone/>
                      </a:pPr>
                      <a:r>
                        <a:rPr b="1" lang="en-US" sz="1000" u="none" cap="none" strike="noStrike">
                          <a:solidFill>
                            <a:srgbClr val="FFFFFF"/>
                          </a:solidFill>
                          <a:latin typeface="Cambria"/>
                          <a:ea typeface="Cambria"/>
                          <a:cs typeface="Cambria"/>
                          <a:sym typeface="Cambria"/>
                        </a:rPr>
                        <a:t>Hand Gesture Recognition using Image Processing and Feature Extraction Techniques 2020</a:t>
                      </a:r>
                      <a:endParaRPr sz="1000" u="none" cap="none" strike="noStrike">
                        <a:latin typeface="Cambria"/>
                        <a:ea typeface="Cambria"/>
                        <a:cs typeface="Cambria"/>
                        <a:sym typeface="Cambria"/>
                      </a:endParaRPr>
                    </a:p>
                  </a:txBody>
                  <a:tcPr marT="7810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Combining image preprocessing with feature extraction improves hand gesture recognition accuracy</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Complex feature extraction and multiple processing steps</a:t>
                      </a:r>
                      <a:endParaRPr b="1" sz="1000" u="none" cap="none" strike="noStrike">
                        <a:solidFill>
                          <a:schemeClr val="lt1"/>
                        </a:solidFill>
                        <a:latin typeface="Cambria"/>
                        <a:ea typeface="Cambria"/>
                        <a:cs typeface="Cambria"/>
                        <a:sym typeface="Cambria"/>
                      </a:endParaRPr>
                    </a:p>
                  </a:txBody>
                  <a:tcPr marT="0" marB="91425"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 </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Effective preprocessing and feature extraction are crucial for improving recognition accuracy</a:t>
                      </a:r>
                      <a:endParaRPr b="1" sz="1000" u="none" cap="none" strike="noStrike">
                        <a:solidFill>
                          <a:schemeClr val="lt1"/>
                        </a:solidFill>
                        <a:latin typeface="Cambria"/>
                        <a:ea typeface="Cambria"/>
                        <a:cs typeface="Cambria"/>
                        <a:sym typeface="Cambria"/>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chemeClr val="lt1"/>
                          </a:solidFill>
                          <a:latin typeface="Cambria"/>
                          <a:ea typeface="Cambria"/>
                          <a:cs typeface="Cambria"/>
                          <a:sym typeface="Cambria"/>
                        </a:rPr>
                        <a:t>ResearchGate</a:t>
                      </a:r>
                      <a:endParaRPr b="1" sz="1300" u="none" cap="none" strike="noStrike">
                        <a:solidFill>
                          <a:schemeClr val="lt1"/>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85217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Arial"/>
                          <a:ea typeface="Arial"/>
                          <a:cs typeface="Arial"/>
                          <a:sym typeface="Arial"/>
                        </a:rPr>
                        <a:t>7</a:t>
                      </a:r>
                      <a:endParaRPr sz="1400" u="none" cap="none" strike="noStrike">
                        <a:latin typeface="Arial"/>
                        <a:ea typeface="Arial"/>
                        <a:cs typeface="Arial"/>
                        <a:sym typeface="Arial"/>
                      </a:endParaRPr>
                    </a:p>
                  </a:txBody>
                  <a:tcPr marT="10605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0" lvl="0" marL="0" marR="0" rtl="0" algn="ctr">
                        <a:lnSpc>
                          <a:spcPct val="115000"/>
                        </a:lnSpc>
                        <a:spcBef>
                          <a:spcPts val="0"/>
                        </a:spcBef>
                        <a:spcAft>
                          <a:spcPts val="0"/>
                        </a:spcAft>
                        <a:buClr>
                          <a:schemeClr val="dk1"/>
                        </a:buClr>
                        <a:buSzPts val="1100"/>
                        <a:buFont typeface="Arial"/>
                        <a:buNone/>
                      </a:pPr>
                      <a:r>
                        <a:rPr b="1" lang="en-US" sz="1000" u="none" cap="none" strike="noStrike">
                          <a:solidFill>
                            <a:srgbClr val="FFFFFF"/>
                          </a:solidFill>
                          <a:latin typeface="Cambria"/>
                          <a:ea typeface="Cambria"/>
                          <a:cs typeface="Cambria"/>
                          <a:sym typeface="Cambria"/>
                        </a:rPr>
                        <a:t> Computer vision-based hand gesture  recognition for human-robot</a:t>
                      </a:r>
                      <a:endParaRPr b="1" sz="1000" u="none" cap="none" strike="noStrike">
                        <a:solidFill>
                          <a:srgbClr val="FFFFFF"/>
                        </a:solidFill>
                        <a:latin typeface="Cambria"/>
                        <a:ea typeface="Cambria"/>
                        <a:cs typeface="Cambria"/>
                        <a:sym typeface="Cambria"/>
                      </a:endParaRPr>
                    </a:p>
                    <a:p>
                      <a:pPr indent="0" lvl="0" marL="0" marR="0" rtl="0" algn="ctr">
                        <a:lnSpc>
                          <a:spcPct val="115000"/>
                        </a:lnSpc>
                        <a:spcBef>
                          <a:spcPts val="0"/>
                        </a:spcBef>
                        <a:spcAft>
                          <a:spcPts val="0"/>
                        </a:spcAft>
                        <a:buClr>
                          <a:schemeClr val="dk1"/>
                        </a:buClr>
                        <a:buSzPts val="1100"/>
                        <a:buFont typeface="Arial"/>
                        <a:buNone/>
                      </a:pPr>
                      <a:r>
                        <a:rPr b="1" lang="en-US" sz="1000" u="none" cap="none" strike="noStrike">
                          <a:solidFill>
                            <a:srgbClr val="FFFFFF"/>
                          </a:solidFill>
                          <a:latin typeface="Cambria"/>
                          <a:ea typeface="Cambria"/>
                          <a:cs typeface="Cambria"/>
                          <a:sym typeface="Cambria"/>
                        </a:rPr>
                        <a:t>interaction: a review 2022</a:t>
                      </a:r>
                      <a:endParaRPr b="1" sz="1000" u="none" cap="none" strike="noStrike">
                        <a:solidFill>
                          <a:srgbClr val="FFFFFF"/>
                        </a:solidFill>
                        <a:latin typeface="Cambria"/>
                        <a:ea typeface="Cambria"/>
                        <a:cs typeface="Cambria"/>
                        <a:sym typeface="Cambria"/>
                      </a:endParaRPr>
                    </a:p>
                    <a:p>
                      <a:pPr indent="-1270" lvl="0" marL="470534" marR="454659" rtl="0" algn="ctr">
                        <a:lnSpc>
                          <a:spcPct val="100000"/>
                        </a:lnSpc>
                        <a:spcBef>
                          <a:spcPts val="0"/>
                        </a:spcBef>
                        <a:spcAft>
                          <a:spcPts val="0"/>
                        </a:spcAft>
                        <a:buClr>
                          <a:srgbClr val="000000"/>
                        </a:buClr>
                        <a:buSzPts val="1000"/>
                        <a:buFont typeface="Arial"/>
                        <a:buNone/>
                      </a:pPr>
                      <a:r>
                        <a:t/>
                      </a:r>
                      <a:endParaRPr b="1" sz="1000" u="none" cap="none" strike="noStrike">
                        <a:solidFill>
                          <a:srgbClr val="FFFFFF"/>
                        </a:solidFill>
                        <a:latin typeface="Cambria"/>
                        <a:ea typeface="Cambria"/>
                        <a:cs typeface="Cambria"/>
                        <a:sym typeface="Cambria"/>
                      </a:endParaRPr>
                    </a:p>
                  </a:txBody>
                  <a:tcPr marT="4000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human–robot interaction stages like detection, segmentation, and classification.</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challenges such as gesture variability, environmental sensitivity, and high computational complexity.</a:t>
                      </a:r>
                      <a:endParaRPr b="1" sz="1000" u="none" cap="none" strike="noStrike">
                        <a:solidFill>
                          <a:schemeClr val="lt1"/>
                        </a:solidFill>
                        <a:latin typeface="Cambria"/>
                        <a:ea typeface="Cambria"/>
                        <a:cs typeface="Cambria"/>
                        <a:sym typeface="Cambria"/>
                      </a:endParaRPr>
                    </a:p>
                  </a:txBody>
                  <a:tcPr marT="0" marB="91425"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 Complete pipeline (data acquisition → detection → feature extraction → classification).</a:t>
                      </a:r>
                      <a:endParaRPr b="1" sz="1000" u="none" cap="none" strike="noStrike">
                        <a:solidFill>
                          <a:schemeClr val="lt1"/>
                        </a:solidFill>
                        <a:latin typeface="Cambria"/>
                        <a:ea typeface="Cambria"/>
                        <a:cs typeface="Cambria"/>
                        <a:sym typeface="Cambria"/>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100"/>
                        <a:buFont typeface="Arial"/>
                        <a:buNone/>
                      </a:pPr>
                      <a:r>
                        <a:rPr b="1" lang="en-US" sz="1300" u="none" cap="none" strike="noStrike">
                          <a:solidFill>
                            <a:schemeClr val="lt1"/>
                          </a:solidFill>
                          <a:latin typeface="Cambria"/>
                          <a:ea typeface="Cambria"/>
                          <a:cs typeface="Cambria"/>
                          <a:sym typeface="Cambria"/>
                        </a:rPr>
                        <a:t>SpringerNature</a:t>
                      </a:r>
                      <a:endParaRPr b="1" sz="1300" u="none" cap="none" strike="noStrike">
                        <a:solidFill>
                          <a:schemeClr val="lt1"/>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7880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latin typeface="Times New Roman"/>
                        <a:ea typeface="Times New Roman"/>
                        <a:cs typeface="Times New Roman"/>
                        <a:sym typeface="Times New Roman"/>
                      </a:endParaRPr>
                    </a:p>
                    <a:p>
                      <a:pPr indent="0" lvl="0" marL="0" marR="0" rtl="0" algn="ctr">
                        <a:lnSpc>
                          <a:spcPct val="100000"/>
                        </a:lnSpc>
                        <a:spcBef>
                          <a:spcPts val="5"/>
                        </a:spcBef>
                        <a:spcAft>
                          <a:spcPts val="0"/>
                        </a:spcAft>
                        <a:buClr>
                          <a:srgbClr val="000000"/>
                        </a:buClr>
                        <a:buSzPts val="1400"/>
                        <a:buFont typeface="Arial"/>
                        <a:buNone/>
                      </a:pPr>
                      <a:r>
                        <a:rPr lang="en-US" sz="1400" u="none" cap="none" strike="noStrike">
                          <a:solidFill>
                            <a:srgbClr val="FFFFFF"/>
                          </a:solidFill>
                          <a:latin typeface="Roboto"/>
                          <a:ea typeface="Roboto"/>
                          <a:cs typeface="Roboto"/>
                          <a:sym typeface="Roboto"/>
                        </a:rPr>
                        <a:t>8</a:t>
                      </a:r>
                      <a:endParaRPr sz="1400" u="none" cap="none" strike="noStrike">
                        <a:latin typeface="Roboto"/>
                        <a:ea typeface="Roboto"/>
                        <a:cs typeface="Roboto"/>
                        <a:sym typeface="Roboto"/>
                      </a:endParaRPr>
                    </a:p>
                  </a:txBody>
                  <a:tcPr marT="77475"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Times New Roman"/>
                        <a:ea typeface="Times New Roman"/>
                        <a:cs typeface="Times New Roman"/>
                        <a:sym typeface="Times New Roman"/>
                      </a:endParaRPr>
                    </a:p>
                    <a:p>
                      <a:pPr indent="0" lvl="0" marL="0" marR="0" rtl="0" algn="ctr">
                        <a:lnSpc>
                          <a:spcPct val="115000"/>
                        </a:lnSpc>
                        <a:spcBef>
                          <a:spcPts val="0"/>
                        </a:spcBef>
                        <a:spcAft>
                          <a:spcPts val="0"/>
                        </a:spcAft>
                        <a:buClr>
                          <a:srgbClr val="000000"/>
                        </a:buClr>
                        <a:buSzPts val="1100"/>
                        <a:buFont typeface="Arial"/>
                        <a:buNone/>
                      </a:pPr>
                      <a:r>
                        <a:rPr b="1" lang="en-US" sz="1000" u="none" cap="none" strike="noStrike">
                          <a:solidFill>
                            <a:srgbClr val="FFFFFF"/>
                          </a:solidFill>
                          <a:latin typeface="Roboto"/>
                          <a:ea typeface="Roboto"/>
                          <a:cs typeface="Roboto"/>
                          <a:sym typeface="Roboto"/>
                        </a:rPr>
                        <a:t>Hand gesture and voice-controlled mouse for physically challenged using computer vision 2023</a:t>
                      </a:r>
                      <a:endParaRPr b="1" sz="1000" u="none" cap="none" strike="noStrike">
                        <a:solidFill>
                          <a:srgbClr val="FFFFFF"/>
                        </a:solidFill>
                        <a:latin typeface="Roboto"/>
                        <a:ea typeface="Roboto"/>
                        <a:cs typeface="Roboto"/>
                        <a:sym typeface="Roboto"/>
                      </a:endParaRPr>
                    </a:p>
                  </a:txBody>
                  <a:tcPr marT="1270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creates a multimodal system for hands-free and accessible computer control.</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Synchronizing gesture and voice inputs and may suffer from reduced accuracy due to noise, lighting conditions etc</a:t>
                      </a:r>
                      <a:endParaRPr b="1" sz="1000" u="none" cap="none" strike="noStrike">
                        <a:solidFill>
                          <a:schemeClr val="lt1"/>
                        </a:solidFill>
                        <a:latin typeface="Cambria"/>
                        <a:ea typeface="Cambria"/>
                        <a:cs typeface="Cambria"/>
                        <a:sym typeface="Cambria"/>
                      </a:endParaRPr>
                    </a:p>
                  </a:txBody>
                  <a:tcPr marT="0" marB="91425" marR="0"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 Integrating multiple input modalities (gesture + voice) improves usability and accessibility</a:t>
                      </a:r>
                      <a:endParaRPr b="1" sz="1000" u="none" cap="none" strike="noStrike">
                        <a:solidFill>
                          <a:schemeClr val="lt1"/>
                        </a:solidFill>
                        <a:latin typeface="Cambria"/>
                        <a:ea typeface="Cambria"/>
                        <a:cs typeface="Cambria"/>
                        <a:sym typeface="Cambria"/>
                      </a:endParaRPr>
                    </a:p>
                  </a:txBody>
                  <a:tcPr marT="0" marB="0" marR="0" marL="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chemeClr val="lt1"/>
                          </a:solidFill>
                          <a:latin typeface="Cambria"/>
                          <a:ea typeface="Cambria"/>
                          <a:cs typeface="Cambria"/>
                          <a:sym typeface="Cambria"/>
                        </a:rPr>
                        <a:t>ResearchGate</a:t>
                      </a:r>
                      <a:endParaRPr b="1" sz="1300" u="none" cap="none" strike="noStrike">
                        <a:solidFill>
                          <a:schemeClr val="lt1"/>
                        </a:solidFill>
                        <a:latin typeface="Cambria"/>
                        <a:ea typeface="Cambria"/>
                        <a:cs typeface="Cambria"/>
                        <a:sym typeface="Cambria"/>
                      </a:endParaRPr>
                    </a:p>
                  </a:txBody>
                  <a:tcPr marT="71125" marB="0" marR="0" marL="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graphicFrame>
        <p:nvGraphicFramePr>
          <p:cNvPr id="160" name="Google Shape;160;p13"/>
          <p:cNvGraphicFramePr/>
          <p:nvPr/>
        </p:nvGraphicFramePr>
        <p:xfrm>
          <a:off x="427650" y="674575"/>
          <a:ext cx="3000000" cy="3000000"/>
        </p:xfrm>
        <a:graphic>
          <a:graphicData uri="http://schemas.openxmlformats.org/drawingml/2006/table">
            <a:tbl>
              <a:tblPr>
                <a:noFill/>
                <a:tableStyleId>{D68BD0A6-1AFE-4EE6-B650-E037337C5E72}</a:tableStyleId>
              </a:tblPr>
              <a:tblGrid>
                <a:gridCol w="689700"/>
                <a:gridCol w="2205900"/>
                <a:gridCol w="2118450"/>
                <a:gridCol w="2236875"/>
                <a:gridCol w="1329350"/>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No.</a:t>
                      </a:r>
                      <a:endParaRPr sz="14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Research Papers</a:t>
                      </a:r>
                      <a:endParaRPr sz="14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Conclusion &amp; Drawback</a:t>
                      </a:r>
                      <a:endParaRPr sz="1400" u="none" cap="none" strike="noStrike">
                        <a:solidFill>
                          <a:schemeClr val="lt1"/>
                        </a:solidFill>
                      </a:endParaRPr>
                    </a:p>
                  </a:txBody>
                  <a:tcPr marT="91425" marB="91425" marR="91425" marL="91425" anchor="ctr"/>
                </a:tc>
                <a:tc>
                  <a:txBody>
                    <a:bodyPr/>
                    <a:lstStyle/>
                    <a:p>
                      <a:pPr indent="0" lvl="0" marL="0" marR="0" rtl="0" algn="l">
                        <a:lnSpc>
                          <a:spcPct val="100000"/>
                        </a:lnSpc>
                        <a:spcBef>
                          <a:spcPts val="0"/>
                        </a:spcBef>
                        <a:spcAft>
                          <a:spcPts val="0"/>
                        </a:spcAft>
                        <a:buClr>
                          <a:schemeClr val="dk1"/>
                        </a:buClr>
                        <a:buSzPts val="1100"/>
                        <a:buFont typeface="Arial"/>
                        <a:buNone/>
                      </a:pPr>
                      <a:r>
                        <a:rPr lang="en-US" sz="1400" u="none" cap="none" strike="noStrike">
                          <a:solidFill>
                            <a:schemeClr val="lt1"/>
                          </a:solidFill>
                        </a:rPr>
                        <a:t>Relevance for our system</a:t>
                      </a:r>
                      <a:endParaRPr sz="1400" u="none" cap="none" strike="noStrike">
                        <a:solidFill>
                          <a:schemeClr val="lt1"/>
                        </a:solidFill>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solidFill>
                            <a:schemeClr val="lt1"/>
                          </a:solidFill>
                        </a:rPr>
                        <a:t>Published By</a:t>
                      </a:r>
                      <a:endParaRPr sz="1400" u="none" cap="none" strike="noStrike">
                        <a:solidFill>
                          <a:schemeClr val="lt1"/>
                        </a:solidFill>
                      </a:endParaRPr>
                    </a:p>
                  </a:txBody>
                  <a:tcPr marT="91425" marB="91425" marR="91425" marL="91425" anchor="ct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lt1"/>
                          </a:solidFill>
                          <a:latin typeface="Cambria"/>
                          <a:ea typeface="Cambria"/>
                          <a:cs typeface="Cambria"/>
                          <a:sym typeface="Cambria"/>
                        </a:rPr>
                        <a:t>9</a:t>
                      </a:r>
                      <a:endParaRPr sz="1600" u="none" cap="none" strike="noStrike">
                        <a:solidFill>
                          <a:schemeClr val="lt1"/>
                        </a:solidFill>
                        <a:latin typeface="Cambria"/>
                        <a:ea typeface="Cambria"/>
                        <a:cs typeface="Cambria"/>
                        <a:sym typeface="Cambria"/>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Enhanced Framework for Real-Time Dynamic Sign Language Recognition 2024</a:t>
                      </a:r>
                      <a:endParaRPr b="1" sz="1000" u="none" cap="none" strike="noStrike">
                        <a:solidFill>
                          <a:schemeClr val="lt1"/>
                        </a:solidFill>
                        <a:latin typeface="Cambria"/>
                        <a:ea typeface="Cambria"/>
                        <a:cs typeface="Cambria"/>
                        <a:sym typeface="Cambria"/>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Integrating Deep Learning with hand tracking enables more accurate recognition.</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Increases computational cost and makes real-time deployment on low-end devices challenging</a:t>
                      </a:r>
                      <a:endParaRPr b="1" sz="1000" u="none" cap="none" strike="noStrike">
                        <a:solidFill>
                          <a:schemeClr val="lt1"/>
                        </a:solidFill>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Temporal modeling of gestures improves recognition of dynamic movements</a:t>
                      </a:r>
                      <a:endParaRPr b="1" sz="1000" u="none" cap="none" strike="noStrike">
                        <a:solidFill>
                          <a:schemeClr val="lt1"/>
                        </a:solidFill>
                        <a:latin typeface="Cambria"/>
                        <a:ea typeface="Cambria"/>
                        <a:cs typeface="Cambria"/>
                        <a:sym typeface="Cambri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chemeClr val="lt1"/>
                          </a:solidFill>
                          <a:latin typeface="Cambria"/>
                          <a:ea typeface="Cambria"/>
                          <a:cs typeface="Cambria"/>
                          <a:sym typeface="Cambria"/>
                        </a:rPr>
                        <a:t>WILEY</a:t>
                      </a:r>
                      <a:endParaRPr b="1" sz="1300" u="none" cap="none" strike="noStrike">
                        <a:solidFill>
                          <a:schemeClr val="lt1"/>
                        </a:solidFill>
                        <a:latin typeface="Cambria"/>
                        <a:ea typeface="Cambria"/>
                        <a:cs typeface="Cambria"/>
                        <a:sym typeface="Cambria"/>
                      </a:endParaRPr>
                    </a:p>
                  </a:txBody>
                  <a:tcPr marT="91425" marB="91425" marR="91425" marL="91425" anchor="ctr"/>
                </a:tc>
              </a:tr>
              <a:tr h="3810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solidFill>
                            <a:schemeClr val="lt1"/>
                          </a:solidFill>
                          <a:latin typeface="Cambria"/>
                          <a:ea typeface="Cambria"/>
                          <a:cs typeface="Cambria"/>
                          <a:sym typeface="Cambria"/>
                        </a:rPr>
                        <a:t>10</a:t>
                      </a:r>
                      <a:endParaRPr sz="1600" u="none" cap="none" strike="noStrike">
                        <a:solidFill>
                          <a:schemeClr val="lt1"/>
                        </a:solidFill>
                        <a:latin typeface="Cambria"/>
                        <a:ea typeface="Cambria"/>
                        <a:cs typeface="Cambria"/>
                        <a:sym typeface="Cambria"/>
                      </a:endParaRPr>
                    </a:p>
                  </a:txBody>
                  <a:tcPr marT="91425" marB="91425" marR="91425" marL="91425" anchor="ctr"/>
                </a:tc>
                <a:tc>
                  <a:txBody>
                    <a:bodyPr/>
                    <a:lstStyle/>
                    <a:p>
                      <a:pPr indent="0" lvl="0" marL="0" marR="0" rtl="0" algn="ctr">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Faults of JavaScript-Based Deep Learning Systems 2023</a:t>
                      </a:r>
                      <a:endParaRPr b="1" sz="1000" u="none" cap="none" strike="noStrike">
                        <a:solidFill>
                          <a:schemeClr val="lt1"/>
                        </a:solidFill>
                        <a:latin typeface="Cambria"/>
                        <a:ea typeface="Cambria"/>
                        <a:cs typeface="Cambria"/>
                        <a:sym typeface="Cambria"/>
                      </a:endParaRPr>
                    </a:p>
                  </a:txBody>
                  <a:tcPr marT="91425" marB="91425" marR="91425" marL="91425" anchor="ctr"/>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C. Deep learning recognition models can effectively capture complex hand movements and improve interaction accuracy</a:t>
                      </a:r>
                      <a:endParaRPr b="1" sz="1000" u="none" cap="none" strike="noStrike">
                        <a:solidFill>
                          <a:schemeClr val="lt1"/>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D. Requires large datasets and high computational resources</a:t>
                      </a:r>
                      <a:endParaRPr b="1" sz="1000" u="none" cap="none" strike="noStrike">
                        <a:solidFill>
                          <a:schemeClr val="lt1"/>
                        </a:solidFill>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000"/>
                        <a:buFont typeface="Arial"/>
                        <a:buNone/>
                      </a:pPr>
                      <a:r>
                        <a:rPr b="1" lang="en-US" sz="1000" u="none" cap="none" strike="noStrike">
                          <a:solidFill>
                            <a:schemeClr val="lt1"/>
                          </a:solidFill>
                          <a:latin typeface="Cambria"/>
                          <a:ea typeface="Cambria"/>
                          <a:cs typeface="Cambria"/>
                          <a:sym typeface="Cambria"/>
                        </a:rPr>
                        <a:t>Advanced deep learning improves gesture understanding and motivates us to design a lightweight and efficient system </a:t>
                      </a:r>
                      <a:endParaRPr b="1" sz="1000" u="none" cap="none" strike="noStrike">
                        <a:solidFill>
                          <a:schemeClr val="lt1"/>
                        </a:solidFill>
                        <a:latin typeface="Cambria"/>
                        <a:ea typeface="Cambria"/>
                        <a:cs typeface="Cambria"/>
                        <a:sym typeface="Cambria"/>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300"/>
                        <a:buFont typeface="Arial"/>
                        <a:buNone/>
                      </a:pPr>
                      <a:r>
                        <a:rPr b="1" lang="en-US" sz="1300" u="none" cap="none" strike="noStrike">
                          <a:solidFill>
                            <a:schemeClr val="lt1"/>
                          </a:solidFill>
                          <a:latin typeface="Cambria"/>
                          <a:ea typeface="Cambria"/>
                          <a:cs typeface="Cambria"/>
                          <a:sym typeface="Cambria"/>
                        </a:rPr>
                        <a:t>Cornell University</a:t>
                      </a:r>
                      <a:endParaRPr b="1" sz="1300" u="none" cap="none" strike="noStrike">
                        <a:solidFill>
                          <a:schemeClr val="lt1"/>
                        </a:solidFill>
                        <a:latin typeface="Cambria"/>
                        <a:ea typeface="Cambria"/>
                        <a:cs typeface="Cambria"/>
                        <a:sym typeface="Cambria"/>
                      </a:endParaRPr>
                    </a:p>
                  </a:txBody>
                  <a:tcPr marT="91425" marB="91425" marR="91425" marL="91425"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pic>
        <p:nvPicPr>
          <p:cNvPr id="165" name="Google Shape;165;p14"/>
          <p:cNvPicPr preferRelativeResize="0"/>
          <p:nvPr/>
        </p:nvPicPr>
        <p:blipFill rotWithShape="1">
          <a:blip r:embed="rId3">
            <a:alphaModFix/>
          </a:blip>
          <a:srcRect b="0" l="0" r="0" t="0"/>
          <a:stretch/>
        </p:blipFill>
        <p:spPr>
          <a:xfrm>
            <a:off x="653325" y="454275"/>
            <a:ext cx="7875449" cy="744149"/>
          </a:xfrm>
          <a:prstGeom prst="rect">
            <a:avLst/>
          </a:prstGeom>
          <a:noFill/>
          <a:ln>
            <a:noFill/>
          </a:ln>
        </p:spPr>
      </p:pic>
      <p:sp>
        <p:nvSpPr>
          <p:cNvPr id="166" name="Google Shape;166;p14"/>
          <p:cNvSpPr txBox="1"/>
          <p:nvPr>
            <p:ph type="title"/>
          </p:nvPr>
        </p:nvSpPr>
        <p:spPr>
          <a:xfrm>
            <a:off x="2270730" y="522820"/>
            <a:ext cx="4678045" cy="52831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PROBLEM STATEMENT</a:t>
            </a:r>
            <a:endParaRPr/>
          </a:p>
        </p:txBody>
      </p:sp>
      <p:sp>
        <p:nvSpPr>
          <p:cNvPr id="167" name="Google Shape;167;p14"/>
          <p:cNvSpPr txBox="1"/>
          <p:nvPr/>
        </p:nvSpPr>
        <p:spPr>
          <a:xfrm>
            <a:off x="674300" y="1304552"/>
            <a:ext cx="7787700" cy="2614200"/>
          </a:xfrm>
          <a:prstGeom prst="rect">
            <a:avLst/>
          </a:prstGeom>
          <a:noFill/>
          <a:ln>
            <a:noFill/>
          </a:ln>
        </p:spPr>
        <p:txBody>
          <a:bodyPr anchorCtr="0" anchor="t" bIns="0" lIns="0" spcFirstLastPara="1" rIns="0" wrap="square" tIns="12700">
            <a:spAutoFit/>
          </a:bodyPr>
          <a:lstStyle/>
          <a:p>
            <a:pPr indent="0" lvl="0" marL="12700" marR="119380" rtl="0" algn="l">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Traditional digital drawing systems rely heavily on physical input devices such as a mouse, stylus, or touchscreen. These methods require direct physical interaction, which may not always be intuitive.</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55"/>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a:p>
            <a:pPr indent="0" lvl="0" marL="12700" marR="268605" rtl="0" algn="just">
              <a:lnSpc>
                <a:spcPct val="100000"/>
              </a:lnSpc>
              <a:spcBef>
                <a:spcPts val="5"/>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Existing gesture-based systems often focus only on basic functionalities, lacking a complete and interactive drawing experience suitable for</a:t>
            </a:r>
            <a:endParaRPr b="0" i="0" sz="1400" u="none" cap="none" strike="noStrike">
              <a:solidFill>
                <a:srgbClr val="000000"/>
              </a:solidFill>
              <a:latin typeface="Cambria"/>
              <a:ea typeface="Cambria"/>
              <a:cs typeface="Cambria"/>
              <a:sym typeface="Cambria"/>
            </a:endParaRPr>
          </a:p>
          <a:p>
            <a:pPr indent="0" lvl="0" marL="12700" marR="5080" rtl="0" algn="just">
              <a:lnSpc>
                <a:spcPct val="100000"/>
              </a:lnSpc>
              <a:spcBef>
                <a:spcPts val="0"/>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real-world applications. Additionally, individuals with physical disabilities or hand movement limitations face challenges in using conventional input devices.</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55"/>
              </a:spcBef>
              <a:spcAft>
                <a:spcPts val="0"/>
              </a:spcAft>
              <a:buClr>
                <a:srgbClr val="000000"/>
              </a:buClr>
              <a:buSzPts val="1400"/>
              <a:buFont typeface="Arial"/>
              <a:buNone/>
            </a:pPr>
            <a:r>
              <a:t/>
            </a:r>
            <a:endParaRPr b="0" i="0" sz="1400" u="none" cap="none" strike="noStrike">
              <a:solidFill>
                <a:srgbClr val="000000"/>
              </a:solidFill>
              <a:latin typeface="Cambria"/>
              <a:ea typeface="Cambria"/>
              <a:cs typeface="Cambria"/>
              <a:sym typeface="Cambria"/>
            </a:endParaRPr>
          </a:p>
          <a:p>
            <a:pPr indent="0" lvl="0" marL="12700" marR="590550" rtl="0" algn="just">
              <a:lnSpc>
                <a:spcPct val="100000"/>
              </a:lnSpc>
              <a:spcBef>
                <a:spcPts val="5"/>
              </a:spcBef>
              <a:spcAft>
                <a:spcPts val="0"/>
              </a:spcAft>
              <a:buClr>
                <a:srgbClr val="000000"/>
              </a:buClr>
              <a:buSzPts val="1400"/>
              <a:buFont typeface="Arial"/>
              <a:buNone/>
            </a:pPr>
            <a:r>
              <a:rPr b="1" i="0" lang="en-US" sz="1400" u="none" cap="none" strike="noStrike">
                <a:solidFill>
                  <a:srgbClr val="FFFFFF"/>
                </a:solidFill>
                <a:latin typeface="Cambria"/>
                <a:ea typeface="Cambria"/>
                <a:cs typeface="Cambria"/>
                <a:sym typeface="Cambria"/>
              </a:rPr>
              <a:t>There is a need for an intuitive, touchless, and accessible system that leverages computer vision and hand gesture recognition to provide a natural and inclusive digital drawing experience.</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15"/>
          <p:cNvPicPr preferRelativeResize="0"/>
          <p:nvPr/>
        </p:nvPicPr>
        <p:blipFill rotWithShape="1">
          <a:blip r:embed="rId3">
            <a:alphaModFix/>
          </a:blip>
          <a:srcRect b="0" l="0" r="0" t="0"/>
          <a:stretch/>
        </p:blipFill>
        <p:spPr>
          <a:xfrm>
            <a:off x="653325" y="454275"/>
            <a:ext cx="7875449" cy="744149"/>
          </a:xfrm>
          <a:prstGeom prst="rect">
            <a:avLst/>
          </a:prstGeom>
          <a:noFill/>
          <a:ln>
            <a:noFill/>
          </a:ln>
        </p:spPr>
      </p:pic>
      <p:sp>
        <p:nvSpPr>
          <p:cNvPr id="173" name="Google Shape;173;p15"/>
          <p:cNvSpPr txBox="1"/>
          <p:nvPr>
            <p:ph type="title"/>
          </p:nvPr>
        </p:nvSpPr>
        <p:spPr>
          <a:xfrm>
            <a:off x="2270730" y="522820"/>
            <a:ext cx="4678045" cy="528319"/>
          </a:xfrm>
          <a:prstGeom prst="rect">
            <a:avLst/>
          </a:prstGeom>
          <a:noFill/>
          <a:ln>
            <a:noFill/>
          </a:ln>
        </p:spPr>
        <p:txBody>
          <a:bodyPr anchorCtr="0" anchor="t" bIns="0" lIns="0" spcFirstLastPara="1" rIns="0" wrap="square" tIns="12700">
            <a:spAutoFit/>
          </a:bodyPr>
          <a:lstStyle/>
          <a:p>
            <a:pPr indent="0" lvl="0" marL="400050" rtl="0" algn="l">
              <a:lnSpc>
                <a:spcPct val="100000"/>
              </a:lnSpc>
              <a:spcBef>
                <a:spcPts val="0"/>
              </a:spcBef>
              <a:spcAft>
                <a:spcPts val="0"/>
              </a:spcAft>
              <a:buSzPts val="1400"/>
              <a:buNone/>
            </a:pPr>
            <a:r>
              <a:rPr lang="en-US"/>
              <a:t>EXISTING SYSTEMS</a:t>
            </a:r>
            <a:endParaRPr/>
          </a:p>
        </p:txBody>
      </p:sp>
      <p:sp>
        <p:nvSpPr>
          <p:cNvPr id="174" name="Google Shape;174;p15"/>
          <p:cNvSpPr txBox="1"/>
          <p:nvPr/>
        </p:nvSpPr>
        <p:spPr>
          <a:xfrm>
            <a:off x="208074" y="1212932"/>
            <a:ext cx="4896000" cy="16587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ambria"/>
                <a:ea typeface="Cambria"/>
                <a:cs typeface="Cambria"/>
                <a:sym typeface="Cambria"/>
              </a:rPr>
              <a:t>Microsoft Kinect:</a:t>
            </a:r>
            <a:endParaRPr b="0" i="0" sz="2000" u="none" cap="none" strike="noStrike">
              <a:solidFill>
                <a:srgbClr val="000000"/>
              </a:solidFill>
              <a:latin typeface="Cambria"/>
              <a:ea typeface="Cambria"/>
              <a:cs typeface="Cambria"/>
              <a:sym typeface="Cambria"/>
            </a:endParaRPr>
          </a:p>
          <a:p>
            <a:pPr indent="0" lvl="0" marL="12700" marR="5080" rtl="0" algn="l">
              <a:lnSpc>
                <a:spcPct val="101099"/>
              </a:lnSpc>
              <a:spcBef>
                <a:spcPts val="985"/>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A motion-sensing system developed by Microsoft that uses a combination of RGB cameras, depth sensors, and infrared technology to track full-body movements, including hand gestures. It enables users to interact with systems without physical controllers and is widely used in gaming, virtual reality, rehabilitation, and interactive installations.</a:t>
            </a:r>
            <a:endParaRPr b="0" i="0" sz="1300" u="none" cap="none" strike="noStrike">
              <a:solidFill>
                <a:srgbClr val="000000"/>
              </a:solidFill>
              <a:latin typeface="Cambria"/>
              <a:ea typeface="Cambria"/>
              <a:cs typeface="Cambria"/>
              <a:sym typeface="Cambria"/>
            </a:endParaRPr>
          </a:p>
        </p:txBody>
      </p:sp>
      <p:sp>
        <p:nvSpPr>
          <p:cNvPr id="175" name="Google Shape;175;p15"/>
          <p:cNvSpPr txBox="1"/>
          <p:nvPr/>
        </p:nvSpPr>
        <p:spPr>
          <a:xfrm>
            <a:off x="283004" y="3514045"/>
            <a:ext cx="7757700" cy="6132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However, it requires specialized and costly hardware, has limited portability, and is not suitable for lightweight or web-based applications. Additionally, its setup can be complex and may not perform efficiently in all environments.</a:t>
            </a:r>
            <a:endParaRPr b="0" i="0" sz="1300" u="none" cap="none" strike="noStrike">
              <a:solidFill>
                <a:srgbClr val="000000"/>
              </a:solidFill>
              <a:latin typeface="Cambria"/>
              <a:ea typeface="Cambria"/>
              <a:cs typeface="Cambria"/>
              <a:sym typeface="Cambria"/>
            </a:endParaRPr>
          </a:p>
        </p:txBody>
      </p:sp>
      <p:pic>
        <p:nvPicPr>
          <p:cNvPr id="176" name="Google Shape;176;p15"/>
          <p:cNvPicPr preferRelativeResize="0"/>
          <p:nvPr/>
        </p:nvPicPr>
        <p:blipFill rotWithShape="1">
          <a:blip r:embed="rId4">
            <a:alphaModFix/>
          </a:blip>
          <a:srcRect b="0" l="0" r="0" t="0"/>
          <a:stretch/>
        </p:blipFill>
        <p:spPr>
          <a:xfrm>
            <a:off x="5497700" y="1162325"/>
            <a:ext cx="3241252" cy="229114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6"/>
          <p:cNvSpPr txBox="1"/>
          <p:nvPr>
            <p:ph type="title"/>
          </p:nvPr>
        </p:nvSpPr>
        <p:spPr>
          <a:xfrm>
            <a:off x="364549" y="1115890"/>
            <a:ext cx="2773045"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b="1" lang="en-US" sz="2000">
                <a:latin typeface="Cambria"/>
                <a:ea typeface="Cambria"/>
                <a:cs typeface="Cambria"/>
                <a:sym typeface="Cambria"/>
              </a:rPr>
              <a:t>Leap Motion controller:</a:t>
            </a:r>
            <a:endParaRPr sz="2000">
              <a:latin typeface="Cambria"/>
              <a:ea typeface="Cambria"/>
              <a:cs typeface="Cambria"/>
              <a:sym typeface="Cambria"/>
            </a:endParaRPr>
          </a:p>
        </p:txBody>
      </p:sp>
      <p:sp>
        <p:nvSpPr>
          <p:cNvPr id="182" name="Google Shape;182;p16"/>
          <p:cNvSpPr txBox="1"/>
          <p:nvPr/>
        </p:nvSpPr>
        <p:spPr>
          <a:xfrm>
            <a:off x="364549" y="1578662"/>
            <a:ext cx="5892300" cy="2418600"/>
          </a:xfrm>
          <a:prstGeom prst="rect">
            <a:avLst/>
          </a:prstGeom>
          <a:noFill/>
          <a:ln>
            <a:noFill/>
          </a:ln>
        </p:spPr>
        <p:txBody>
          <a:bodyPr anchorCtr="0" anchor="t" bIns="0" lIns="0" spcFirstLastPara="1" rIns="0" wrap="square" tIns="12700">
            <a:spAutoFit/>
          </a:bodyPr>
          <a:lstStyle/>
          <a:p>
            <a:pPr indent="0" lvl="0" marL="12700" marR="19177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A hardware-based gesture recognition system that uses infrared cameras and optical sensors to capture highly precise hand and finger movements in real time. It can track individual fingers, hand orientation, and complex gestures with high accuracy, making it suitable for applications in virtual reality, augmented reality, 3D modeling, medical training, and interactive simulations</a:t>
            </a:r>
            <a:endParaRPr b="0" i="0" sz="1300" u="none" cap="none" strike="noStrike">
              <a:solidFill>
                <a:srgbClr val="000000"/>
              </a:solidFill>
              <a:latin typeface="Cambria"/>
              <a:ea typeface="Cambria"/>
              <a:cs typeface="Cambria"/>
              <a:sym typeface="Cambria"/>
            </a:endParaRPr>
          </a:p>
          <a:p>
            <a:pPr indent="0" lvl="0" marL="0" marR="0" rtl="0" algn="l">
              <a:lnSpc>
                <a:spcPct val="100000"/>
              </a:lnSpc>
              <a:spcBef>
                <a:spcPts val="35"/>
              </a:spcBef>
              <a:spcAft>
                <a:spcPts val="0"/>
              </a:spcAft>
              <a:buClr>
                <a:srgbClr val="000000"/>
              </a:buClr>
              <a:buSzPts val="1300"/>
              <a:buFont typeface="Arial"/>
              <a:buNone/>
            </a:pPr>
            <a:r>
              <a:t/>
            </a:r>
            <a:endParaRPr b="0" i="0" sz="1300" u="none" cap="none" strike="noStrike">
              <a:solidFill>
                <a:srgbClr val="000000"/>
              </a:solidFill>
              <a:latin typeface="Cambria"/>
              <a:ea typeface="Cambria"/>
              <a:cs typeface="Cambria"/>
              <a:sym typeface="Cambria"/>
            </a:endParaRPr>
          </a:p>
          <a:p>
            <a:pPr indent="0" lvl="0" marL="12700" marR="508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However, it requires dedicated external hardware, increasing the  overall cost and limiting accessibility for general users. Additionally, it needs proper setup and positioning, has a limited interaction range, and is not easily scalable for web-based or lightweight applications compared to webcam-based solutions.</a:t>
            </a:r>
            <a:endParaRPr b="0" i="0" sz="1300" u="none" cap="none" strike="noStrike">
              <a:solidFill>
                <a:srgbClr val="000000"/>
              </a:solidFill>
              <a:latin typeface="Cambria"/>
              <a:ea typeface="Cambria"/>
              <a:cs typeface="Cambria"/>
              <a:sym typeface="Cambria"/>
            </a:endParaRPr>
          </a:p>
        </p:txBody>
      </p:sp>
      <p:pic>
        <p:nvPicPr>
          <p:cNvPr id="183" name="Google Shape;183;p16"/>
          <p:cNvPicPr preferRelativeResize="0"/>
          <p:nvPr/>
        </p:nvPicPr>
        <p:blipFill rotWithShape="1">
          <a:blip r:embed="rId3">
            <a:alphaModFix/>
          </a:blip>
          <a:srcRect b="0" l="0" r="0" t="0"/>
          <a:stretch/>
        </p:blipFill>
        <p:spPr>
          <a:xfrm>
            <a:off x="6389925" y="1588950"/>
            <a:ext cx="2585349" cy="22621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17"/>
          <p:cNvPicPr preferRelativeResize="0"/>
          <p:nvPr/>
        </p:nvPicPr>
        <p:blipFill rotWithShape="1">
          <a:blip r:embed="rId3">
            <a:alphaModFix/>
          </a:blip>
          <a:srcRect b="0" l="0" r="0" t="0"/>
          <a:stretch/>
        </p:blipFill>
        <p:spPr>
          <a:xfrm>
            <a:off x="634275" y="358050"/>
            <a:ext cx="7875449" cy="744149"/>
          </a:xfrm>
          <a:prstGeom prst="rect">
            <a:avLst/>
          </a:prstGeom>
          <a:noFill/>
          <a:ln>
            <a:noFill/>
          </a:ln>
        </p:spPr>
      </p:pic>
      <p:sp>
        <p:nvSpPr>
          <p:cNvPr id="189" name="Google Shape;189;p17"/>
          <p:cNvSpPr txBox="1"/>
          <p:nvPr>
            <p:ph type="title"/>
          </p:nvPr>
        </p:nvSpPr>
        <p:spPr>
          <a:xfrm>
            <a:off x="2494627" y="433320"/>
            <a:ext cx="4460875" cy="558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3500"/>
              <a:t>PROPOSED SYSTEM</a:t>
            </a:r>
            <a:endParaRPr sz="3500"/>
          </a:p>
        </p:txBody>
      </p:sp>
      <p:sp>
        <p:nvSpPr>
          <p:cNvPr id="190" name="Google Shape;190;p17"/>
          <p:cNvSpPr txBox="1"/>
          <p:nvPr/>
        </p:nvSpPr>
        <p:spPr>
          <a:xfrm>
            <a:off x="1661935" y="1065515"/>
            <a:ext cx="5835650"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400"/>
              <a:buFont typeface="Arial"/>
              <a:buNone/>
            </a:pPr>
            <a:r>
              <a:rPr b="1" i="0" lang="en-US" sz="2400" u="sng" cap="none" strike="noStrike">
                <a:solidFill>
                  <a:srgbClr val="FFFFFF"/>
                </a:solidFill>
                <a:latin typeface="Cambria"/>
                <a:ea typeface="Cambria"/>
                <a:cs typeface="Cambria"/>
                <a:sym typeface="Cambria"/>
              </a:rPr>
              <a:t>AirSketch: Gesture Based Virtual Drawing</a:t>
            </a:r>
            <a:endParaRPr b="0" i="0" sz="2400" u="none" cap="none" strike="noStrike">
              <a:solidFill>
                <a:srgbClr val="000000"/>
              </a:solidFill>
              <a:latin typeface="Cambria"/>
              <a:ea typeface="Cambria"/>
              <a:cs typeface="Cambria"/>
              <a:sym typeface="Cambria"/>
            </a:endParaRPr>
          </a:p>
        </p:txBody>
      </p:sp>
      <p:sp>
        <p:nvSpPr>
          <p:cNvPr id="191" name="Google Shape;191;p17"/>
          <p:cNvSpPr txBox="1"/>
          <p:nvPr/>
        </p:nvSpPr>
        <p:spPr>
          <a:xfrm>
            <a:off x="411748" y="1666988"/>
            <a:ext cx="8156700" cy="2650800"/>
          </a:xfrm>
          <a:prstGeom prst="rect">
            <a:avLst/>
          </a:prstGeom>
          <a:noFill/>
          <a:ln>
            <a:noFill/>
          </a:ln>
        </p:spPr>
        <p:txBody>
          <a:bodyPr anchorCtr="0" anchor="t" bIns="0" lIns="0" spcFirstLastPara="1" rIns="0" wrap="square" tIns="12700">
            <a:spAutoFit/>
          </a:bodyPr>
          <a:lstStyle/>
          <a:p>
            <a:pPr indent="-353060" lvl="0" marL="377825" marR="30607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AirSketch is a</a:t>
            </a:r>
            <a:r>
              <a:rPr b="1" lang="en-US" sz="1300">
                <a:solidFill>
                  <a:srgbClr val="FFFFFF"/>
                </a:solidFill>
                <a:latin typeface="Cambria"/>
                <a:ea typeface="Cambria"/>
                <a:cs typeface="Cambria"/>
                <a:sym typeface="Cambria"/>
              </a:rPr>
              <a:t>n</a:t>
            </a:r>
            <a:r>
              <a:rPr b="1" i="0" lang="en-US" sz="1300" u="none" cap="none" strike="noStrike">
                <a:solidFill>
                  <a:srgbClr val="FFFFFF"/>
                </a:solidFill>
                <a:latin typeface="Cambria"/>
                <a:ea typeface="Cambria"/>
                <a:cs typeface="Cambria"/>
                <a:sym typeface="Cambria"/>
              </a:rPr>
              <a:t> application that has enable</a:t>
            </a:r>
            <a:r>
              <a:rPr b="1" lang="en-US" sz="1300">
                <a:solidFill>
                  <a:srgbClr val="FFFFFF"/>
                </a:solidFill>
                <a:latin typeface="Cambria"/>
                <a:ea typeface="Cambria"/>
                <a:cs typeface="Cambria"/>
                <a:sym typeface="Cambria"/>
              </a:rPr>
              <a:t>d</a:t>
            </a:r>
            <a:r>
              <a:rPr b="1" i="0" lang="en-US" sz="1300" u="none" cap="none" strike="noStrike">
                <a:solidFill>
                  <a:srgbClr val="FFFFFF"/>
                </a:solidFill>
                <a:latin typeface="Cambria"/>
                <a:ea typeface="Cambria"/>
                <a:cs typeface="Cambria"/>
                <a:sym typeface="Cambria"/>
              </a:rPr>
              <a:t> users to draw on a digital canvas using real-time hand gestures captured through a webcam. By tracking the position of the user’s fingertip, the system converts gestures into drawing actions like creating lines and shapes on the canvas.</a:t>
            </a:r>
            <a:endParaRPr b="0" i="0" sz="1300" u="none" cap="none" strike="noStrike">
              <a:solidFill>
                <a:srgbClr val="000000"/>
              </a:solidFill>
              <a:latin typeface="Cambria"/>
              <a:ea typeface="Cambria"/>
              <a:cs typeface="Cambria"/>
              <a:sym typeface="Cambria"/>
            </a:endParaRPr>
          </a:p>
          <a:p>
            <a:pPr indent="0" lvl="0" marL="0" marR="0" rtl="0" algn="l">
              <a:lnSpc>
                <a:spcPct val="100000"/>
              </a:lnSpc>
              <a:spcBef>
                <a:spcPts val="85"/>
              </a:spcBef>
              <a:spcAft>
                <a:spcPts val="0"/>
              </a:spcAft>
              <a:buClr>
                <a:srgbClr val="FFFFFF"/>
              </a:buClr>
              <a:buSzPts val="1500"/>
              <a:buFont typeface="Arial"/>
              <a:buNone/>
            </a:pPr>
            <a:r>
              <a:t/>
            </a:r>
            <a:endParaRPr b="0" i="0" sz="1300" u="none" cap="none" strike="noStrike">
              <a:solidFill>
                <a:srgbClr val="000000"/>
              </a:solidFill>
              <a:latin typeface="Cambria"/>
              <a:ea typeface="Cambria"/>
              <a:cs typeface="Cambria"/>
              <a:sym typeface="Cambria"/>
            </a:endParaRPr>
          </a:p>
          <a:p>
            <a:pPr indent="-353060" lvl="0" marL="377825" marR="30861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The platform provides an interactive and user-friendly interface with features such as color selection, brush size adjustment, eraser mode, and canvas clearing through predefined gestures. Real-time processing ensures that user movements are instantly reflected on the screen, creating a smooth and natural drawing experience.</a:t>
            </a:r>
            <a:endParaRPr b="0" i="0" sz="1300" u="none" cap="none" strike="noStrike">
              <a:solidFill>
                <a:srgbClr val="000000"/>
              </a:solidFill>
              <a:latin typeface="Cambria"/>
              <a:ea typeface="Cambria"/>
              <a:cs typeface="Cambria"/>
              <a:sym typeface="Cambria"/>
            </a:endParaRPr>
          </a:p>
          <a:p>
            <a:pPr indent="0" lvl="0" marL="0" marR="0" rtl="0" algn="l">
              <a:lnSpc>
                <a:spcPct val="100000"/>
              </a:lnSpc>
              <a:spcBef>
                <a:spcPts val="200"/>
              </a:spcBef>
              <a:spcAft>
                <a:spcPts val="0"/>
              </a:spcAft>
              <a:buClr>
                <a:srgbClr val="FFFFFF"/>
              </a:buClr>
              <a:buSzPts val="1500"/>
              <a:buFont typeface="Arial"/>
              <a:buNone/>
            </a:pPr>
            <a:r>
              <a:t/>
            </a:r>
            <a:endParaRPr b="0" i="0" sz="1300" u="none" cap="none" strike="noStrike">
              <a:solidFill>
                <a:srgbClr val="000000"/>
              </a:solidFill>
              <a:latin typeface="Cambria"/>
              <a:ea typeface="Cambria"/>
              <a:cs typeface="Cambria"/>
              <a:sym typeface="Cambria"/>
            </a:endParaRPr>
          </a:p>
          <a:p>
            <a:pPr indent="-353060" lvl="0" marL="377825" marR="508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Additionally, the system promotes accessibility by enabling touchless interaction, making it especially useful for individuals with physical disabilities or hand mobility limitations. Overall, AirSketch offers a cost-effective, accessible, and intuitive solution that enhances human–computer interaction through gesture-based control.</a:t>
            </a:r>
            <a:endParaRPr b="0" i="0" sz="1300" u="none" cap="none" strike="noStrike">
              <a:solidFill>
                <a:srgbClr val="000000"/>
              </a:solidFill>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pic>
        <p:nvPicPr>
          <p:cNvPr id="196" name="Google Shape;196;p18"/>
          <p:cNvPicPr preferRelativeResize="0"/>
          <p:nvPr/>
        </p:nvPicPr>
        <p:blipFill rotWithShape="1">
          <a:blip r:embed="rId3">
            <a:alphaModFix/>
          </a:blip>
          <a:srcRect b="0" l="0" r="0" t="0"/>
          <a:stretch/>
        </p:blipFill>
        <p:spPr>
          <a:xfrm>
            <a:off x="653325" y="454275"/>
            <a:ext cx="7875449" cy="744149"/>
          </a:xfrm>
          <a:prstGeom prst="rect">
            <a:avLst/>
          </a:prstGeom>
          <a:noFill/>
          <a:ln>
            <a:noFill/>
          </a:ln>
        </p:spPr>
      </p:pic>
      <p:sp>
        <p:nvSpPr>
          <p:cNvPr id="197" name="Google Shape;197;p18"/>
          <p:cNvSpPr txBox="1"/>
          <p:nvPr>
            <p:ph type="title"/>
          </p:nvPr>
        </p:nvSpPr>
        <p:spPr>
          <a:xfrm>
            <a:off x="2270730" y="522820"/>
            <a:ext cx="4678045" cy="528319"/>
          </a:xfrm>
          <a:prstGeom prst="rect">
            <a:avLst/>
          </a:prstGeom>
          <a:noFill/>
          <a:ln>
            <a:noFill/>
          </a:ln>
        </p:spPr>
        <p:txBody>
          <a:bodyPr anchorCtr="0" anchor="t" bIns="0" lIns="0" spcFirstLastPara="1" rIns="0" wrap="square" tIns="12700">
            <a:spAutoFit/>
          </a:bodyPr>
          <a:lstStyle/>
          <a:p>
            <a:pPr indent="0" lvl="0" marL="1035050" rtl="0" algn="l">
              <a:lnSpc>
                <a:spcPct val="100000"/>
              </a:lnSpc>
              <a:spcBef>
                <a:spcPts val="0"/>
              </a:spcBef>
              <a:spcAft>
                <a:spcPts val="0"/>
              </a:spcAft>
              <a:buSzPts val="1400"/>
              <a:buNone/>
            </a:pPr>
            <a:r>
              <a:rPr lang="en-US"/>
              <a:t>OBJECTIVES</a:t>
            </a:r>
            <a:endParaRPr/>
          </a:p>
        </p:txBody>
      </p:sp>
      <p:grpSp>
        <p:nvGrpSpPr>
          <p:cNvPr id="198" name="Google Shape;198;p18"/>
          <p:cNvGrpSpPr/>
          <p:nvPr/>
        </p:nvGrpSpPr>
        <p:grpSpPr>
          <a:xfrm>
            <a:off x="856537" y="1152612"/>
            <a:ext cx="7430924" cy="3888899"/>
            <a:chOff x="856537" y="1152612"/>
            <a:chExt cx="7430924" cy="3888899"/>
          </a:xfrm>
        </p:grpSpPr>
        <p:pic>
          <p:nvPicPr>
            <p:cNvPr id="199" name="Google Shape;199;p18"/>
            <p:cNvPicPr preferRelativeResize="0"/>
            <p:nvPr/>
          </p:nvPicPr>
          <p:blipFill rotWithShape="1">
            <a:blip r:embed="rId4">
              <a:alphaModFix/>
            </a:blip>
            <a:srcRect b="0" l="0" r="0" t="0"/>
            <a:stretch/>
          </p:blipFill>
          <p:spPr>
            <a:xfrm>
              <a:off x="856537" y="1152612"/>
              <a:ext cx="7430924" cy="1202624"/>
            </a:xfrm>
            <a:prstGeom prst="rect">
              <a:avLst/>
            </a:prstGeom>
            <a:noFill/>
            <a:ln>
              <a:noFill/>
            </a:ln>
          </p:spPr>
        </p:pic>
        <p:sp>
          <p:nvSpPr>
            <p:cNvPr id="200" name="Google Shape;200;p18"/>
            <p:cNvSpPr/>
            <p:nvPr/>
          </p:nvSpPr>
          <p:spPr>
            <a:xfrm>
              <a:off x="1070850" y="1366924"/>
              <a:ext cx="7002780" cy="650240"/>
            </a:xfrm>
            <a:custGeom>
              <a:rect b="b" l="l" r="r" t="t"/>
              <a:pathLst>
                <a:path extrusionOk="0" h="650239" w="7002780">
                  <a:moveTo>
                    <a:pt x="6808799" y="650159"/>
                  </a:moveTo>
                  <a:lnTo>
                    <a:pt x="193498" y="650159"/>
                  </a:lnTo>
                  <a:lnTo>
                    <a:pt x="0" y="325079"/>
                  </a:lnTo>
                  <a:lnTo>
                    <a:pt x="193498" y="0"/>
                  </a:lnTo>
                  <a:lnTo>
                    <a:pt x="6808799" y="0"/>
                  </a:lnTo>
                  <a:lnTo>
                    <a:pt x="7002299" y="325079"/>
                  </a:lnTo>
                  <a:lnTo>
                    <a:pt x="6808799" y="650159"/>
                  </a:lnTo>
                  <a:close/>
                </a:path>
              </a:pathLst>
            </a:custGeom>
            <a:solidFill>
              <a:srgbClr val="1B1B2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1" name="Google Shape;201;p18"/>
            <p:cNvPicPr preferRelativeResize="0"/>
            <p:nvPr/>
          </p:nvPicPr>
          <p:blipFill rotWithShape="1">
            <a:blip r:embed="rId5">
              <a:alphaModFix/>
            </a:blip>
            <a:srcRect b="0" l="0" r="0" t="0"/>
            <a:stretch/>
          </p:blipFill>
          <p:spPr>
            <a:xfrm>
              <a:off x="856537" y="3026562"/>
              <a:ext cx="7430924" cy="1078424"/>
            </a:xfrm>
            <a:prstGeom prst="rect">
              <a:avLst/>
            </a:prstGeom>
            <a:noFill/>
            <a:ln>
              <a:noFill/>
            </a:ln>
          </p:spPr>
        </p:pic>
        <p:sp>
          <p:nvSpPr>
            <p:cNvPr id="202" name="Google Shape;202;p18"/>
            <p:cNvSpPr/>
            <p:nvPr/>
          </p:nvSpPr>
          <p:spPr>
            <a:xfrm>
              <a:off x="1070850" y="3240875"/>
              <a:ext cx="7002780" cy="559435"/>
            </a:xfrm>
            <a:custGeom>
              <a:rect b="b" l="l" r="r" t="t"/>
              <a:pathLst>
                <a:path extrusionOk="0" h="559435" w="7002780">
                  <a:moveTo>
                    <a:pt x="6839849" y="558826"/>
                  </a:moveTo>
                  <a:lnTo>
                    <a:pt x="162448" y="558826"/>
                  </a:lnTo>
                  <a:lnTo>
                    <a:pt x="0" y="279413"/>
                  </a:lnTo>
                  <a:lnTo>
                    <a:pt x="162448" y="0"/>
                  </a:lnTo>
                  <a:lnTo>
                    <a:pt x="6839849" y="0"/>
                  </a:lnTo>
                  <a:lnTo>
                    <a:pt x="7002299" y="279413"/>
                  </a:lnTo>
                  <a:lnTo>
                    <a:pt x="6839849" y="558826"/>
                  </a:lnTo>
                  <a:close/>
                </a:path>
              </a:pathLst>
            </a:custGeom>
            <a:solidFill>
              <a:srgbClr val="1B1B2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3" name="Google Shape;203;p18"/>
            <p:cNvPicPr preferRelativeResize="0"/>
            <p:nvPr/>
          </p:nvPicPr>
          <p:blipFill rotWithShape="1">
            <a:blip r:embed="rId6">
              <a:alphaModFix/>
            </a:blip>
            <a:srcRect b="0" l="0" r="0" t="0"/>
            <a:stretch/>
          </p:blipFill>
          <p:spPr>
            <a:xfrm>
              <a:off x="856537" y="2102487"/>
              <a:ext cx="7430924" cy="1176824"/>
            </a:xfrm>
            <a:prstGeom prst="rect">
              <a:avLst/>
            </a:prstGeom>
            <a:noFill/>
            <a:ln>
              <a:noFill/>
            </a:ln>
          </p:spPr>
        </p:pic>
        <p:sp>
          <p:nvSpPr>
            <p:cNvPr id="204" name="Google Shape;204;p18"/>
            <p:cNvSpPr/>
            <p:nvPr/>
          </p:nvSpPr>
          <p:spPr>
            <a:xfrm>
              <a:off x="1070850" y="2316799"/>
              <a:ext cx="7002780" cy="649605"/>
            </a:xfrm>
            <a:custGeom>
              <a:rect b="b" l="l" r="r" t="t"/>
              <a:pathLst>
                <a:path extrusionOk="0" h="649605" w="7002780">
                  <a:moveTo>
                    <a:pt x="6815249" y="649062"/>
                  </a:moveTo>
                  <a:lnTo>
                    <a:pt x="187048" y="649062"/>
                  </a:lnTo>
                  <a:lnTo>
                    <a:pt x="0" y="324530"/>
                  </a:lnTo>
                  <a:lnTo>
                    <a:pt x="187048" y="0"/>
                  </a:lnTo>
                  <a:lnTo>
                    <a:pt x="6815249" y="0"/>
                  </a:lnTo>
                  <a:lnTo>
                    <a:pt x="7002299" y="324530"/>
                  </a:lnTo>
                  <a:lnTo>
                    <a:pt x="6815249" y="649062"/>
                  </a:lnTo>
                  <a:close/>
                </a:path>
              </a:pathLst>
            </a:custGeom>
            <a:solidFill>
              <a:srgbClr val="1B1B2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5" name="Google Shape;205;p18"/>
            <p:cNvPicPr preferRelativeResize="0"/>
            <p:nvPr/>
          </p:nvPicPr>
          <p:blipFill rotWithShape="1">
            <a:blip r:embed="rId6">
              <a:alphaModFix/>
            </a:blip>
            <a:srcRect b="0" l="0" r="0" t="0"/>
            <a:stretch/>
          </p:blipFill>
          <p:spPr>
            <a:xfrm>
              <a:off x="856537" y="3864687"/>
              <a:ext cx="7430924" cy="1176824"/>
            </a:xfrm>
            <a:prstGeom prst="rect">
              <a:avLst/>
            </a:prstGeom>
            <a:noFill/>
            <a:ln>
              <a:noFill/>
            </a:ln>
          </p:spPr>
        </p:pic>
        <p:sp>
          <p:nvSpPr>
            <p:cNvPr id="206" name="Google Shape;206;p18"/>
            <p:cNvSpPr/>
            <p:nvPr/>
          </p:nvSpPr>
          <p:spPr>
            <a:xfrm>
              <a:off x="1070850" y="4079000"/>
              <a:ext cx="7002780" cy="748665"/>
            </a:xfrm>
            <a:custGeom>
              <a:rect b="b" l="l" r="r" t="t"/>
              <a:pathLst>
                <a:path extrusionOk="0" h="748664" w="7002780">
                  <a:moveTo>
                    <a:pt x="6815249" y="748198"/>
                  </a:moveTo>
                  <a:lnTo>
                    <a:pt x="187048" y="748198"/>
                  </a:lnTo>
                  <a:lnTo>
                    <a:pt x="0" y="374098"/>
                  </a:lnTo>
                  <a:lnTo>
                    <a:pt x="187048" y="0"/>
                  </a:lnTo>
                  <a:lnTo>
                    <a:pt x="6815249" y="0"/>
                  </a:lnTo>
                  <a:lnTo>
                    <a:pt x="7002299" y="374098"/>
                  </a:lnTo>
                  <a:lnTo>
                    <a:pt x="6815249" y="748198"/>
                  </a:lnTo>
                  <a:close/>
                </a:path>
              </a:pathLst>
            </a:custGeom>
            <a:solidFill>
              <a:srgbClr val="1B1B2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7" name="Google Shape;207;p18"/>
          <p:cNvSpPr txBox="1"/>
          <p:nvPr/>
        </p:nvSpPr>
        <p:spPr>
          <a:xfrm>
            <a:off x="1486526" y="1422551"/>
            <a:ext cx="6068100" cy="1417200"/>
          </a:xfrm>
          <a:prstGeom prst="rect">
            <a:avLst/>
          </a:prstGeom>
          <a:noFill/>
          <a:ln>
            <a:noFill/>
          </a:ln>
        </p:spPr>
        <p:txBody>
          <a:bodyPr anchorCtr="0" anchor="t" bIns="0" lIns="0" spcFirstLastPara="1" rIns="0" wrap="square" tIns="12700">
            <a:spAutoFit/>
          </a:bodyPr>
          <a:lstStyle/>
          <a:p>
            <a:pPr indent="-355600" lvl="0" marL="367665" marR="75565" rtl="0" algn="l">
              <a:lnSpc>
                <a:spcPct val="100000"/>
              </a:lnSpc>
              <a:spcBef>
                <a:spcPts val="0"/>
              </a:spcBef>
              <a:spcAft>
                <a:spcPts val="0"/>
              </a:spcAft>
              <a:buClr>
                <a:srgbClr val="FFFFFF"/>
              </a:buClr>
              <a:buSzPts val="1400"/>
              <a:buFont typeface="Arial"/>
              <a:buChar char="●"/>
            </a:pPr>
            <a:r>
              <a:rPr b="1" lang="en-US">
                <a:solidFill>
                  <a:srgbClr val="FFFFFF"/>
                </a:solidFill>
                <a:latin typeface="Cambria"/>
                <a:ea typeface="Cambria"/>
                <a:cs typeface="Cambria"/>
                <a:sym typeface="Cambria"/>
              </a:rPr>
              <a:t>D</a:t>
            </a:r>
            <a:r>
              <a:rPr b="1" i="0" lang="en-US" sz="1400" u="none" cap="none" strike="noStrike">
                <a:solidFill>
                  <a:srgbClr val="FFFFFF"/>
                </a:solidFill>
                <a:latin typeface="Cambria"/>
                <a:ea typeface="Cambria"/>
                <a:cs typeface="Cambria"/>
                <a:sym typeface="Cambria"/>
              </a:rPr>
              <a:t>eveloped a gesture-based virtual drawing platform that detects and interprets hand gestures in real time for touchless interaction</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FFFFFF"/>
              </a:buClr>
              <a:buSzPts val="1400"/>
              <a:buFont typeface="Arial"/>
              <a:buNone/>
            </a:pPr>
            <a:r>
              <a:t/>
            </a:r>
            <a:endParaRPr b="0" i="0" sz="1400" u="none" cap="none" strike="noStrike">
              <a:solidFill>
                <a:srgbClr val="000000"/>
              </a:solidFill>
              <a:latin typeface="Cambria"/>
              <a:ea typeface="Cambria"/>
              <a:cs typeface="Cambria"/>
              <a:sym typeface="Cambria"/>
            </a:endParaRPr>
          </a:p>
          <a:p>
            <a:pPr indent="0" lvl="0" marL="0" marR="0" rtl="0" algn="l">
              <a:lnSpc>
                <a:spcPct val="100000"/>
              </a:lnSpc>
              <a:spcBef>
                <a:spcPts val="869"/>
              </a:spcBef>
              <a:spcAft>
                <a:spcPts val="0"/>
              </a:spcAft>
              <a:buClr>
                <a:srgbClr val="FFFFFF"/>
              </a:buClr>
              <a:buSzPts val="1400"/>
              <a:buFont typeface="Arial"/>
              <a:buNone/>
            </a:pPr>
            <a:r>
              <a:t/>
            </a:r>
            <a:endParaRPr b="0" i="0" sz="1400" u="none" cap="none" strike="noStrike">
              <a:solidFill>
                <a:srgbClr val="000000"/>
              </a:solidFill>
              <a:latin typeface="Cambria"/>
              <a:ea typeface="Cambria"/>
              <a:cs typeface="Cambria"/>
              <a:sym typeface="Cambria"/>
            </a:endParaRPr>
          </a:p>
          <a:p>
            <a:pPr indent="-355600" lvl="0" marL="367665" marR="5080" rtl="0" algn="l">
              <a:lnSpc>
                <a:spcPct val="100000"/>
              </a:lnSpc>
              <a:spcBef>
                <a:spcPts val="0"/>
              </a:spcBef>
              <a:spcAft>
                <a:spcPts val="0"/>
              </a:spcAft>
              <a:buClr>
                <a:srgbClr val="FFFFFF"/>
              </a:buClr>
              <a:buSzPts val="1400"/>
              <a:buFont typeface="Arial"/>
              <a:buChar char="●"/>
            </a:pPr>
            <a:r>
              <a:rPr b="1" lang="en-US">
                <a:solidFill>
                  <a:srgbClr val="FFFFFF"/>
                </a:solidFill>
                <a:latin typeface="Cambria"/>
                <a:ea typeface="Cambria"/>
                <a:cs typeface="Cambria"/>
                <a:sym typeface="Cambria"/>
              </a:rPr>
              <a:t>E</a:t>
            </a:r>
            <a:r>
              <a:rPr b="1" i="0" lang="en-US" sz="1400" u="none" cap="none" strike="noStrike">
                <a:solidFill>
                  <a:srgbClr val="FFFFFF"/>
                </a:solidFill>
                <a:latin typeface="Cambria"/>
                <a:ea typeface="Cambria"/>
                <a:cs typeface="Cambria"/>
                <a:sym typeface="Cambria"/>
              </a:rPr>
              <a:t>nhanced accessibility by enabling users with physical limitations to interact without traditional input devices</a:t>
            </a:r>
            <a:endParaRPr b="0" i="0" sz="1400" u="none" cap="none" strike="noStrike">
              <a:solidFill>
                <a:srgbClr val="000000"/>
              </a:solidFill>
              <a:latin typeface="Cambria"/>
              <a:ea typeface="Cambria"/>
              <a:cs typeface="Cambria"/>
              <a:sym typeface="Cambria"/>
            </a:endParaRPr>
          </a:p>
        </p:txBody>
      </p:sp>
      <p:sp>
        <p:nvSpPr>
          <p:cNvPr id="208" name="Google Shape;208;p18"/>
          <p:cNvSpPr txBox="1"/>
          <p:nvPr/>
        </p:nvSpPr>
        <p:spPr>
          <a:xfrm>
            <a:off x="1486526" y="3326153"/>
            <a:ext cx="6052200" cy="1503900"/>
          </a:xfrm>
          <a:prstGeom prst="rect">
            <a:avLst/>
          </a:prstGeom>
          <a:noFill/>
          <a:ln>
            <a:noFill/>
          </a:ln>
        </p:spPr>
        <p:txBody>
          <a:bodyPr anchorCtr="0" anchor="t" bIns="0" lIns="0" spcFirstLastPara="1" rIns="0" wrap="square" tIns="12700">
            <a:spAutoFit/>
          </a:bodyPr>
          <a:lstStyle/>
          <a:p>
            <a:pPr indent="-345440" lvl="0" marL="367665" marR="5080" rtl="0" algn="l">
              <a:lnSpc>
                <a:spcPct val="100000"/>
              </a:lnSpc>
              <a:spcBef>
                <a:spcPts val="0"/>
              </a:spcBef>
              <a:spcAft>
                <a:spcPts val="0"/>
              </a:spcAft>
              <a:buClr>
                <a:srgbClr val="FFFFFF"/>
              </a:buClr>
              <a:buSzPts val="1300"/>
              <a:buFont typeface="Arial"/>
              <a:buChar char="●"/>
            </a:pPr>
            <a:r>
              <a:rPr b="1" lang="en-US" sz="1300">
                <a:solidFill>
                  <a:srgbClr val="FFFFFF"/>
                </a:solidFill>
                <a:latin typeface="Cambria"/>
                <a:ea typeface="Cambria"/>
                <a:cs typeface="Cambria"/>
                <a:sym typeface="Cambria"/>
              </a:rPr>
              <a:t>D</a:t>
            </a:r>
            <a:r>
              <a:rPr b="1" i="0" lang="en-US" sz="1300" u="none" cap="none" strike="noStrike">
                <a:solidFill>
                  <a:srgbClr val="FFFFFF"/>
                </a:solidFill>
                <a:latin typeface="Cambria"/>
                <a:ea typeface="Cambria"/>
                <a:cs typeface="Cambria"/>
                <a:sym typeface="Cambria"/>
              </a:rPr>
              <a:t>emonstrated the practical use of AI-driven human–computer interaction systems</a:t>
            </a:r>
            <a:endParaRPr b="0" i="0" sz="1300" u="none" cap="none" strike="noStrike">
              <a:solidFill>
                <a:srgbClr val="00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mbria"/>
              <a:ea typeface="Cambria"/>
              <a:cs typeface="Cambria"/>
              <a:sym typeface="Cambria"/>
            </a:endParaRPr>
          </a:p>
          <a:p>
            <a:pPr indent="0" lvl="0" marL="0" marR="0" rtl="0" algn="l">
              <a:lnSpc>
                <a:spcPct val="100000"/>
              </a:lnSpc>
              <a:spcBef>
                <a:spcPts val="345"/>
              </a:spcBef>
              <a:spcAft>
                <a:spcPts val="0"/>
              </a:spcAft>
              <a:buClr>
                <a:srgbClr val="000000"/>
              </a:buClr>
              <a:buSzPts val="1300"/>
              <a:buFont typeface="Arial"/>
              <a:buNone/>
            </a:pPr>
            <a:r>
              <a:t/>
            </a:r>
            <a:endParaRPr b="0" i="0" sz="1300" u="none" cap="none" strike="noStrike">
              <a:solidFill>
                <a:srgbClr val="000000"/>
              </a:solidFill>
              <a:latin typeface="Cambria"/>
              <a:ea typeface="Cambria"/>
              <a:cs typeface="Cambria"/>
              <a:sym typeface="Cambria"/>
            </a:endParaRPr>
          </a:p>
          <a:p>
            <a:pPr indent="-355600" lvl="0" marL="367665" marR="717550" rtl="0" algn="l">
              <a:lnSpc>
                <a:spcPct val="100000"/>
              </a:lnSpc>
              <a:spcBef>
                <a:spcPts val="0"/>
              </a:spcBef>
              <a:spcAft>
                <a:spcPts val="0"/>
              </a:spcAft>
              <a:buClr>
                <a:srgbClr val="FFFFFF"/>
              </a:buClr>
              <a:buSzPts val="1400"/>
              <a:buFont typeface="Arial"/>
              <a:buChar char="●"/>
            </a:pPr>
            <a:r>
              <a:rPr b="1" lang="en-US">
                <a:solidFill>
                  <a:srgbClr val="FFFFFF"/>
                </a:solidFill>
                <a:latin typeface="Cambria"/>
                <a:ea typeface="Cambria"/>
                <a:cs typeface="Cambria"/>
                <a:sym typeface="Cambria"/>
              </a:rPr>
              <a:t>P</a:t>
            </a:r>
            <a:r>
              <a:rPr b="1" i="0" lang="en-US" sz="1400" u="none" cap="none" strike="noStrike">
                <a:solidFill>
                  <a:srgbClr val="FFFFFF"/>
                </a:solidFill>
                <a:latin typeface="Cambria"/>
                <a:ea typeface="Cambria"/>
                <a:cs typeface="Cambria"/>
                <a:sym typeface="Cambria"/>
              </a:rPr>
              <a:t>rovided an interactive and user-friendly interface with features such as drawing, color selection, erasing, and canvas clearing</a:t>
            </a:r>
            <a:endParaRPr b="0" i="0" sz="1400" u="none" cap="none" strike="noStrike">
              <a:solidFill>
                <a:srgbClr val="000000"/>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9"/>
          <p:cNvSpPr txBox="1"/>
          <p:nvPr>
            <p:ph type="title"/>
          </p:nvPr>
        </p:nvSpPr>
        <p:spPr>
          <a:xfrm>
            <a:off x="1479318" y="177466"/>
            <a:ext cx="6179185" cy="37592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2300"/>
              <a:t>Process Implementation and Methodology</a:t>
            </a:r>
            <a:endParaRPr sz="2300"/>
          </a:p>
        </p:txBody>
      </p:sp>
      <p:pic>
        <p:nvPicPr>
          <p:cNvPr id="214" name="Google Shape;214;p19"/>
          <p:cNvPicPr preferRelativeResize="0"/>
          <p:nvPr/>
        </p:nvPicPr>
        <p:blipFill rotWithShape="1">
          <a:blip r:embed="rId3">
            <a:alphaModFix/>
          </a:blip>
          <a:srcRect b="0" l="0" r="0" t="0"/>
          <a:stretch/>
        </p:blipFill>
        <p:spPr>
          <a:xfrm>
            <a:off x="3339200" y="553350"/>
            <a:ext cx="2360201" cy="4315827"/>
          </a:xfrm>
          <a:prstGeom prst="rect">
            <a:avLst/>
          </a:prstGeom>
          <a:noFill/>
          <a:ln>
            <a:noFill/>
          </a:ln>
        </p:spPr>
      </p:pic>
      <p:sp>
        <p:nvSpPr>
          <p:cNvPr id="215" name="Google Shape;215;p19"/>
          <p:cNvSpPr txBox="1"/>
          <p:nvPr/>
        </p:nvSpPr>
        <p:spPr>
          <a:xfrm>
            <a:off x="3722899" y="4785206"/>
            <a:ext cx="56433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Times New Roman"/>
                <a:ea typeface="Times New Roman"/>
                <a:cs typeface="Times New Roman"/>
                <a:sym typeface="Times New Roman"/>
              </a:rPr>
              <a:t>Fig: Process Of Implementaion</a:t>
            </a:r>
            <a:endParaRPr b="0" i="0" sz="1000" u="none" cap="none" strike="noStrike">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pic>
        <p:nvPicPr>
          <p:cNvPr id="220" name="Google Shape;220;p20"/>
          <p:cNvPicPr preferRelativeResize="0"/>
          <p:nvPr/>
        </p:nvPicPr>
        <p:blipFill rotWithShape="1">
          <a:blip r:embed="rId3">
            <a:alphaModFix/>
          </a:blip>
          <a:srcRect b="0" l="0" r="0" t="0"/>
          <a:stretch/>
        </p:blipFill>
        <p:spPr>
          <a:xfrm>
            <a:off x="653325" y="454275"/>
            <a:ext cx="7875449" cy="744149"/>
          </a:xfrm>
          <a:prstGeom prst="rect">
            <a:avLst/>
          </a:prstGeom>
          <a:noFill/>
          <a:ln>
            <a:noFill/>
          </a:ln>
        </p:spPr>
      </p:pic>
      <p:sp>
        <p:nvSpPr>
          <p:cNvPr id="221" name="Google Shape;221;p20"/>
          <p:cNvSpPr txBox="1"/>
          <p:nvPr>
            <p:ph type="title"/>
          </p:nvPr>
        </p:nvSpPr>
        <p:spPr>
          <a:xfrm>
            <a:off x="2270730" y="522820"/>
            <a:ext cx="4678045" cy="528319"/>
          </a:xfrm>
          <a:prstGeom prst="rect">
            <a:avLst/>
          </a:prstGeom>
          <a:noFill/>
          <a:ln>
            <a:noFill/>
          </a:ln>
        </p:spPr>
        <p:txBody>
          <a:bodyPr anchorCtr="0" anchor="t" bIns="0" lIns="0" spcFirstLastPara="1" rIns="0" wrap="square" tIns="12700">
            <a:spAutoFit/>
          </a:bodyPr>
          <a:lstStyle/>
          <a:p>
            <a:pPr indent="0" lvl="0" marL="678180" rtl="0" algn="l">
              <a:lnSpc>
                <a:spcPct val="100000"/>
              </a:lnSpc>
              <a:spcBef>
                <a:spcPts val="0"/>
              </a:spcBef>
              <a:spcAft>
                <a:spcPts val="0"/>
              </a:spcAft>
              <a:buSzPts val="1400"/>
              <a:buNone/>
            </a:pPr>
            <a:r>
              <a:rPr lang="en-US"/>
              <a:t>METHODOLOGY</a:t>
            </a:r>
            <a:endParaRPr/>
          </a:p>
        </p:txBody>
      </p:sp>
      <p:sp>
        <p:nvSpPr>
          <p:cNvPr id="222" name="Google Shape;222;p20"/>
          <p:cNvSpPr txBox="1"/>
          <p:nvPr/>
        </p:nvSpPr>
        <p:spPr>
          <a:xfrm>
            <a:off x="214823" y="1648305"/>
            <a:ext cx="8580900" cy="1078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SimSun-ExtB"/>
                <a:ea typeface="SimSun-ExtB"/>
                <a:cs typeface="SimSun-ExtB"/>
                <a:sym typeface="SimSun-ExtB"/>
              </a:rPr>
              <a:t>❏	</a:t>
            </a:r>
            <a:r>
              <a:rPr b="1" i="0" lang="en-US" sz="2000" u="none" cap="none" strike="noStrike">
                <a:solidFill>
                  <a:srgbClr val="FFFFFF"/>
                </a:solidFill>
                <a:latin typeface="SimSun-ExtB"/>
                <a:ea typeface="SimSun-ExtB"/>
                <a:cs typeface="SimSun-ExtB"/>
                <a:sym typeface="SimSun-ExtB"/>
              </a:rPr>
              <a:t>Live </a:t>
            </a:r>
            <a:r>
              <a:rPr b="1" i="0" lang="en-US" sz="2000" u="none" cap="none" strike="noStrike">
                <a:solidFill>
                  <a:srgbClr val="FFFFFF"/>
                </a:solidFill>
                <a:latin typeface="Cambria"/>
                <a:ea typeface="Cambria"/>
                <a:cs typeface="Cambria"/>
                <a:sym typeface="Cambria"/>
              </a:rPr>
              <a:t>Video Input and Data Capture:</a:t>
            </a:r>
            <a:endParaRPr b="0" i="0" sz="2000" u="none" cap="none" strike="noStrike">
              <a:solidFill>
                <a:srgbClr val="000000"/>
              </a:solidFill>
              <a:latin typeface="Cambria"/>
              <a:ea typeface="Cambria"/>
              <a:cs typeface="Cambria"/>
              <a:sym typeface="Cambria"/>
            </a:endParaRPr>
          </a:p>
          <a:p>
            <a:pPr indent="0" lvl="0" marL="494665" marR="5080" rtl="0" algn="l">
              <a:lnSpc>
                <a:spcPct val="100000"/>
              </a:lnSpc>
              <a:spcBef>
                <a:spcPts val="1230"/>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The system begins by capturing real-time video input through the user’s webcam. The continuous video stream is divided into frames. Each frame is analyzed using computer vision techniques to detect the presence of a hand and extract relevant visual information.</a:t>
            </a:r>
            <a:endParaRPr b="0" i="0" sz="1300" u="none" cap="none" strike="noStrike">
              <a:solidFill>
                <a:srgbClr val="000000"/>
              </a:solidFill>
              <a:latin typeface="Cambria"/>
              <a:ea typeface="Cambria"/>
              <a:cs typeface="Cambria"/>
              <a:sym typeface="Cambria"/>
            </a:endParaRPr>
          </a:p>
        </p:txBody>
      </p:sp>
      <p:sp>
        <p:nvSpPr>
          <p:cNvPr id="223" name="Google Shape;223;p20"/>
          <p:cNvSpPr txBox="1"/>
          <p:nvPr/>
        </p:nvSpPr>
        <p:spPr>
          <a:xfrm>
            <a:off x="202124" y="3327879"/>
            <a:ext cx="279400" cy="3302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SimSun-ExtB"/>
                <a:ea typeface="SimSun-ExtB"/>
                <a:cs typeface="SimSun-ExtB"/>
                <a:sym typeface="SimSun-ExtB"/>
              </a:rPr>
              <a:t>❏</a:t>
            </a:r>
            <a:endParaRPr b="0" i="0" sz="2000" u="none" cap="none" strike="noStrike">
              <a:solidFill>
                <a:srgbClr val="000000"/>
              </a:solidFill>
              <a:latin typeface="SimSun-ExtB"/>
              <a:ea typeface="SimSun-ExtB"/>
              <a:cs typeface="SimSun-ExtB"/>
              <a:sym typeface="SimSun-ExtB"/>
            </a:endParaRPr>
          </a:p>
        </p:txBody>
      </p:sp>
      <p:sp>
        <p:nvSpPr>
          <p:cNvPr id="224" name="Google Shape;224;p20"/>
          <p:cNvSpPr txBox="1"/>
          <p:nvPr/>
        </p:nvSpPr>
        <p:spPr>
          <a:xfrm>
            <a:off x="696789" y="3327879"/>
            <a:ext cx="7989600" cy="10788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FFFFF"/>
                </a:solidFill>
                <a:latin typeface="Cambria"/>
                <a:ea typeface="Cambria"/>
                <a:cs typeface="Cambria"/>
                <a:sym typeface="Cambria"/>
              </a:rPr>
              <a:t>Hand Detection and Gesture Recognition</a:t>
            </a:r>
            <a:endParaRPr b="0" i="0" sz="2000" u="none" cap="none" strike="noStrike">
              <a:solidFill>
                <a:srgbClr val="000000"/>
              </a:solidFill>
              <a:latin typeface="Cambria"/>
              <a:ea typeface="Cambria"/>
              <a:cs typeface="Cambria"/>
              <a:sym typeface="Cambria"/>
            </a:endParaRPr>
          </a:p>
          <a:p>
            <a:pPr indent="0" lvl="0" marL="12700" marR="5080" rtl="0" algn="l">
              <a:lnSpc>
                <a:spcPct val="100000"/>
              </a:lnSpc>
              <a:spcBef>
                <a:spcPts val="1230"/>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Once the hand is detected, frameworks like MediaPipe are used to identify key hand landmarks such as fingertips and joints. Based on the position and movement of these landmarks, the system recognizes specific gestures by interpreting finger configurations as commands for different actions.</a:t>
            </a:r>
            <a:endParaRPr b="0" i="0" sz="1300" u="none" cap="none" strike="noStrike">
              <a:solidFill>
                <a:srgbClr val="000000"/>
              </a:solidFill>
              <a:latin typeface="Cambria"/>
              <a:ea typeface="Cambria"/>
              <a:cs typeface="Cambria"/>
              <a:sym typeface="Cambri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1"/>
          <p:cNvSpPr txBox="1"/>
          <p:nvPr>
            <p:ph type="title"/>
          </p:nvPr>
        </p:nvSpPr>
        <p:spPr>
          <a:xfrm>
            <a:off x="246874" y="882725"/>
            <a:ext cx="4780915" cy="3302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2000">
                <a:latin typeface="SimSun-ExtB"/>
                <a:ea typeface="SimSun-ExtB"/>
                <a:cs typeface="SimSun-ExtB"/>
                <a:sym typeface="SimSun-ExtB"/>
              </a:rPr>
              <a:t>❏	</a:t>
            </a:r>
            <a:r>
              <a:rPr b="1" lang="en-US" sz="2000">
                <a:latin typeface="Cambria"/>
                <a:ea typeface="Cambria"/>
                <a:cs typeface="Cambria"/>
                <a:sym typeface="Cambria"/>
              </a:rPr>
              <a:t>Drawing and System Implementation</a:t>
            </a:r>
            <a:endParaRPr sz="2000">
              <a:latin typeface="Cambria"/>
              <a:ea typeface="Cambria"/>
              <a:cs typeface="Cambria"/>
              <a:sym typeface="Cambria"/>
            </a:endParaRPr>
          </a:p>
        </p:txBody>
      </p:sp>
      <p:sp>
        <p:nvSpPr>
          <p:cNvPr id="230" name="Google Shape;230;p21"/>
          <p:cNvSpPr txBox="1"/>
          <p:nvPr/>
        </p:nvSpPr>
        <p:spPr>
          <a:xfrm>
            <a:off x="246874" y="1343988"/>
            <a:ext cx="8117100" cy="2376900"/>
          </a:xfrm>
          <a:prstGeom prst="rect">
            <a:avLst/>
          </a:prstGeom>
          <a:noFill/>
          <a:ln>
            <a:noFill/>
          </a:ln>
        </p:spPr>
        <p:txBody>
          <a:bodyPr anchorCtr="0" anchor="t" bIns="0" lIns="0" spcFirstLastPara="1" rIns="0" wrap="square" tIns="12700">
            <a:spAutoFit/>
          </a:bodyPr>
          <a:lstStyle/>
          <a:p>
            <a:pPr indent="0" lvl="0" marL="494665" marR="5080" rtl="0" algn="l">
              <a:lnSpc>
                <a:spcPct val="100000"/>
              </a:lnSpc>
              <a:spcBef>
                <a:spcPts val="0"/>
              </a:spcBef>
              <a:spcAft>
                <a:spcPts val="0"/>
              </a:spcAft>
              <a:buClr>
                <a:srgbClr val="000000"/>
              </a:buClr>
              <a:buSzPts val="1300"/>
              <a:buFont typeface="Arial"/>
              <a:buNone/>
            </a:pPr>
            <a:r>
              <a:rPr b="1" i="0" lang="en-US" sz="1300" u="none" cap="none" strike="noStrike">
                <a:solidFill>
                  <a:srgbClr val="FFFFFF"/>
                </a:solidFill>
                <a:latin typeface="Cambria"/>
                <a:ea typeface="Cambria"/>
                <a:cs typeface="Cambria"/>
                <a:sym typeface="Cambria"/>
              </a:rPr>
              <a:t>The detected fingertip coordinates are mapped onto the digital canvas to generate drawing strokes in real time. The system also provides a user interface for tool interaction such as color selection, brush size adjustment, and erasing through gestures.</a:t>
            </a:r>
            <a:endParaRPr b="0" i="0" sz="1300" u="none" cap="none" strike="noStrike">
              <a:solidFill>
                <a:srgbClr val="000000"/>
              </a:solidFill>
              <a:latin typeface="Cambria"/>
              <a:ea typeface="Cambria"/>
              <a:cs typeface="Cambria"/>
              <a:sym typeface="Cambria"/>
            </a:endParaRPr>
          </a:p>
          <a:p>
            <a:pPr indent="0" lvl="0" marL="0" marR="0" rtl="0" algn="l">
              <a:lnSpc>
                <a:spcPct val="100000"/>
              </a:lnSpc>
              <a:spcBef>
                <a:spcPts val="50"/>
              </a:spcBef>
              <a:spcAft>
                <a:spcPts val="0"/>
              </a:spcAft>
              <a:buClr>
                <a:srgbClr val="000000"/>
              </a:buClr>
              <a:buSzPts val="1600"/>
              <a:buFont typeface="Arial"/>
              <a:buNone/>
            </a:pPr>
            <a:r>
              <a:t/>
            </a:r>
            <a:endParaRPr b="0" i="0" sz="1600" u="none" cap="none" strike="noStrike">
              <a:solidFill>
                <a:srgbClr val="000000"/>
              </a:solidFill>
              <a:latin typeface="Cambria"/>
              <a:ea typeface="Cambria"/>
              <a:cs typeface="Cambria"/>
              <a:sym typeface="Cambria"/>
            </a:endParaRPr>
          </a:p>
          <a:p>
            <a:pPr indent="0" lvl="0" marL="12700" marR="0" rtl="0" algn="l">
              <a:lnSpc>
                <a:spcPct val="100000"/>
              </a:lnSpc>
              <a:spcBef>
                <a:spcPts val="0"/>
              </a:spcBef>
              <a:spcAft>
                <a:spcPts val="0"/>
              </a:spcAft>
              <a:buClr>
                <a:srgbClr val="000000"/>
              </a:buClr>
              <a:buSzPts val="2000"/>
              <a:buFont typeface="Arial"/>
              <a:buNone/>
            </a:pPr>
            <a:r>
              <a:rPr b="0" i="0" lang="en-US" sz="2000" u="none" cap="none" strike="noStrike">
                <a:solidFill>
                  <a:srgbClr val="FFFFFF"/>
                </a:solidFill>
                <a:latin typeface="SimSun-ExtB"/>
                <a:ea typeface="SimSun-ExtB"/>
                <a:cs typeface="SimSun-ExtB"/>
                <a:sym typeface="SimSun-ExtB"/>
              </a:rPr>
              <a:t>❏	</a:t>
            </a:r>
            <a:r>
              <a:rPr b="1" i="0" lang="en-US" sz="2000" u="none" cap="none" strike="noStrike">
                <a:solidFill>
                  <a:srgbClr val="FFFFFF"/>
                </a:solidFill>
                <a:latin typeface="Cambria"/>
                <a:ea typeface="Cambria"/>
                <a:cs typeface="Cambria"/>
                <a:sym typeface="Cambria"/>
              </a:rPr>
              <a:t>Technical Stack:</a:t>
            </a:r>
            <a:endParaRPr b="0" i="0" sz="2000" u="none" cap="none" strike="noStrike">
              <a:solidFill>
                <a:srgbClr val="000000"/>
              </a:solidFill>
              <a:latin typeface="Cambria"/>
              <a:ea typeface="Cambria"/>
              <a:cs typeface="Cambria"/>
              <a:sym typeface="Cambria"/>
            </a:endParaRPr>
          </a:p>
          <a:p>
            <a:pPr indent="-513715" lvl="0" marL="951230" marR="0" rtl="0" algn="l">
              <a:lnSpc>
                <a:spcPct val="100000"/>
              </a:lnSpc>
              <a:spcBef>
                <a:spcPts val="20"/>
              </a:spcBef>
              <a:spcAft>
                <a:spcPts val="0"/>
              </a:spcAft>
              <a:buClr>
                <a:srgbClr val="FFFFFF"/>
              </a:buClr>
              <a:buSzPts val="1300"/>
              <a:buFont typeface="Arial"/>
              <a:buChar char="❖"/>
            </a:pPr>
            <a:r>
              <a:rPr b="1" lang="en-US" sz="1300">
                <a:solidFill>
                  <a:srgbClr val="FFFFFF"/>
                </a:solidFill>
                <a:latin typeface="Cambria"/>
                <a:ea typeface="Cambria"/>
                <a:cs typeface="Cambria"/>
                <a:sym typeface="Cambria"/>
              </a:rPr>
              <a:t>Programming Language</a:t>
            </a:r>
            <a:r>
              <a:rPr b="1" i="0" lang="en-US" sz="1300" u="none" cap="none" strike="noStrike">
                <a:solidFill>
                  <a:srgbClr val="FFFFFF"/>
                </a:solidFill>
                <a:latin typeface="Cambria"/>
                <a:ea typeface="Cambria"/>
                <a:cs typeface="Cambria"/>
                <a:sym typeface="Cambria"/>
              </a:rPr>
              <a:t>: </a:t>
            </a:r>
            <a:r>
              <a:rPr b="1" lang="en-US" sz="1300">
                <a:solidFill>
                  <a:srgbClr val="FFFFFF"/>
                </a:solidFill>
                <a:latin typeface="Cambria"/>
                <a:ea typeface="Cambria"/>
                <a:cs typeface="Cambria"/>
                <a:sym typeface="Cambria"/>
              </a:rPr>
              <a:t>Python</a:t>
            </a:r>
            <a:endParaRPr b="0" i="0" sz="1300" u="none" cap="none" strike="noStrike">
              <a:solidFill>
                <a:srgbClr val="000000"/>
              </a:solidFill>
              <a:latin typeface="Cambria"/>
              <a:ea typeface="Cambria"/>
              <a:cs typeface="Cambria"/>
              <a:sym typeface="Cambria"/>
            </a:endParaRPr>
          </a:p>
          <a:p>
            <a:pPr indent="-513715" lvl="0" marL="951230" marR="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Computer Vision: </a:t>
            </a:r>
            <a:r>
              <a:rPr b="1" lang="en-US" sz="1300">
                <a:solidFill>
                  <a:srgbClr val="FFFFFF"/>
                </a:solidFill>
                <a:latin typeface="Cambria"/>
                <a:ea typeface="Cambria"/>
                <a:cs typeface="Cambria"/>
                <a:sym typeface="Cambria"/>
              </a:rPr>
              <a:t>OpenCV</a:t>
            </a:r>
            <a:endParaRPr b="0" i="0" sz="1300" u="none" cap="none" strike="noStrike">
              <a:solidFill>
                <a:srgbClr val="000000"/>
              </a:solidFill>
              <a:latin typeface="Cambria"/>
              <a:ea typeface="Cambria"/>
              <a:cs typeface="Cambria"/>
              <a:sym typeface="Cambria"/>
            </a:endParaRPr>
          </a:p>
          <a:p>
            <a:pPr indent="-513715" lvl="0" marL="951230" marR="0" rtl="0" algn="l">
              <a:lnSpc>
                <a:spcPct val="100000"/>
              </a:lnSpc>
              <a:spcBef>
                <a:spcPts val="0"/>
              </a:spcBef>
              <a:spcAft>
                <a:spcPts val="0"/>
              </a:spcAft>
              <a:buClr>
                <a:srgbClr val="FFFFFF"/>
              </a:buClr>
              <a:buSzPts val="1300"/>
              <a:buFont typeface="Arial"/>
              <a:buChar char="❖"/>
            </a:pPr>
            <a:r>
              <a:rPr b="1" lang="en-US" sz="1300">
                <a:solidFill>
                  <a:srgbClr val="FFFFFF"/>
                </a:solidFill>
                <a:latin typeface="Cambria"/>
                <a:ea typeface="Cambria"/>
                <a:cs typeface="Cambria"/>
                <a:sym typeface="Cambria"/>
              </a:rPr>
              <a:t>Hand Tracking: MediaPipe</a:t>
            </a:r>
            <a:endParaRPr b="0" i="0" sz="1300" u="none" cap="none" strike="noStrike">
              <a:solidFill>
                <a:srgbClr val="000000"/>
              </a:solidFill>
              <a:latin typeface="Cambria"/>
              <a:ea typeface="Cambria"/>
              <a:cs typeface="Cambria"/>
              <a:sym typeface="Cambria"/>
            </a:endParaRPr>
          </a:p>
          <a:p>
            <a:pPr indent="-513715" lvl="0" marL="951230" marR="0" rtl="0" algn="l">
              <a:lnSpc>
                <a:spcPct val="100000"/>
              </a:lnSpc>
              <a:spcBef>
                <a:spcPts val="0"/>
              </a:spcBef>
              <a:spcAft>
                <a:spcPts val="0"/>
              </a:spcAft>
              <a:buClr>
                <a:srgbClr val="FFFFFF"/>
              </a:buClr>
              <a:buSzPts val="1300"/>
              <a:buFont typeface="Arial"/>
              <a:buChar char="❖"/>
            </a:pPr>
            <a:r>
              <a:rPr b="1" lang="en-US" sz="1300">
                <a:solidFill>
                  <a:srgbClr val="FFFFFF"/>
                </a:solidFill>
                <a:latin typeface="Cambria"/>
                <a:ea typeface="Cambria"/>
                <a:cs typeface="Cambria"/>
                <a:sym typeface="Cambria"/>
              </a:rPr>
              <a:t>Numerical Processing: NumPy</a:t>
            </a:r>
            <a:endParaRPr b="0" i="0" sz="1300" u="none" cap="none" strike="noStrike">
              <a:solidFill>
                <a:srgbClr val="000000"/>
              </a:solidFill>
              <a:latin typeface="Cambria"/>
              <a:ea typeface="Cambria"/>
              <a:cs typeface="Cambria"/>
              <a:sym typeface="Cambria"/>
            </a:endParaRPr>
          </a:p>
          <a:p>
            <a:pPr indent="-513715" lvl="0" marL="951230" marR="0" rtl="0" algn="l">
              <a:lnSpc>
                <a:spcPct val="100000"/>
              </a:lnSpc>
              <a:spcBef>
                <a:spcPts val="0"/>
              </a:spcBef>
              <a:spcAft>
                <a:spcPts val="0"/>
              </a:spcAft>
              <a:buClr>
                <a:srgbClr val="FFFFFF"/>
              </a:buClr>
              <a:buSzPts val="1300"/>
              <a:buFont typeface="Arial"/>
              <a:buChar char="❖"/>
            </a:pPr>
            <a:r>
              <a:rPr b="1" i="0" lang="en-US" sz="1300" u="none" cap="none" strike="noStrike">
                <a:solidFill>
                  <a:srgbClr val="FFFFFF"/>
                </a:solidFill>
                <a:latin typeface="Cambria"/>
                <a:ea typeface="Cambria"/>
                <a:cs typeface="Cambria"/>
                <a:sym typeface="Cambria"/>
              </a:rPr>
              <a:t>Input Device: </a:t>
            </a:r>
            <a:r>
              <a:rPr b="1" lang="en-US" sz="1300">
                <a:solidFill>
                  <a:srgbClr val="FFFFFF"/>
                </a:solidFill>
                <a:latin typeface="Cambria"/>
                <a:ea typeface="Cambria"/>
                <a:cs typeface="Cambria"/>
                <a:sym typeface="Cambria"/>
              </a:rPr>
              <a:t>OpenCV MediaCapture</a:t>
            </a:r>
            <a:endParaRPr b="0" i="0" sz="1300" u="none" cap="none" strike="noStrike">
              <a:solidFill>
                <a:srgbClr val="000000"/>
              </a:solidFill>
              <a:latin typeface="Cambria"/>
              <a:ea typeface="Cambria"/>
              <a:cs typeface="Cambria"/>
              <a:sym typeface="Cambria"/>
            </a:endParaRPr>
          </a:p>
          <a:p>
            <a:pPr indent="0" lvl="0" marL="457200" marR="0" rtl="0" algn="l">
              <a:lnSpc>
                <a:spcPct val="100000"/>
              </a:lnSpc>
              <a:spcBef>
                <a:spcPts val="0"/>
              </a:spcBef>
              <a:spcAft>
                <a:spcPts val="0"/>
              </a:spcAft>
              <a:buNone/>
            </a:pPr>
            <a:r>
              <a:t/>
            </a:r>
            <a:endParaRPr b="0" i="0" sz="1300" u="none" cap="none" strike="noStrike">
              <a:solidFill>
                <a:srgbClr val="000000"/>
              </a:solidFill>
              <a:latin typeface="Cambria"/>
              <a:ea typeface="Cambria"/>
              <a:cs typeface="Cambria"/>
              <a:sym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2"/>
          <p:cNvSpPr txBox="1"/>
          <p:nvPr>
            <p:ph type="title"/>
          </p:nvPr>
        </p:nvSpPr>
        <p:spPr>
          <a:xfrm>
            <a:off x="2064984" y="522825"/>
            <a:ext cx="5292600" cy="507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n-US"/>
              <a:t>RESULTS &amp; DISCUSSION</a:t>
            </a:r>
            <a:endParaRPr/>
          </a:p>
        </p:txBody>
      </p:sp>
      <p:sp>
        <p:nvSpPr>
          <p:cNvPr id="236" name="Google Shape;236;p22"/>
          <p:cNvSpPr txBox="1"/>
          <p:nvPr/>
        </p:nvSpPr>
        <p:spPr>
          <a:xfrm>
            <a:off x="1470975" y="3446475"/>
            <a:ext cx="67350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lt1"/>
                </a:solidFill>
                <a:latin typeface="Cambria"/>
                <a:ea typeface="Cambria"/>
                <a:cs typeface="Cambria"/>
                <a:sym typeface="Cambria"/>
              </a:rPr>
              <a:t>The output demonstrates the successful implementation of the AirSketch system using hand gesture tracking and virtual drawing techniques. The system accurately detects finger movements in real time and allows users to draw characters and shapes in the air without physical contact. Different drawing tools and color options were also integrated, showing smooth interaction, responsive performance, and an intuitive user experience through computer vision and gesture recognition.</a:t>
            </a:r>
            <a:endParaRPr b="1" i="0" sz="1200" u="none" cap="none" strike="noStrike">
              <a:solidFill>
                <a:schemeClr val="lt1"/>
              </a:solidFill>
              <a:latin typeface="Cambria"/>
              <a:ea typeface="Cambria"/>
              <a:cs typeface="Cambria"/>
              <a:sym typeface="Cambria"/>
            </a:endParaRPr>
          </a:p>
        </p:txBody>
      </p:sp>
      <p:sp>
        <p:nvSpPr>
          <p:cNvPr id="237" name="Google Shape;237;p22"/>
          <p:cNvSpPr txBox="1"/>
          <p:nvPr/>
        </p:nvSpPr>
        <p:spPr>
          <a:xfrm>
            <a:off x="1779632" y="3155325"/>
            <a:ext cx="2375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Times New Roman"/>
                <a:ea typeface="Times New Roman"/>
                <a:cs typeface="Times New Roman"/>
                <a:sym typeface="Times New Roman"/>
              </a:rPr>
              <a:t>Fig1:Hand Detection and D</a:t>
            </a:r>
            <a:r>
              <a:rPr lang="en-US" sz="1000">
                <a:solidFill>
                  <a:schemeClr val="lt1"/>
                </a:solidFill>
                <a:latin typeface="Times New Roman"/>
                <a:ea typeface="Times New Roman"/>
                <a:cs typeface="Times New Roman"/>
                <a:sym typeface="Times New Roman"/>
              </a:rPr>
              <a:t>rawing</a:t>
            </a:r>
            <a:endParaRPr b="0" i="0" sz="1000" u="none" cap="none" strike="noStrike">
              <a:solidFill>
                <a:schemeClr val="lt1"/>
              </a:solidFill>
              <a:latin typeface="Times New Roman"/>
              <a:ea typeface="Times New Roman"/>
              <a:cs typeface="Times New Roman"/>
              <a:sym typeface="Times New Roman"/>
            </a:endParaRPr>
          </a:p>
        </p:txBody>
      </p:sp>
      <p:sp>
        <p:nvSpPr>
          <p:cNvPr id="238" name="Google Shape;238;p22"/>
          <p:cNvSpPr txBox="1"/>
          <p:nvPr/>
        </p:nvSpPr>
        <p:spPr>
          <a:xfrm>
            <a:off x="5698426" y="3156775"/>
            <a:ext cx="20145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Times New Roman"/>
                <a:ea typeface="Times New Roman"/>
                <a:cs typeface="Times New Roman"/>
                <a:sym typeface="Times New Roman"/>
              </a:rPr>
              <a:t>Fig2:</a:t>
            </a:r>
            <a:r>
              <a:rPr lang="en-US" sz="1000">
                <a:solidFill>
                  <a:schemeClr val="lt1"/>
                </a:solidFill>
                <a:latin typeface="Times New Roman"/>
                <a:ea typeface="Times New Roman"/>
                <a:cs typeface="Times New Roman"/>
                <a:sym typeface="Times New Roman"/>
              </a:rPr>
              <a:t> Hand Gesture for Erasing </a:t>
            </a:r>
            <a:endParaRPr b="0" i="0" sz="1000" u="none" cap="none" strike="noStrike">
              <a:solidFill>
                <a:schemeClr val="lt1"/>
              </a:solidFill>
              <a:latin typeface="Times New Roman"/>
              <a:ea typeface="Times New Roman"/>
              <a:cs typeface="Times New Roman"/>
              <a:sym typeface="Times New Roman"/>
            </a:endParaRPr>
          </a:p>
        </p:txBody>
      </p:sp>
      <p:pic>
        <p:nvPicPr>
          <p:cNvPr id="239" name="Google Shape;239;p22"/>
          <p:cNvPicPr preferRelativeResize="0"/>
          <p:nvPr/>
        </p:nvPicPr>
        <p:blipFill>
          <a:blip r:embed="rId3">
            <a:alphaModFix/>
          </a:blip>
          <a:stretch>
            <a:fillRect/>
          </a:stretch>
        </p:blipFill>
        <p:spPr>
          <a:xfrm>
            <a:off x="4650944" y="1328700"/>
            <a:ext cx="3709148" cy="1819801"/>
          </a:xfrm>
          <a:prstGeom prst="rect">
            <a:avLst/>
          </a:prstGeom>
          <a:noFill/>
          <a:ln>
            <a:noFill/>
          </a:ln>
        </p:spPr>
      </p:pic>
      <p:pic>
        <p:nvPicPr>
          <p:cNvPr id="240" name="Google Shape;240;p22"/>
          <p:cNvPicPr preferRelativeResize="0"/>
          <p:nvPr/>
        </p:nvPicPr>
        <p:blipFill>
          <a:blip r:embed="rId4">
            <a:alphaModFix/>
          </a:blip>
          <a:stretch>
            <a:fillRect/>
          </a:stretch>
        </p:blipFill>
        <p:spPr>
          <a:xfrm>
            <a:off x="1080767" y="1327988"/>
            <a:ext cx="3214423" cy="182123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3"/>
          <p:cNvSpPr txBox="1"/>
          <p:nvPr>
            <p:ph idx="1" type="body"/>
          </p:nvPr>
        </p:nvSpPr>
        <p:spPr>
          <a:xfrm>
            <a:off x="420299" y="1303687"/>
            <a:ext cx="8377500" cy="32082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0"/>
              </a:spcAft>
              <a:buClr>
                <a:schemeClr val="dk1"/>
              </a:buClr>
              <a:buSzPts val="1100"/>
              <a:buFont typeface="Arial"/>
              <a:buNone/>
            </a:pPr>
            <a:r>
              <a:rPr lang="en-US" sz="1200"/>
              <a:t>The AirSketch system was successfully developed as a real-time, gesture-based virtual drawing application that enables users to interact with a digital canvas using a standard webcam. The implemented system combines OpenCV with MediaPipe hand tracking to detect hand landmarks and interpret fingertip and pinch-based interactions, providing a touch-free alternative to conventional mouse- or stylus-based drawing.</a:t>
            </a:r>
            <a:endParaRPr sz="1200"/>
          </a:p>
          <a:p>
            <a:pPr indent="0" lvl="0" marL="0" rtl="0" algn="l">
              <a:lnSpc>
                <a:spcPct val="115000"/>
              </a:lnSpc>
              <a:spcBef>
                <a:spcPts val="1200"/>
              </a:spcBef>
              <a:spcAft>
                <a:spcPts val="0"/>
              </a:spcAft>
              <a:buClr>
                <a:schemeClr val="dk1"/>
              </a:buClr>
              <a:buSzPts val="1100"/>
              <a:buFont typeface="Arial"/>
              <a:buNone/>
            </a:pPr>
            <a:r>
              <a:rPr lang="en-US" sz="1200"/>
              <a:t>The final product incorporates several drawing and interaction features, including brush and eraser tools, multiple colors, adjustable brush thickness, geometric shapes such as rectangles, circles and lines, filled shapes, and canvas clearing. The system continuously processes webcam frames and maps detected hand movements onto the virtual canvas, resulting in an interactive and responsive drawing experience.</a:t>
            </a:r>
            <a:endParaRPr sz="1200"/>
          </a:p>
          <a:p>
            <a:pPr indent="0" lvl="0" marL="0" rtl="0" algn="l">
              <a:lnSpc>
                <a:spcPct val="115000"/>
              </a:lnSpc>
              <a:spcBef>
                <a:spcPts val="1200"/>
              </a:spcBef>
              <a:spcAft>
                <a:spcPts val="0"/>
              </a:spcAft>
              <a:buClr>
                <a:schemeClr val="dk1"/>
              </a:buClr>
              <a:buSzPts val="1100"/>
              <a:buFont typeface="Arial"/>
              <a:buNone/>
            </a:pPr>
            <a:r>
              <a:rPr lang="en-US" sz="1200"/>
              <a:t>Overall, the completed AirSketch prototype demonstrates that real-time hand tracking can be effectively used to build a low-cost and accessible virtual drawing system without specialized gesture-control hardware. The product successfully converts natural hand movements into practical drawing operations and provides a foundation for further development in touchless human-computer interaction.</a:t>
            </a:r>
            <a:endParaRPr sz="1200"/>
          </a:p>
          <a:p>
            <a:pPr indent="0" lvl="0" marL="12700" marR="50800" rtl="0" algn="l">
              <a:lnSpc>
                <a:spcPct val="100000"/>
              </a:lnSpc>
              <a:spcBef>
                <a:spcPts val="1200"/>
              </a:spcBef>
              <a:spcAft>
                <a:spcPts val="0"/>
              </a:spcAft>
              <a:buSzPts val="1400"/>
              <a:buNone/>
            </a:pPr>
            <a:r>
              <a:t/>
            </a:r>
            <a:endParaRPr sz="1200"/>
          </a:p>
        </p:txBody>
      </p:sp>
      <p:pic>
        <p:nvPicPr>
          <p:cNvPr id="246" name="Google Shape;246;p23"/>
          <p:cNvPicPr preferRelativeResize="0"/>
          <p:nvPr/>
        </p:nvPicPr>
        <p:blipFill rotWithShape="1">
          <a:blip r:embed="rId3">
            <a:alphaModFix/>
          </a:blip>
          <a:srcRect b="0" l="0" r="0" t="0"/>
          <a:stretch/>
        </p:blipFill>
        <p:spPr>
          <a:xfrm>
            <a:off x="553250" y="595923"/>
            <a:ext cx="7875450" cy="744149"/>
          </a:xfrm>
          <a:prstGeom prst="rect">
            <a:avLst/>
          </a:prstGeom>
          <a:noFill/>
          <a:ln>
            <a:noFill/>
          </a:ln>
        </p:spPr>
      </p:pic>
      <p:sp>
        <p:nvSpPr>
          <p:cNvPr id="247" name="Google Shape;247;p23"/>
          <p:cNvSpPr txBox="1"/>
          <p:nvPr>
            <p:ph type="title"/>
          </p:nvPr>
        </p:nvSpPr>
        <p:spPr>
          <a:xfrm>
            <a:off x="3127198" y="707611"/>
            <a:ext cx="2900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a:t>CONCLUSION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txBox="1"/>
          <p:nvPr/>
        </p:nvSpPr>
        <p:spPr>
          <a:xfrm>
            <a:off x="497525" y="551592"/>
            <a:ext cx="8479800" cy="3707100"/>
          </a:xfrm>
          <a:prstGeom prst="rect">
            <a:avLst/>
          </a:prstGeom>
          <a:noFill/>
          <a:ln>
            <a:noFill/>
          </a:ln>
        </p:spPr>
        <p:txBody>
          <a:bodyPr anchorCtr="0" anchor="t" bIns="0" lIns="0" spcFirstLastPara="1" rIns="0" wrap="square" tIns="12700">
            <a:spAutoFit/>
          </a:bodyPr>
          <a:lstStyle/>
          <a:p>
            <a:pPr indent="-304800" lvl="0" marL="457200" marR="5080" rtl="0" algn="l">
              <a:lnSpc>
                <a:spcPct val="100000"/>
              </a:lnSpc>
              <a:spcBef>
                <a:spcPts val="0"/>
              </a:spcBef>
              <a:spcAft>
                <a:spcPts val="0"/>
              </a:spcAft>
              <a:buClr>
                <a:schemeClr val="lt1"/>
              </a:buClr>
              <a:buSzPts val="1200"/>
              <a:buFont typeface="Cambria"/>
              <a:buAutoNum type="arabicPeriod"/>
            </a:pPr>
            <a:r>
              <a:rPr b="0" i="0" lang="en-US" sz="1200" u="none" cap="none" strike="noStrike">
                <a:solidFill>
                  <a:schemeClr val="lt1"/>
                </a:solidFill>
                <a:latin typeface="Cambria"/>
                <a:ea typeface="Cambria"/>
                <a:cs typeface="Cambria"/>
                <a:sym typeface="Cambria"/>
              </a:rPr>
              <a:t>OMG-Bench: A New Challenging Benchmark for Skeleton-based Online Micro Hand Gesture Recognition Authors:Haochen Chang, Pengfei Ren, Buyuan Zhang, Da Li, Tianhao Han, Haoyang Zhang, Liang Xie, Hongbo Chen, Erwei Yin, Published on 2026</a:t>
            </a:r>
            <a:endParaRPr b="0" i="0" sz="1200" u="none" cap="none" strike="noStrike">
              <a:solidFill>
                <a:schemeClr val="lt1"/>
              </a:solidFill>
              <a:latin typeface="Cambria"/>
              <a:ea typeface="Cambria"/>
              <a:cs typeface="Cambria"/>
              <a:sym typeface="Cambria"/>
            </a:endParaRPr>
          </a:p>
          <a:p>
            <a:pPr indent="-304800" lvl="0" marL="457200" marR="5080" rtl="0" algn="l">
              <a:lnSpc>
                <a:spcPct val="100000"/>
              </a:lnSpc>
              <a:spcBef>
                <a:spcPts val="0"/>
              </a:spcBef>
              <a:spcAft>
                <a:spcPts val="0"/>
              </a:spcAft>
              <a:buClr>
                <a:schemeClr val="lt1"/>
              </a:buClr>
              <a:buSzPts val="1200"/>
              <a:buFont typeface="Cambria"/>
              <a:buAutoNum type="arabicPeriod"/>
            </a:pPr>
            <a:r>
              <a:rPr b="0" i="0" lang="en-US" sz="1200" u="none" cap="none" strike="noStrike">
                <a:solidFill>
                  <a:schemeClr val="lt1"/>
                </a:solidFill>
                <a:latin typeface="Cambria"/>
                <a:ea typeface="Cambria"/>
                <a:cs typeface="Cambria"/>
                <a:sym typeface="Cambria"/>
              </a:rPr>
              <a:t>Dynamic LIBRAS Gesture Recognition via CNN over Spatiotemporal Matrix Representation Authors: Jasmine Moreira, Published on 2026</a:t>
            </a:r>
            <a:endParaRPr b="0" i="0" sz="1200" u="none" cap="none" strike="noStrike">
              <a:solidFill>
                <a:schemeClr val="lt1"/>
              </a:solidFill>
              <a:latin typeface="Cambria"/>
              <a:ea typeface="Cambria"/>
              <a:cs typeface="Cambria"/>
              <a:sym typeface="Cambria"/>
            </a:endParaRPr>
          </a:p>
          <a:p>
            <a:pPr indent="-304800" lvl="0" marL="457200" marR="5080" rtl="0" algn="l">
              <a:lnSpc>
                <a:spcPct val="100000"/>
              </a:lnSpc>
              <a:spcBef>
                <a:spcPts val="0"/>
              </a:spcBef>
              <a:spcAft>
                <a:spcPts val="0"/>
              </a:spcAft>
              <a:buClr>
                <a:schemeClr val="lt1"/>
              </a:buClr>
              <a:buSzPts val="1200"/>
              <a:buFont typeface="Cambria"/>
              <a:buAutoNum type="arabicPeriod"/>
            </a:pPr>
            <a:r>
              <a:rPr b="0" i="0" lang="en-US" sz="1200" u="none" cap="none" strike="noStrike">
                <a:solidFill>
                  <a:schemeClr val="lt1"/>
                </a:solidFill>
                <a:latin typeface="Cambria"/>
                <a:ea typeface="Cambria"/>
                <a:cs typeface="Cambria"/>
                <a:sym typeface="Cambria"/>
              </a:rPr>
              <a:t>Painting with Hand Gestures using MediaPipe Authors: R.Vasavi, Nenavath Rahul, A Snigdha, K. Jeffery Moses, S.Vishal Simha, Published on 2022</a:t>
            </a:r>
            <a:endParaRPr b="0" i="0" sz="1200" u="none" cap="none" strike="noStrike">
              <a:solidFill>
                <a:schemeClr val="lt1"/>
              </a:solidFill>
              <a:latin typeface="Cambria"/>
              <a:ea typeface="Cambria"/>
              <a:cs typeface="Cambria"/>
              <a:sym typeface="Cambria"/>
            </a:endParaRPr>
          </a:p>
          <a:p>
            <a:pPr indent="-304800" lvl="0" marL="457200" marR="5080" rtl="0" algn="l">
              <a:lnSpc>
                <a:spcPct val="100000"/>
              </a:lnSpc>
              <a:spcBef>
                <a:spcPts val="0"/>
              </a:spcBef>
              <a:spcAft>
                <a:spcPts val="0"/>
              </a:spcAft>
              <a:buClr>
                <a:schemeClr val="lt1"/>
              </a:buClr>
              <a:buSzPts val="1200"/>
              <a:buFont typeface="Cambria"/>
              <a:buAutoNum type="arabicPeriod"/>
            </a:pPr>
            <a:r>
              <a:rPr b="0" i="0" lang="en-US" sz="1200" u="none" cap="none" strike="noStrike">
                <a:solidFill>
                  <a:schemeClr val="lt1"/>
                </a:solidFill>
                <a:latin typeface="Cambria"/>
                <a:ea typeface="Cambria"/>
                <a:cs typeface="Cambria"/>
                <a:sym typeface="Cambria"/>
              </a:rPr>
              <a:t>AIR CANVAS HAND TRACKING Authors: SWATHI. A, Published on 2024</a:t>
            </a:r>
            <a:endParaRPr b="0" i="0" sz="1200" u="none" cap="none" strike="noStrike">
              <a:solidFill>
                <a:schemeClr val="lt1"/>
              </a:solidFill>
              <a:latin typeface="Cambria"/>
              <a:ea typeface="Cambria"/>
              <a:cs typeface="Cambria"/>
              <a:sym typeface="Cambria"/>
            </a:endParaRPr>
          </a:p>
          <a:p>
            <a:pPr indent="-304800" lvl="0" marL="457200" marR="5080" rtl="0" algn="l">
              <a:lnSpc>
                <a:spcPct val="100000"/>
              </a:lnSpc>
              <a:spcBef>
                <a:spcPts val="0"/>
              </a:spcBef>
              <a:spcAft>
                <a:spcPts val="0"/>
              </a:spcAft>
              <a:buClr>
                <a:schemeClr val="lt1"/>
              </a:buClr>
              <a:buSzPts val="1200"/>
              <a:buFont typeface="Cambria"/>
              <a:buAutoNum type="arabicPeriod"/>
            </a:pPr>
            <a:r>
              <a:rPr b="0" i="0" lang="en-US" sz="1200" u="none" cap="none" strike="noStrike">
                <a:solidFill>
                  <a:schemeClr val="lt1"/>
                </a:solidFill>
                <a:latin typeface="Cambria"/>
                <a:ea typeface="Cambria"/>
                <a:cs typeface="Cambria"/>
                <a:sym typeface="Cambria"/>
              </a:rPr>
              <a:t>A Deep Learning-based Multimodal Depth-Aware Dynamic Hand Gesture Recognition System Authors:Hasan Mahmud,Mashrur Mahmud Morshed,Md</a:t>
            </a:r>
            <a:endParaRPr b="0" i="0" sz="1200" u="none" cap="none" strike="noStrike">
              <a:solidFill>
                <a:schemeClr val="lt1"/>
              </a:solidFill>
              <a:latin typeface="Cambria"/>
              <a:ea typeface="Cambria"/>
              <a:cs typeface="Cambria"/>
              <a:sym typeface="Cambria"/>
            </a:endParaRPr>
          </a:p>
          <a:p>
            <a:pPr indent="-304800" lvl="0" marL="457200" marR="5080" rtl="0" algn="l">
              <a:lnSpc>
                <a:spcPct val="100000"/>
              </a:lnSpc>
              <a:spcBef>
                <a:spcPts val="0"/>
              </a:spcBef>
              <a:spcAft>
                <a:spcPts val="0"/>
              </a:spcAft>
              <a:buClr>
                <a:schemeClr val="lt1"/>
              </a:buClr>
              <a:buSzPts val="1200"/>
              <a:buFont typeface="Cambria"/>
              <a:buAutoNum type="arabicPeriod"/>
            </a:pPr>
            <a:r>
              <a:rPr b="0" i="0" lang="en-US" sz="1200" u="none" cap="none" strike="noStrike">
                <a:solidFill>
                  <a:schemeClr val="lt1"/>
                </a:solidFill>
                <a:latin typeface="Cambria"/>
                <a:ea typeface="Cambria"/>
                <a:cs typeface="Cambria"/>
                <a:sym typeface="Cambria"/>
              </a:rPr>
              <a:t>Hand Gesture Recognition using Image Processing and Feature Extraction Techniques Authors: Ashish Sharma, Anmol Mittal, Savitoj Singh, Vasudev Awatramani, Published on 2020</a:t>
            </a:r>
            <a:endParaRPr b="0" i="0" sz="1200" u="none" cap="none" strike="noStrike">
              <a:solidFill>
                <a:schemeClr val="lt1"/>
              </a:solidFill>
              <a:latin typeface="Cambria"/>
              <a:ea typeface="Cambria"/>
              <a:cs typeface="Cambria"/>
              <a:sym typeface="Cambria"/>
            </a:endParaRPr>
          </a:p>
          <a:p>
            <a:pPr indent="-304800" lvl="0" marL="457200" marR="5080" rtl="0" algn="l">
              <a:lnSpc>
                <a:spcPct val="100000"/>
              </a:lnSpc>
              <a:spcBef>
                <a:spcPts val="0"/>
              </a:spcBef>
              <a:spcAft>
                <a:spcPts val="0"/>
              </a:spcAft>
              <a:buClr>
                <a:schemeClr val="lt1"/>
              </a:buClr>
              <a:buSzPts val="1200"/>
              <a:buFont typeface="Cambria"/>
              <a:buAutoNum type="arabicPeriod"/>
            </a:pPr>
            <a:r>
              <a:rPr b="0" i="0" lang="en-US" sz="1200" u="none" cap="none" strike="noStrike">
                <a:solidFill>
                  <a:schemeClr val="lt1"/>
                </a:solidFill>
                <a:latin typeface="Cambria"/>
                <a:ea typeface="Cambria"/>
                <a:cs typeface="Cambria"/>
                <a:sym typeface="Cambria"/>
              </a:rPr>
              <a:t>Computer vision-based hand gesture recognition for human-robot interaction Authors: Jing Qi, Li Ma, Zhenchao Cui &amp; Yushu Yu</a:t>
            </a:r>
            <a:endParaRPr b="0" i="0" sz="1200" u="none" cap="none" strike="noStrike">
              <a:solidFill>
                <a:schemeClr val="lt1"/>
              </a:solidFill>
              <a:latin typeface="Cambria"/>
              <a:ea typeface="Cambria"/>
              <a:cs typeface="Cambria"/>
              <a:sym typeface="Cambria"/>
            </a:endParaRPr>
          </a:p>
          <a:p>
            <a:pPr indent="-304800" lvl="0" marL="457200" marR="5080" rtl="0" algn="l">
              <a:lnSpc>
                <a:spcPct val="100000"/>
              </a:lnSpc>
              <a:spcBef>
                <a:spcPts val="0"/>
              </a:spcBef>
              <a:spcAft>
                <a:spcPts val="0"/>
              </a:spcAft>
              <a:buClr>
                <a:schemeClr val="lt1"/>
              </a:buClr>
              <a:buSzPts val="1200"/>
              <a:buFont typeface="Cambria"/>
              <a:buAutoNum type="arabicPeriod"/>
            </a:pPr>
            <a:r>
              <a:rPr b="0" i="0" lang="en-US" sz="1200" u="none" cap="none" strike="noStrike">
                <a:solidFill>
                  <a:schemeClr val="lt1"/>
                </a:solidFill>
                <a:latin typeface="Cambria"/>
                <a:ea typeface="Cambria"/>
                <a:cs typeface="Cambria"/>
                <a:sym typeface="Cambria"/>
              </a:rPr>
              <a:t>Hand gesture and voice-controlled mouse for physically challenged using computer vision Authors: Aarti Morajkar Atheena Mariyam James, Minoli Bagwe, Aleena Sara James</a:t>
            </a:r>
            <a:endParaRPr b="0" i="0" sz="1200" u="none" cap="none" strike="noStrike">
              <a:solidFill>
                <a:schemeClr val="lt1"/>
              </a:solidFill>
              <a:latin typeface="Cambria"/>
              <a:ea typeface="Cambria"/>
              <a:cs typeface="Cambria"/>
              <a:sym typeface="Cambria"/>
            </a:endParaRPr>
          </a:p>
          <a:p>
            <a:pPr indent="-304800" lvl="0" marL="457200" marR="5080" rtl="0" algn="l">
              <a:lnSpc>
                <a:spcPct val="100000"/>
              </a:lnSpc>
              <a:spcBef>
                <a:spcPts val="0"/>
              </a:spcBef>
              <a:spcAft>
                <a:spcPts val="0"/>
              </a:spcAft>
              <a:buClr>
                <a:schemeClr val="lt1"/>
              </a:buClr>
              <a:buSzPts val="1200"/>
              <a:buFont typeface="Cambria"/>
              <a:buAutoNum type="arabicPeriod"/>
            </a:pPr>
            <a:r>
              <a:rPr b="0" i="0" lang="en-US" sz="1200" u="none" cap="none" strike="noStrike">
                <a:solidFill>
                  <a:schemeClr val="lt1"/>
                </a:solidFill>
                <a:latin typeface="Cambria"/>
                <a:ea typeface="Cambria"/>
                <a:cs typeface="Cambria"/>
                <a:sym typeface="Cambria"/>
              </a:rPr>
              <a:t>MediaPipe-LSTM-Enhanced Framework for Real-Time Dynamic Sign Language Recognition in Inclusive Communication Systems Authors: N. Anithadevi, SatheeshKumar Palanisamy, S. Saranya Rubini, Sachin Shrestha</a:t>
            </a:r>
            <a:endParaRPr b="0" i="0" sz="1200" u="none" cap="none" strike="noStrike">
              <a:solidFill>
                <a:schemeClr val="lt1"/>
              </a:solidFill>
              <a:latin typeface="Cambria"/>
              <a:ea typeface="Cambria"/>
              <a:cs typeface="Cambria"/>
              <a:sym typeface="Cambria"/>
            </a:endParaRPr>
          </a:p>
          <a:p>
            <a:pPr indent="-304800" lvl="0" marL="457200" marR="5080" rtl="0" algn="l">
              <a:lnSpc>
                <a:spcPct val="100000"/>
              </a:lnSpc>
              <a:spcBef>
                <a:spcPts val="0"/>
              </a:spcBef>
              <a:spcAft>
                <a:spcPts val="0"/>
              </a:spcAft>
              <a:buClr>
                <a:schemeClr val="lt1"/>
              </a:buClr>
              <a:buSzPts val="1200"/>
              <a:buFont typeface="Cambria"/>
              <a:buAutoNum type="arabicPeriod"/>
            </a:pPr>
            <a:r>
              <a:rPr b="0" i="0" lang="en-US" sz="1200" u="none" cap="none" strike="noStrike">
                <a:solidFill>
                  <a:schemeClr val="lt1"/>
                </a:solidFill>
                <a:latin typeface="Cambria"/>
                <a:ea typeface="Cambria"/>
                <a:cs typeface="Cambria"/>
                <a:sym typeface="Cambria"/>
              </a:rPr>
              <a:t>Towards Understanding the Faults of JavaScript-Based Deep Learning Systems Authors: Lili Quan, Qianyu Guo, Xiaofei Xie, Sen Chen, Xiaohong Li, Yang Liu</a:t>
            </a:r>
            <a:endParaRPr b="0" i="0" sz="1200" u="none" cap="none" strike="noStrike">
              <a:solidFill>
                <a:schemeClr val="lt1"/>
              </a:solidFill>
              <a:latin typeface="Cambria"/>
              <a:ea typeface="Cambria"/>
              <a:cs typeface="Cambria"/>
              <a:sym typeface="Cambria"/>
            </a:endParaRPr>
          </a:p>
        </p:txBody>
      </p:sp>
      <p:pic>
        <p:nvPicPr>
          <p:cNvPr id="253" name="Google Shape;253;p24"/>
          <p:cNvPicPr preferRelativeResize="0"/>
          <p:nvPr/>
        </p:nvPicPr>
        <p:blipFill rotWithShape="1">
          <a:blip r:embed="rId3">
            <a:alphaModFix/>
          </a:blip>
          <a:srcRect b="0" l="0" r="0" t="0"/>
          <a:stretch/>
        </p:blipFill>
        <p:spPr>
          <a:xfrm>
            <a:off x="634275" y="0"/>
            <a:ext cx="7875449" cy="608050"/>
          </a:xfrm>
          <a:prstGeom prst="rect">
            <a:avLst/>
          </a:prstGeom>
          <a:noFill/>
          <a:ln>
            <a:noFill/>
          </a:ln>
        </p:spPr>
      </p:pic>
      <p:sp>
        <p:nvSpPr>
          <p:cNvPr id="254" name="Google Shape;254;p24"/>
          <p:cNvSpPr txBox="1"/>
          <p:nvPr>
            <p:ph type="title"/>
          </p:nvPr>
        </p:nvSpPr>
        <p:spPr>
          <a:xfrm>
            <a:off x="3463625" y="143686"/>
            <a:ext cx="2547600" cy="3207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SzPts val="1400"/>
              <a:buNone/>
            </a:pPr>
            <a:r>
              <a:rPr lang="en-US" sz="2000"/>
              <a:t>REFERENCES</a:t>
            </a:r>
            <a:endParaRPr sz="2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