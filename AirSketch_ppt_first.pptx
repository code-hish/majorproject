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3"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y="5143500" cx="9144000"/>
  <p:notesSz cx="9144000" cy="5143500"/>
  <p:embeddedFontLst>
    <p:embeddedFont>
      <p:font typeface="Roboto"/>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000000"/>
          </p15:clr>
        </p15:guide>
        <p15:guide id="2" pos="216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F646490-F326-4984-BB32-13F74F47306F}">
  <a:tblStyle styleId="{1F646490-F326-4984-BB32-13F74F47306F}" styleName="Table_0">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2A2313B2-F0E6-47BE-ACA1-A836848726E2}" styleName="Table_1">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Roboto-bold.fntdata"/><Relationship Id="rId30" Type="http://schemas.openxmlformats.org/officeDocument/2006/relationships/font" Target="fonts/Roboto-regular.fntdata"/><Relationship Id="rId11" Type="http://schemas.openxmlformats.org/officeDocument/2006/relationships/slide" Target="slides/slide5.xml"/><Relationship Id="rId33" Type="http://schemas.openxmlformats.org/officeDocument/2006/relationships/font" Target="fonts/Roboto-boldItalic.fntdata"/><Relationship Id="rId10" Type="http://schemas.openxmlformats.org/officeDocument/2006/relationships/slide" Target="slides/slide4.xml"/><Relationship Id="rId32" Type="http://schemas.openxmlformats.org/officeDocument/2006/relationships/font" Target="fonts/Roboto-italic.fnt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914400" y="2443150"/>
            <a:ext cx="7315200" cy="2314575"/>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1:notes"/>
          <p:cNvSpPr txBox="1"/>
          <p:nvPr>
            <p:ph idx="1" type="body"/>
          </p:nvPr>
        </p:nvSpPr>
        <p:spPr>
          <a:xfrm>
            <a:off x="914400" y="2443150"/>
            <a:ext cx="7315200" cy="23145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6" name="Google Shape;66;p1: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2:notes"/>
          <p:cNvSpPr txBox="1"/>
          <p:nvPr>
            <p:ph idx="1" type="body"/>
          </p:nvPr>
        </p:nvSpPr>
        <p:spPr>
          <a:xfrm>
            <a:off x="914400" y="2443150"/>
            <a:ext cx="7315200" cy="23145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3" name="Google Shape;83;p2: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3:notes"/>
          <p:cNvSpPr txBox="1"/>
          <p:nvPr>
            <p:ph idx="1" type="body"/>
          </p:nvPr>
        </p:nvSpPr>
        <p:spPr>
          <a:xfrm>
            <a:off x="914400" y="2443150"/>
            <a:ext cx="7315200" cy="23145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0" name="Google Shape;90;p3: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4:notes"/>
          <p:cNvSpPr txBox="1"/>
          <p:nvPr>
            <p:ph idx="1" type="body"/>
          </p:nvPr>
        </p:nvSpPr>
        <p:spPr>
          <a:xfrm>
            <a:off x="914400" y="2443150"/>
            <a:ext cx="7315200" cy="23145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7" name="Google Shape;97;p4: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5:notes"/>
          <p:cNvSpPr/>
          <p:nvPr>
            <p:ph idx="2" type="sldImg"/>
          </p:nvPr>
        </p:nvSpPr>
        <p:spPr>
          <a:xfrm>
            <a:off x="1524300" y="385750"/>
            <a:ext cx="6096300" cy="1928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4" name="Google Shape;104;p5:notes"/>
          <p:cNvSpPr txBox="1"/>
          <p:nvPr>
            <p:ph idx="1" type="body"/>
          </p:nvPr>
        </p:nvSpPr>
        <p:spPr>
          <a:xfrm>
            <a:off x="914400" y="2443150"/>
            <a:ext cx="7315200" cy="2314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6:notes"/>
          <p:cNvSpPr/>
          <p:nvPr>
            <p:ph idx="2" type="sldImg"/>
          </p:nvPr>
        </p:nvSpPr>
        <p:spPr>
          <a:xfrm>
            <a:off x="1524300" y="385750"/>
            <a:ext cx="6096300" cy="1928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2" name="Google Shape;112;p6:notes"/>
          <p:cNvSpPr txBox="1"/>
          <p:nvPr>
            <p:ph idx="1" type="body"/>
          </p:nvPr>
        </p:nvSpPr>
        <p:spPr>
          <a:xfrm>
            <a:off x="914400" y="2443150"/>
            <a:ext cx="7315200" cy="2314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7:notes"/>
          <p:cNvSpPr/>
          <p:nvPr>
            <p:ph idx="2" type="sldImg"/>
          </p:nvPr>
        </p:nvSpPr>
        <p:spPr>
          <a:xfrm>
            <a:off x="1524300" y="385750"/>
            <a:ext cx="6096300" cy="1928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8" name="Google Shape;118;p7:notes"/>
          <p:cNvSpPr txBox="1"/>
          <p:nvPr>
            <p:ph idx="1" type="body"/>
          </p:nvPr>
        </p:nvSpPr>
        <p:spPr>
          <a:xfrm>
            <a:off x="914400" y="2443150"/>
            <a:ext cx="7315200" cy="2314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8:notes"/>
          <p:cNvSpPr/>
          <p:nvPr>
            <p:ph idx="2" type="sldImg"/>
          </p:nvPr>
        </p:nvSpPr>
        <p:spPr>
          <a:xfrm>
            <a:off x="1524300" y="385750"/>
            <a:ext cx="6096300" cy="1928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4" name="Google Shape;124;p8:notes"/>
          <p:cNvSpPr txBox="1"/>
          <p:nvPr>
            <p:ph idx="1" type="body"/>
          </p:nvPr>
        </p:nvSpPr>
        <p:spPr>
          <a:xfrm>
            <a:off x="914400" y="2443150"/>
            <a:ext cx="7315200" cy="2314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9:notes"/>
          <p:cNvSpPr/>
          <p:nvPr>
            <p:ph idx="2" type="sldImg"/>
          </p:nvPr>
        </p:nvSpPr>
        <p:spPr>
          <a:xfrm>
            <a:off x="1524300" y="385750"/>
            <a:ext cx="6096300" cy="1928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0" name="Google Shape;130;p9:notes"/>
          <p:cNvSpPr txBox="1"/>
          <p:nvPr>
            <p:ph idx="1" type="body"/>
          </p:nvPr>
        </p:nvSpPr>
        <p:spPr>
          <a:xfrm>
            <a:off x="914400" y="2443150"/>
            <a:ext cx="7315200" cy="2314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0:notes"/>
          <p:cNvSpPr txBox="1"/>
          <p:nvPr>
            <p:ph idx="1" type="body"/>
          </p:nvPr>
        </p:nvSpPr>
        <p:spPr>
          <a:xfrm>
            <a:off x="914400" y="2443150"/>
            <a:ext cx="7315200" cy="23145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6" name="Google Shape;136;p10: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1:notes"/>
          <p:cNvSpPr txBox="1"/>
          <p:nvPr>
            <p:ph idx="1" type="body"/>
          </p:nvPr>
        </p:nvSpPr>
        <p:spPr>
          <a:xfrm>
            <a:off x="914400" y="2443150"/>
            <a:ext cx="7315200" cy="23145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2" name="Google Shape;162;p11: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2:notes"/>
          <p:cNvSpPr/>
          <p:nvPr>
            <p:ph idx="2" type="sldImg"/>
          </p:nvPr>
        </p:nvSpPr>
        <p:spPr>
          <a:xfrm>
            <a:off x="1524300" y="385750"/>
            <a:ext cx="6096300" cy="1928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8" name="Google Shape;188;p12:notes"/>
          <p:cNvSpPr txBox="1"/>
          <p:nvPr>
            <p:ph idx="1" type="body"/>
          </p:nvPr>
        </p:nvSpPr>
        <p:spPr>
          <a:xfrm>
            <a:off x="914400" y="2443150"/>
            <a:ext cx="7315200" cy="2314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3:notes"/>
          <p:cNvSpPr txBox="1"/>
          <p:nvPr>
            <p:ph idx="1" type="body"/>
          </p:nvPr>
        </p:nvSpPr>
        <p:spPr>
          <a:xfrm>
            <a:off x="914400" y="2443150"/>
            <a:ext cx="7315200" cy="23145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3" name="Google Shape;193;p13: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4:notes"/>
          <p:cNvSpPr txBox="1"/>
          <p:nvPr>
            <p:ph idx="1" type="body"/>
          </p:nvPr>
        </p:nvSpPr>
        <p:spPr>
          <a:xfrm>
            <a:off x="914400" y="2443150"/>
            <a:ext cx="7315200" cy="23145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0" name="Google Shape;200;p14: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5:notes"/>
          <p:cNvSpPr txBox="1"/>
          <p:nvPr>
            <p:ph idx="1" type="body"/>
          </p:nvPr>
        </p:nvSpPr>
        <p:spPr>
          <a:xfrm>
            <a:off x="914400" y="2443150"/>
            <a:ext cx="7315200" cy="23145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9" name="Google Shape;209;p15: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6:notes"/>
          <p:cNvSpPr txBox="1"/>
          <p:nvPr>
            <p:ph idx="1" type="body"/>
          </p:nvPr>
        </p:nvSpPr>
        <p:spPr>
          <a:xfrm>
            <a:off x="914400" y="2443150"/>
            <a:ext cx="7315200" cy="23145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6" name="Google Shape;216;p16: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17:notes"/>
          <p:cNvSpPr txBox="1"/>
          <p:nvPr>
            <p:ph idx="1" type="body"/>
          </p:nvPr>
        </p:nvSpPr>
        <p:spPr>
          <a:xfrm>
            <a:off x="914400" y="2443150"/>
            <a:ext cx="7315200" cy="23145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4" name="Google Shape;224;p17: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18:notes"/>
          <p:cNvSpPr txBox="1"/>
          <p:nvPr>
            <p:ph idx="1" type="body"/>
          </p:nvPr>
        </p:nvSpPr>
        <p:spPr>
          <a:xfrm>
            <a:off x="914400" y="2443150"/>
            <a:ext cx="7315200" cy="23145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1" name="Google Shape;241;p18: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19:notes"/>
          <p:cNvSpPr txBox="1"/>
          <p:nvPr>
            <p:ph idx="1" type="body"/>
          </p:nvPr>
        </p:nvSpPr>
        <p:spPr>
          <a:xfrm>
            <a:off x="914400" y="2443150"/>
            <a:ext cx="7315200" cy="23145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8" name="Google Shape;248;p19: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20:notes"/>
          <p:cNvSpPr txBox="1"/>
          <p:nvPr>
            <p:ph idx="1" type="body"/>
          </p:nvPr>
        </p:nvSpPr>
        <p:spPr>
          <a:xfrm>
            <a:off x="914400" y="2443150"/>
            <a:ext cx="7315200" cy="23145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7" name="Google Shape;257;p20: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21:notes"/>
          <p:cNvSpPr/>
          <p:nvPr>
            <p:ph idx="2" type="sldImg"/>
          </p:nvPr>
        </p:nvSpPr>
        <p:spPr>
          <a:xfrm>
            <a:off x="1524300" y="385750"/>
            <a:ext cx="6096300" cy="1928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3" name="Google Shape;263;p21:notes"/>
          <p:cNvSpPr txBox="1"/>
          <p:nvPr>
            <p:ph idx="1" type="body"/>
          </p:nvPr>
        </p:nvSpPr>
        <p:spPr>
          <a:xfrm>
            <a:off x="914400" y="2443150"/>
            <a:ext cx="7315200" cy="2314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22:notes"/>
          <p:cNvSpPr txBox="1"/>
          <p:nvPr>
            <p:ph idx="1" type="body"/>
          </p:nvPr>
        </p:nvSpPr>
        <p:spPr>
          <a:xfrm>
            <a:off x="914400" y="2443150"/>
            <a:ext cx="7315200" cy="23145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3" name="Google Shape;273;p22: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23:notes"/>
          <p:cNvSpPr txBox="1"/>
          <p:nvPr>
            <p:ph idx="1" type="body"/>
          </p:nvPr>
        </p:nvSpPr>
        <p:spPr>
          <a:xfrm>
            <a:off x="914400" y="2443150"/>
            <a:ext cx="7315200" cy="23145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0" name="Google Shape;280;p23: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jpg"/><Relationship Id="rId3" Type="http://schemas.openxmlformats.org/officeDocument/2006/relationships/image" Target="../media/image4.png"/><Relationship Id="rId4" Type="http://schemas.openxmlformats.org/officeDocument/2006/relationships/image" Target="../media/image33.png"/><Relationship Id="rId5"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9" name="Shape 29"/>
        <p:cNvGrpSpPr/>
        <p:nvPr/>
      </p:nvGrpSpPr>
      <p:grpSpPr>
        <a:xfrm>
          <a:off x="0" y="0"/>
          <a:ext cx="0" cy="0"/>
          <a:chOff x="0" y="0"/>
          <a:chExt cx="0" cy="0"/>
        </a:xfrm>
      </p:grpSpPr>
      <p:sp>
        <p:nvSpPr>
          <p:cNvPr id="30" name="Google Shape;30;p2"/>
          <p:cNvSpPr txBox="1"/>
          <p:nvPr>
            <p:ph type="title"/>
          </p:nvPr>
        </p:nvSpPr>
        <p:spPr>
          <a:xfrm>
            <a:off x="2270730" y="522820"/>
            <a:ext cx="4678045" cy="528319"/>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3300">
                <a:solidFill>
                  <a:schemeClr val="lt1"/>
                </a:solidFill>
                <a:latin typeface="Verdana"/>
                <a:ea typeface="Verdana"/>
                <a:cs typeface="Verdana"/>
                <a:sym typeface="Verdan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
          <p:cNvSpPr txBox="1"/>
          <p:nvPr>
            <p:ph idx="1" type="body"/>
          </p:nvPr>
        </p:nvSpPr>
        <p:spPr>
          <a:xfrm>
            <a:off x="420299" y="1595937"/>
            <a:ext cx="8377555" cy="2875279"/>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b="1" i="0" sz="1700">
                <a:solidFill>
                  <a:schemeClr val="lt1"/>
                </a:solidFill>
                <a:latin typeface="Cambria"/>
                <a:ea typeface="Cambria"/>
                <a:cs typeface="Cambria"/>
                <a:sym typeface="Cambria"/>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2" name="Google Shape;32;p2"/>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2"/>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2"/>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showMasterSp="0">
  <p:cSld name="Two Content">
    <p:bg>
      <p:bgPr>
        <a:solidFill>
          <a:schemeClr val="lt1"/>
        </a:solidFill>
      </p:bgPr>
    </p:bg>
    <p:spTree>
      <p:nvGrpSpPr>
        <p:cNvPr id="35" name="Shape 35"/>
        <p:cNvGrpSpPr/>
        <p:nvPr/>
      </p:nvGrpSpPr>
      <p:grpSpPr>
        <a:xfrm>
          <a:off x="0" y="0"/>
          <a:ext cx="0" cy="0"/>
          <a:chOff x="0" y="0"/>
          <a:chExt cx="0" cy="0"/>
        </a:xfrm>
      </p:grpSpPr>
      <p:pic>
        <p:nvPicPr>
          <p:cNvPr id="36" name="Google Shape;36;p3"/>
          <p:cNvPicPr preferRelativeResize="0"/>
          <p:nvPr/>
        </p:nvPicPr>
        <p:blipFill rotWithShape="1">
          <a:blip r:embed="rId2">
            <a:alphaModFix/>
          </a:blip>
          <a:srcRect b="0" l="0" r="0" t="0"/>
          <a:stretch/>
        </p:blipFill>
        <p:spPr>
          <a:xfrm>
            <a:off x="0" y="0"/>
            <a:ext cx="9144000" cy="5143498"/>
          </a:xfrm>
          <a:prstGeom prst="rect">
            <a:avLst/>
          </a:prstGeom>
          <a:noFill/>
          <a:ln>
            <a:noFill/>
          </a:ln>
        </p:spPr>
      </p:pic>
      <p:sp>
        <p:nvSpPr>
          <p:cNvPr id="37" name="Google Shape;37;p3"/>
          <p:cNvSpPr/>
          <p:nvPr/>
        </p:nvSpPr>
        <p:spPr>
          <a:xfrm>
            <a:off x="0" y="101676"/>
            <a:ext cx="1958339" cy="391160"/>
          </a:xfrm>
          <a:custGeom>
            <a:rect b="b" l="l" r="r" t="t"/>
            <a:pathLst>
              <a:path extrusionOk="0" h="391159" w="1958339">
                <a:moveTo>
                  <a:pt x="0" y="390796"/>
                </a:moveTo>
                <a:lnTo>
                  <a:pt x="408062" y="390796"/>
                </a:lnTo>
                <a:lnTo>
                  <a:pt x="799155" y="0"/>
                </a:lnTo>
                <a:lnTo>
                  <a:pt x="1957965" y="0"/>
                </a:lnTo>
              </a:path>
            </a:pathLst>
          </a:custGeom>
          <a:noFill/>
          <a:ln cap="flat" cmpd="sng" w="9525">
            <a:solidFill>
              <a:srgbClr val="FFBD33"/>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8" name="Google Shape;38;p3"/>
          <p:cNvPicPr preferRelativeResize="0"/>
          <p:nvPr/>
        </p:nvPicPr>
        <p:blipFill rotWithShape="1">
          <a:blip r:embed="rId3">
            <a:alphaModFix/>
          </a:blip>
          <a:srcRect b="0" l="0" r="0" t="0"/>
          <a:stretch/>
        </p:blipFill>
        <p:spPr>
          <a:xfrm>
            <a:off x="1920527" y="64489"/>
            <a:ext cx="74623" cy="74623"/>
          </a:xfrm>
          <a:prstGeom prst="rect">
            <a:avLst/>
          </a:prstGeom>
          <a:noFill/>
          <a:ln>
            <a:noFill/>
          </a:ln>
        </p:spPr>
      </p:pic>
      <p:sp>
        <p:nvSpPr>
          <p:cNvPr id="39" name="Google Shape;39;p3"/>
          <p:cNvSpPr/>
          <p:nvPr/>
        </p:nvSpPr>
        <p:spPr>
          <a:xfrm>
            <a:off x="0" y="4650776"/>
            <a:ext cx="1958339" cy="391160"/>
          </a:xfrm>
          <a:custGeom>
            <a:rect b="b" l="l" r="r" t="t"/>
            <a:pathLst>
              <a:path extrusionOk="0" h="391160" w="1958339">
                <a:moveTo>
                  <a:pt x="0" y="0"/>
                </a:moveTo>
                <a:lnTo>
                  <a:pt x="408062" y="0"/>
                </a:lnTo>
                <a:lnTo>
                  <a:pt x="799155" y="390795"/>
                </a:lnTo>
                <a:lnTo>
                  <a:pt x="1957965" y="390795"/>
                </a:lnTo>
              </a:path>
            </a:pathLst>
          </a:custGeom>
          <a:noFill/>
          <a:ln cap="flat" cmpd="sng" w="9525">
            <a:solidFill>
              <a:srgbClr val="FFBD33"/>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0" name="Google Shape;40;p3"/>
          <p:cNvPicPr preferRelativeResize="0"/>
          <p:nvPr/>
        </p:nvPicPr>
        <p:blipFill rotWithShape="1">
          <a:blip r:embed="rId4">
            <a:alphaModFix/>
          </a:blip>
          <a:srcRect b="0" l="0" r="0" t="0"/>
          <a:stretch/>
        </p:blipFill>
        <p:spPr>
          <a:xfrm>
            <a:off x="1920527" y="5004383"/>
            <a:ext cx="74623" cy="74623"/>
          </a:xfrm>
          <a:prstGeom prst="rect">
            <a:avLst/>
          </a:prstGeom>
          <a:noFill/>
          <a:ln>
            <a:noFill/>
          </a:ln>
        </p:spPr>
      </p:pic>
      <p:pic>
        <p:nvPicPr>
          <p:cNvPr id="41" name="Google Shape;41;p3"/>
          <p:cNvPicPr preferRelativeResize="0"/>
          <p:nvPr/>
        </p:nvPicPr>
        <p:blipFill rotWithShape="1">
          <a:blip r:embed="rId5">
            <a:alphaModFix/>
          </a:blip>
          <a:srcRect b="0" l="0" r="0" t="0"/>
          <a:stretch/>
        </p:blipFill>
        <p:spPr>
          <a:xfrm>
            <a:off x="1139325" y="1843725"/>
            <a:ext cx="2855249" cy="1456049"/>
          </a:xfrm>
          <a:prstGeom prst="rect">
            <a:avLst/>
          </a:prstGeom>
          <a:noFill/>
          <a:ln>
            <a:noFill/>
          </a:ln>
        </p:spPr>
      </p:pic>
      <p:sp>
        <p:nvSpPr>
          <p:cNvPr id="42" name="Google Shape;42;p3"/>
          <p:cNvSpPr txBox="1"/>
          <p:nvPr>
            <p:ph type="title"/>
          </p:nvPr>
        </p:nvSpPr>
        <p:spPr>
          <a:xfrm>
            <a:off x="2270730" y="522820"/>
            <a:ext cx="4678045" cy="528319"/>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3300">
                <a:solidFill>
                  <a:schemeClr val="lt1"/>
                </a:solidFill>
                <a:latin typeface="Verdana"/>
                <a:ea typeface="Verdana"/>
                <a:cs typeface="Verdana"/>
                <a:sym typeface="Verdan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3"/>
          <p:cNvSpPr txBox="1"/>
          <p:nvPr>
            <p:ph idx="1" type="body"/>
          </p:nvPr>
        </p:nvSpPr>
        <p:spPr>
          <a:xfrm>
            <a:off x="457200" y="1183005"/>
            <a:ext cx="3977640" cy="339471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44" name="Google Shape;44;p3"/>
          <p:cNvSpPr txBox="1"/>
          <p:nvPr>
            <p:ph idx="2" type="body"/>
          </p:nvPr>
        </p:nvSpPr>
        <p:spPr>
          <a:xfrm>
            <a:off x="4709160" y="1183005"/>
            <a:ext cx="3977640" cy="339471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45" name="Google Shape;45;p3"/>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3"/>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3"/>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p:cSld name="Blank">
    <p:bg>
      <p:bgPr>
        <a:solidFill>
          <a:schemeClr val="lt1"/>
        </a:solidFill>
      </p:bgPr>
    </p:bg>
    <p:spTree>
      <p:nvGrpSpPr>
        <p:cNvPr id="48" name="Shape 48"/>
        <p:cNvGrpSpPr/>
        <p:nvPr/>
      </p:nvGrpSpPr>
      <p:grpSpPr>
        <a:xfrm>
          <a:off x="0" y="0"/>
          <a:ext cx="0" cy="0"/>
          <a:chOff x="0" y="0"/>
          <a:chExt cx="0" cy="0"/>
        </a:xfrm>
      </p:grpSpPr>
      <p:pic>
        <p:nvPicPr>
          <p:cNvPr id="49" name="Google Shape;49;p4"/>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50" name="Google Shape;50;p4"/>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4"/>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4"/>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53" name="Shape 53"/>
        <p:cNvGrpSpPr/>
        <p:nvPr/>
      </p:nvGrpSpPr>
      <p:grpSpPr>
        <a:xfrm>
          <a:off x="0" y="0"/>
          <a:ext cx="0" cy="0"/>
          <a:chOff x="0" y="0"/>
          <a:chExt cx="0" cy="0"/>
        </a:xfrm>
      </p:grpSpPr>
      <p:sp>
        <p:nvSpPr>
          <p:cNvPr id="54" name="Google Shape;54;p5"/>
          <p:cNvSpPr txBox="1"/>
          <p:nvPr>
            <p:ph type="title"/>
          </p:nvPr>
        </p:nvSpPr>
        <p:spPr>
          <a:xfrm>
            <a:off x="2270730" y="522820"/>
            <a:ext cx="4678045" cy="528319"/>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3300">
                <a:solidFill>
                  <a:schemeClr val="lt1"/>
                </a:solidFill>
                <a:latin typeface="Verdana"/>
                <a:ea typeface="Verdana"/>
                <a:cs typeface="Verdana"/>
                <a:sym typeface="Verdan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5"/>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5"/>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5"/>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58" name="Shape 58"/>
        <p:cNvGrpSpPr/>
        <p:nvPr/>
      </p:nvGrpSpPr>
      <p:grpSpPr>
        <a:xfrm>
          <a:off x="0" y="0"/>
          <a:ext cx="0" cy="0"/>
          <a:chOff x="0" y="0"/>
          <a:chExt cx="0" cy="0"/>
        </a:xfrm>
      </p:grpSpPr>
      <p:sp>
        <p:nvSpPr>
          <p:cNvPr id="59" name="Google Shape;59;p6"/>
          <p:cNvSpPr txBox="1"/>
          <p:nvPr>
            <p:ph type="ctrTitle"/>
          </p:nvPr>
        </p:nvSpPr>
        <p:spPr>
          <a:xfrm>
            <a:off x="685800" y="1594485"/>
            <a:ext cx="7772400" cy="108013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3300">
                <a:solidFill>
                  <a:schemeClr val="lt1"/>
                </a:solidFill>
                <a:latin typeface="Verdana"/>
                <a:ea typeface="Verdana"/>
                <a:cs typeface="Verdana"/>
                <a:sym typeface="Verdan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6"/>
          <p:cNvSpPr txBox="1"/>
          <p:nvPr>
            <p:ph idx="1" type="subTitle"/>
          </p:nvPr>
        </p:nvSpPr>
        <p:spPr>
          <a:xfrm>
            <a:off x="1371600" y="2880360"/>
            <a:ext cx="6400800" cy="128587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1" i="0" sz="1700">
                <a:solidFill>
                  <a:schemeClr val="lt1"/>
                </a:solidFill>
                <a:latin typeface="Cambria"/>
                <a:ea typeface="Cambria"/>
                <a:cs typeface="Cambria"/>
                <a:sym typeface="Cambri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6"/>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6"/>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6"/>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image" Target="../media/image12.png"/><Relationship Id="rId10" Type="http://schemas.openxmlformats.org/officeDocument/2006/relationships/image" Target="../media/image6.png"/><Relationship Id="rId13" Type="http://schemas.openxmlformats.org/officeDocument/2006/relationships/slideLayout" Target="../slideLayouts/slideLayout2.xml"/><Relationship Id="rId12" Type="http://schemas.openxmlformats.org/officeDocument/2006/relationships/slideLayout" Target="../slideLayouts/slideLayout1.xml"/><Relationship Id="rId1" Type="http://schemas.openxmlformats.org/officeDocument/2006/relationships/image" Target="../media/image21.jpg"/><Relationship Id="rId2" Type="http://schemas.openxmlformats.org/officeDocument/2006/relationships/image" Target="../media/image8.png"/><Relationship Id="rId3" Type="http://schemas.openxmlformats.org/officeDocument/2006/relationships/image" Target="../media/image10.png"/><Relationship Id="rId4" Type="http://schemas.openxmlformats.org/officeDocument/2006/relationships/image" Target="../media/image11.png"/><Relationship Id="rId9" Type="http://schemas.openxmlformats.org/officeDocument/2006/relationships/image" Target="../media/image1.png"/><Relationship Id="rId15" Type="http://schemas.openxmlformats.org/officeDocument/2006/relationships/slideLayout" Target="../slideLayouts/slideLayout4.xml"/><Relationship Id="rId14" Type="http://schemas.openxmlformats.org/officeDocument/2006/relationships/slideLayout" Target="../slideLayouts/slideLayout3.xml"/><Relationship Id="rId17" Type="http://schemas.openxmlformats.org/officeDocument/2006/relationships/theme" Target="../theme/theme2.xml"/><Relationship Id="rId16" Type="http://schemas.openxmlformats.org/officeDocument/2006/relationships/slideLayout" Target="../slideLayouts/slideLayout5.xml"/><Relationship Id="rId5" Type="http://schemas.openxmlformats.org/officeDocument/2006/relationships/image" Target="../media/image3.png"/><Relationship Id="rId6" Type="http://schemas.openxmlformats.org/officeDocument/2006/relationships/image" Target="../media/image7.png"/><Relationship Id="rId7" Type="http://schemas.openxmlformats.org/officeDocument/2006/relationships/image" Target="../media/image2.png"/><Relationship Id="rId8" Type="http://schemas.openxmlformats.org/officeDocument/2006/relationships/image" Target="../media/image17.png"/></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pic>
        <p:nvPicPr>
          <p:cNvPr id="6" name="Google Shape;6;p1"/>
          <p:cNvPicPr preferRelativeResize="0"/>
          <p:nvPr/>
        </p:nvPicPr>
        <p:blipFill rotWithShape="1">
          <a:blip r:embed="rId1">
            <a:alphaModFix/>
          </a:blip>
          <a:srcRect b="0" l="0" r="0" t="0"/>
          <a:stretch/>
        </p:blipFill>
        <p:spPr>
          <a:xfrm>
            <a:off x="0" y="0"/>
            <a:ext cx="9144000" cy="5143500"/>
          </a:xfrm>
          <a:prstGeom prst="rect">
            <a:avLst/>
          </a:prstGeom>
          <a:noFill/>
          <a:ln>
            <a:noFill/>
          </a:ln>
        </p:spPr>
      </p:pic>
      <p:sp>
        <p:nvSpPr>
          <p:cNvPr id="7" name="Google Shape;7;p1"/>
          <p:cNvSpPr/>
          <p:nvPr/>
        </p:nvSpPr>
        <p:spPr>
          <a:xfrm>
            <a:off x="8797889" y="310053"/>
            <a:ext cx="0" cy="753110"/>
          </a:xfrm>
          <a:custGeom>
            <a:rect b="b" l="l" r="r" t="t"/>
            <a:pathLst>
              <a:path extrusionOk="0" h="753110" w="120000">
                <a:moveTo>
                  <a:pt x="0" y="752996"/>
                </a:moveTo>
                <a:lnTo>
                  <a:pt x="0" y="0"/>
                </a:lnTo>
              </a:path>
            </a:pathLst>
          </a:custGeom>
          <a:noFill/>
          <a:ln cap="flat" cmpd="sng" w="9525">
            <a:solidFill>
              <a:srgbClr val="FFBD33"/>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8" name="Google Shape;8;p1"/>
          <p:cNvPicPr preferRelativeResize="0"/>
          <p:nvPr/>
        </p:nvPicPr>
        <p:blipFill rotWithShape="1">
          <a:blip r:embed="rId2">
            <a:alphaModFix/>
          </a:blip>
          <a:srcRect b="0" l="0" r="0" t="0"/>
          <a:stretch/>
        </p:blipFill>
        <p:spPr>
          <a:xfrm>
            <a:off x="8753671" y="1019914"/>
            <a:ext cx="86275" cy="86275"/>
          </a:xfrm>
          <a:prstGeom prst="rect">
            <a:avLst/>
          </a:prstGeom>
          <a:noFill/>
          <a:ln>
            <a:noFill/>
          </a:ln>
        </p:spPr>
      </p:pic>
      <p:pic>
        <p:nvPicPr>
          <p:cNvPr id="9" name="Google Shape;9;p1"/>
          <p:cNvPicPr preferRelativeResize="0"/>
          <p:nvPr/>
        </p:nvPicPr>
        <p:blipFill rotWithShape="1">
          <a:blip r:embed="rId3">
            <a:alphaModFix/>
          </a:blip>
          <a:srcRect b="0" l="0" r="0" t="0"/>
          <a:stretch/>
        </p:blipFill>
        <p:spPr>
          <a:xfrm>
            <a:off x="8754380" y="268214"/>
            <a:ext cx="86275" cy="86275"/>
          </a:xfrm>
          <a:prstGeom prst="rect">
            <a:avLst/>
          </a:prstGeom>
          <a:noFill/>
          <a:ln>
            <a:noFill/>
          </a:ln>
        </p:spPr>
      </p:pic>
      <p:sp>
        <p:nvSpPr>
          <p:cNvPr id="10" name="Google Shape;10;p1"/>
          <p:cNvSpPr/>
          <p:nvPr/>
        </p:nvSpPr>
        <p:spPr>
          <a:xfrm>
            <a:off x="8361706" y="0"/>
            <a:ext cx="290195" cy="1434465"/>
          </a:xfrm>
          <a:custGeom>
            <a:rect b="b" l="l" r="r" t="t"/>
            <a:pathLst>
              <a:path extrusionOk="0" h="1434465" w="290195">
                <a:moveTo>
                  <a:pt x="139425" y="1434302"/>
                </a:moveTo>
                <a:lnTo>
                  <a:pt x="139425" y="810545"/>
                </a:lnTo>
                <a:lnTo>
                  <a:pt x="0" y="670715"/>
                </a:lnTo>
                <a:lnTo>
                  <a:pt x="0" y="292867"/>
                </a:lnTo>
                <a:lnTo>
                  <a:pt x="289681" y="0"/>
                </a:lnTo>
              </a:path>
            </a:pathLst>
          </a:custGeom>
          <a:noFill/>
          <a:ln cap="flat" cmpd="sng" w="9525">
            <a:solidFill>
              <a:srgbClr val="FFBD33"/>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1" name="Google Shape;11;p1"/>
          <p:cNvPicPr preferRelativeResize="0"/>
          <p:nvPr/>
        </p:nvPicPr>
        <p:blipFill rotWithShape="1">
          <a:blip r:embed="rId4">
            <a:alphaModFix/>
          </a:blip>
          <a:srcRect b="0" l="0" r="0" t="0"/>
          <a:stretch/>
        </p:blipFill>
        <p:spPr>
          <a:xfrm>
            <a:off x="8464392" y="1397144"/>
            <a:ext cx="72734" cy="74346"/>
          </a:xfrm>
          <a:prstGeom prst="rect">
            <a:avLst/>
          </a:prstGeom>
          <a:noFill/>
          <a:ln>
            <a:noFill/>
          </a:ln>
        </p:spPr>
      </p:pic>
      <p:sp>
        <p:nvSpPr>
          <p:cNvPr id="12" name="Google Shape;12;p1"/>
          <p:cNvSpPr/>
          <p:nvPr/>
        </p:nvSpPr>
        <p:spPr>
          <a:xfrm>
            <a:off x="8470010" y="4617498"/>
            <a:ext cx="455930" cy="370840"/>
          </a:xfrm>
          <a:custGeom>
            <a:rect b="b" l="l" r="r" t="t"/>
            <a:pathLst>
              <a:path extrusionOk="0" h="370839" w="455929">
                <a:moveTo>
                  <a:pt x="0" y="0"/>
                </a:moveTo>
                <a:lnTo>
                  <a:pt x="206543" y="0"/>
                </a:lnTo>
                <a:lnTo>
                  <a:pt x="455492" y="248947"/>
                </a:lnTo>
                <a:lnTo>
                  <a:pt x="455661" y="370513"/>
                </a:lnTo>
              </a:path>
            </a:pathLst>
          </a:custGeom>
          <a:noFill/>
          <a:ln cap="flat" cmpd="sng" w="9525">
            <a:solidFill>
              <a:srgbClr val="FFBD33"/>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3" name="Google Shape;13;p1"/>
          <p:cNvPicPr preferRelativeResize="0"/>
          <p:nvPr/>
        </p:nvPicPr>
        <p:blipFill rotWithShape="1">
          <a:blip r:embed="rId5">
            <a:alphaModFix/>
          </a:blip>
          <a:srcRect b="0" l="0" r="0" t="0"/>
          <a:stretch/>
        </p:blipFill>
        <p:spPr>
          <a:xfrm>
            <a:off x="8435621" y="4583944"/>
            <a:ext cx="68781" cy="68779"/>
          </a:xfrm>
          <a:prstGeom prst="rect">
            <a:avLst/>
          </a:prstGeom>
          <a:noFill/>
          <a:ln>
            <a:noFill/>
          </a:ln>
        </p:spPr>
      </p:pic>
      <p:pic>
        <p:nvPicPr>
          <p:cNvPr id="14" name="Google Shape;14;p1"/>
          <p:cNvPicPr preferRelativeResize="0"/>
          <p:nvPr/>
        </p:nvPicPr>
        <p:blipFill rotWithShape="1">
          <a:blip r:embed="rId6">
            <a:alphaModFix/>
          </a:blip>
          <a:srcRect b="0" l="0" r="0" t="0"/>
          <a:stretch/>
        </p:blipFill>
        <p:spPr>
          <a:xfrm>
            <a:off x="8891077" y="4954664"/>
            <a:ext cx="68778" cy="68779"/>
          </a:xfrm>
          <a:prstGeom prst="rect">
            <a:avLst/>
          </a:prstGeom>
          <a:noFill/>
          <a:ln>
            <a:noFill/>
          </a:ln>
        </p:spPr>
      </p:pic>
      <p:sp>
        <p:nvSpPr>
          <p:cNvPr id="15" name="Google Shape;15;p1"/>
          <p:cNvSpPr/>
          <p:nvPr/>
        </p:nvSpPr>
        <p:spPr>
          <a:xfrm>
            <a:off x="7970103" y="4849851"/>
            <a:ext cx="1174115" cy="15240"/>
          </a:xfrm>
          <a:custGeom>
            <a:rect b="b" l="l" r="r" t="t"/>
            <a:pathLst>
              <a:path extrusionOk="0" h="15239" w="1174115">
                <a:moveTo>
                  <a:pt x="1173895" y="0"/>
                </a:moveTo>
                <a:lnTo>
                  <a:pt x="1158809" y="15074"/>
                </a:lnTo>
                <a:lnTo>
                  <a:pt x="0" y="15074"/>
                </a:lnTo>
              </a:path>
            </a:pathLst>
          </a:custGeom>
          <a:noFill/>
          <a:ln cap="flat" cmpd="sng" w="9525">
            <a:solidFill>
              <a:srgbClr val="FFBD33"/>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6" name="Google Shape;16;p1"/>
          <p:cNvPicPr preferRelativeResize="0"/>
          <p:nvPr/>
        </p:nvPicPr>
        <p:blipFill rotWithShape="1">
          <a:blip r:embed="rId7">
            <a:alphaModFix/>
          </a:blip>
          <a:srcRect b="0" l="0" r="0" t="0"/>
          <a:stretch/>
        </p:blipFill>
        <p:spPr>
          <a:xfrm>
            <a:off x="7932918" y="4827738"/>
            <a:ext cx="74624" cy="74623"/>
          </a:xfrm>
          <a:prstGeom prst="rect">
            <a:avLst/>
          </a:prstGeom>
          <a:noFill/>
          <a:ln>
            <a:noFill/>
          </a:ln>
        </p:spPr>
      </p:pic>
      <p:sp>
        <p:nvSpPr>
          <p:cNvPr id="17" name="Google Shape;17;p1"/>
          <p:cNvSpPr/>
          <p:nvPr/>
        </p:nvSpPr>
        <p:spPr>
          <a:xfrm>
            <a:off x="0" y="116625"/>
            <a:ext cx="1104265" cy="0"/>
          </a:xfrm>
          <a:custGeom>
            <a:rect b="b" l="l" r="r" t="t"/>
            <a:pathLst>
              <a:path extrusionOk="0" h="120000" w="1104265">
                <a:moveTo>
                  <a:pt x="0" y="0"/>
                </a:moveTo>
                <a:lnTo>
                  <a:pt x="1103663" y="0"/>
                </a:lnTo>
              </a:path>
            </a:pathLst>
          </a:custGeom>
          <a:noFill/>
          <a:ln cap="flat" cmpd="sng" w="9525">
            <a:solidFill>
              <a:srgbClr val="FFBD33"/>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8" name="Google Shape;18;p1"/>
          <p:cNvPicPr preferRelativeResize="0"/>
          <p:nvPr/>
        </p:nvPicPr>
        <p:blipFill rotWithShape="1">
          <a:blip r:embed="rId8">
            <a:alphaModFix/>
          </a:blip>
          <a:srcRect b="0" l="0" r="0" t="0"/>
          <a:stretch/>
        </p:blipFill>
        <p:spPr>
          <a:xfrm>
            <a:off x="1066469" y="79439"/>
            <a:ext cx="72823" cy="74623"/>
          </a:xfrm>
          <a:prstGeom prst="rect">
            <a:avLst/>
          </a:prstGeom>
          <a:noFill/>
          <a:ln>
            <a:noFill/>
          </a:ln>
        </p:spPr>
      </p:pic>
      <p:sp>
        <p:nvSpPr>
          <p:cNvPr id="19" name="Google Shape;19;p1"/>
          <p:cNvSpPr/>
          <p:nvPr/>
        </p:nvSpPr>
        <p:spPr>
          <a:xfrm>
            <a:off x="0" y="4628733"/>
            <a:ext cx="530860" cy="368300"/>
          </a:xfrm>
          <a:custGeom>
            <a:rect b="b" l="l" r="r" t="t"/>
            <a:pathLst>
              <a:path extrusionOk="0" h="368300" w="530860">
                <a:moveTo>
                  <a:pt x="530340" y="368295"/>
                </a:moveTo>
                <a:lnTo>
                  <a:pt x="182533" y="20439"/>
                </a:lnTo>
                <a:lnTo>
                  <a:pt x="20457" y="20439"/>
                </a:lnTo>
                <a:lnTo>
                  <a:pt x="0" y="0"/>
                </a:lnTo>
              </a:path>
            </a:pathLst>
          </a:custGeom>
          <a:noFill/>
          <a:ln cap="flat" cmpd="sng" w="9525">
            <a:solidFill>
              <a:srgbClr val="FFBD33"/>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0" name="Google Shape;20;p1"/>
          <p:cNvPicPr preferRelativeResize="0"/>
          <p:nvPr/>
        </p:nvPicPr>
        <p:blipFill rotWithShape="1">
          <a:blip r:embed="rId9">
            <a:alphaModFix/>
          </a:blip>
          <a:srcRect b="0" l="0" r="0" t="0"/>
          <a:stretch/>
        </p:blipFill>
        <p:spPr>
          <a:xfrm>
            <a:off x="494618" y="4961304"/>
            <a:ext cx="73261" cy="73262"/>
          </a:xfrm>
          <a:prstGeom prst="rect">
            <a:avLst/>
          </a:prstGeom>
          <a:noFill/>
          <a:ln>
            <a:noFill/>
          </a:ln>
        </p:spPr>
      </p:pic>
      <p:sp>
        <p:nvSpPr>
          <p:cNvPr id="21" name="Google Shape;21;p1"/>
          <p:cNvSpPr/>
          <p:nvPr/>
        </p:nvSpPr>
        <p:spPr>
          <a:xfrm>
            <a:off x="324902" y="4291167"/>
            <a:ext cx="791845" cy="624840"/>
          </a:xfrm>
          <a:custGeom>
            <a:rect b="b" l="l" r="r" t="t"/>
            <a:pathLst>
              <a:path extrusionOk="0" h="624839" w="791844">
                <a:moveTo>
                  <a:pt x="791842" y="624602"/>
                </a:moveTo>
                <a:lnTo>
                  <a:pt x="319807" y="624602"/>
                </a:lnTo>
                <a:lnTo>
                  <a:pt x="0" y="304394"/>
                </a:lnTo>
                <a:lnTo>
                  <a:pt x="0" y="0"/>
                </a:lnTo>
              </a:path>
            </a:pathLst>
          </a:custGeom>
          <a:noFill/>
          <a:ln cap="flat" cmpd="sng" w="9525">
            <a:solidFill>
              <a:srgbClr val="FFBD33"/>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2" name="Google Shape;22;p1"/>
          <p:cNvPicPr preferRelativeResize="0"/>
          <p:nvPr/>
        </p:nvPicPr>
        <p:blipFill rotWithShape="1">
          <a:blip r:embed="rId10">
            <a:alphaModFix/>
          </a:blip>
          <a:srcRect b="0" l="0" r="0" t="0"/>
          <a:stretch/>
        </p:blipFill>
        <p:spPr>
          <a:xfrm>
            <a:off x="1079560" y="4878582"/>
            <a:ext cx="72733" cy="72733"/>
          </a:xfrm>
          <a:prstGeom prst="rect">
            <a:avLst/>
          </a:prstGeom>
          <a:noFill/>
          <a:ln>
            <a:noFill/>
          </a:ln>
        </p:spPr>
      </p:pic>
      <p:pic>
        <p:nvPicPr>
          <p:cNvPr id="23" name="Google Shape;23;p1"/>
          <p:cNvPicPr preferRelativeResize="0"/>
          <p:nvPr/>
        </p:nvPicPr>
        <p:blipFill rotWithShape="1">
          <a:blip r:embed="rId11">
            <a:alphaModFix/>
          </a:blip>
          <a:srcRect b="0" l="0" r="0" t="0"/>
          <a:stretch/>
        </p:blipFill>
        <p:spPr>
          <a:xfrm>
            <a:off x="287715" y="4255687"/>
            <a:ext cx="74346" cy="72733"/>
          </a:xfrm>
          <a:prstGeom prst="rect">
            <a:avLst/>
          </a:prstGeom>
          <a:noFill/>
          <a:ln>
            <a:noFill/>
          </a:ln>
        </p:spPr>
      </p:pic>
      <p:sp>
        <p:nvSpPr>
          <p:cNvPr id="24" name="Google Shape;24;p1"/>
          <p:cNvSpPr txBox="1"/>
          <p:nvPr>
            <p:ph type="title"/>
          </p:nvPr>
        </p:nvSpPr>
        <p:spPr>
          <a:xfrm>
            <a:off x="2270730" y="522820"/>
            <a:ext cx="4678045" cy="528319"/>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3300" u="none" cap="none" strike="noStrike">
                <a:solidFill>
                  <a:schemeClr val="lt1"/>
                </a:solidFill>
                <a:latin typeface="Verdana"/>
                <a:ea typeface="Verdana"/>
                <a:cs typeface="Verdana"/>
                <a:sym typeface="Verdan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5" name="Google Shape;25;p1"/>
          <p:cNvSpPr txBox="1"/>
          <p:nvPr>
            <p:ph idx="1" type="body"/>
          </p:nvPr>
        </p:nvSpPr>
        <p:spPr>
          <a:xfrm>
            <a:off x="420299" y="1595937"/>
            <a:ext cx="8377555" cy="2875279"/>
          </a:xfrm>
          <a:prstGeom prst="rect">
            <a:avLst/>
          </a:prstGeom>
          <a:noFill/>
          <a:ln>
            <a:noFill/>
          </a:ln>
        </p:spPr>
        <p:txBody>
          <a:bodyPr anchorCtr="0" anchor="t" bIns="0" lIns="0" spcFirstLastPara="1" rIns="0" wrap="square" tIns="0">
            <a:spAutoFit/>
          </a:bodyPr>
          <a:lstStyle>
            <a:lvl1pPr indent="-228600" lvl="0" marL="457200" marR="0" rtl="0" algn="l">
              <a:lnSpc>
                <a:spcPct val="100000"/>
              </a:lnSpc>
              <a:spcBef>
                <a:spcPts val="0"/>
              </a:spcBef>
              <a:spcAft>
                <a:spcPts val="0"/>
              </a:spcAft>
              <a:buClr>
                <a:srgbClr val="000000"/>
              </a:buClr>
              <a:buSzPts val="1400"/>
              <a:buFont typeface="Arial"/>
              <a:buNone/>
              <a:defRPr b="1" i="0" sz="1700" u="none" cap="none" strike="noStrike">
                <a:solidFill>
                  <a:schemeClr val="lt1"/>
                </a:solidFill>
                <a:latin typeface="Cambria"/>
                <a:ea typeface="Cambria"/>
                <a:cs typeface="Cambria"/>
                <a:sym typeface="Cambria"/>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9pPr>
          </a:lstStyle>
          <a:p/>
        </p:txBody>
      </p:sp>
      <p:sp>
        <p:nvSpPr>
          <p:cNvPr id="26" name="Google Shape;26;p1"/>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marR="0" rtl="0" algn="ctr">
              <a:lnSpc>
                <a:spcPct val="100000"/>
              </a:lnSpc>
              <a:spcBef>
                <a:spcPts val="0"/>
              </a:spcBef>
              <a:spcAft>
                <a:spcPts val="0"/>
              </a:spcAft>
              <a:buClr>
                <a:srgbClr val="000000"/>
              </a:buClr>
              <a:buSzPts val="1400"/>
              <a:buFont typeface="Arial"/>
              <a:buNone/>
              <a:defRPr b="0" i="0" sz="18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7" name="Google Shape;27;p1"/>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8" name="Google Shape;28;p1"/>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48" r:id="rId12"/>
    <p:sldLayoutId id="2147483649" r:id="rId13"/>
    <p:sldLayoutId id="2147483650" r:id="rId14"/>
    <p:sldLayoutId id="2147483651" r:id="rId15"/>
    <p:sldLayoutId id="2147483652"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8.jpg"/><Relationship Id="rId4" Type="http://schemas.openxmlformats.org/officeDocument/2006/relationships/image" Target="../media/image2.png"/><Relationship Id="rId5" Type="http://schemas.openxmlformats.org/officeDocument/2006/relationships/image" Target="../media/image17.png"/><Relationship Id="rId6" Type="http://schemas.openxmlformats.org/officeDocument/2006/relationships/image" Target="../media/image1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1" Type="http://schemas.openxmlformats.org/officeDocument/2006/relationships/image" Target="../media/image17.png"/><Relationship Id="rId10" Type="http://schemas.openxmlformats.org/officeDocument/2006/relationships/image" Target="../media/image11.png"/><Relationship Id="rId12" Type="http://schemas.openxmlformats.org/officeDocument/2006/relationships/image" Target="../media/image6.png"/><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7.png"/><Relationship Id="rId9" Type="http://schemas.openxmlformats.org/officeDocument/2006/relationships/image" Target="../media/image10.png"/><Relationship Id="rId5" Type="http://schemas.openxmlformats.org/officeDocument/2006/relationships/image" Target="../media/image2.png"/><Relationship Id="rId6" Type="http://schemas.openxmlformats.org/officeDocument/2006/relationships/image" Target="../media/image1.png"/><Relationship Id="rId7" Type="http://schemas.openxmlformats.org/officeDocument/2006/relationships/image" Target="../media/image12.png"/><Relationship Id="rId8" Type="http://schemas.openxmlformats.org/officeDocument/2006/relationships/image" Target="../media/image8.png"/></Relationships>
</file>

<file path=ppt/slides/_rels/slide11.xml.rels><?xml version="1.0" encoding="UTF-8" standalone="yes"?><Relationships xmlns="http://schemas.openxmlformats.org/package/2006/relationships"><Relationship Id="rId11" Type="http://schemas.openxmlformats.org/officeDocument/2006/relationships/image" Target="../media/image6.png"/><Relationship Id="rId10" Type="http://schemas.openxmlformats.org/officeDocument/2006/relationships/image" Target="../media/image1.png"/><Relationship Id="rId12" Type="http://schemas.openxmlformats.org/officeDocument/2006/relationships/image" Target="../media/image12.png"/><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8.png"/><Relationship Id="rId4" Type="http://schemas.openxmlformats.org/officeDocument/2006/relationships/image" Target="../media/image10.png"/><Relationship Id="rId9" Type="http://schemas.openxmlformats.org/officeDocument/2006/relationships/image" Target="../media/image17.png"/><Relationship Id="rId5" Type="http://schemas.openxmlformats.org/officeDocument/2006/relationships/image" Target="../media/image11.png"/><Relationship Id="rId6" Type="http://schemas.openxmlformats.org/officeDocument/2006/relationships/image" Target="../media/image3.png"/><Relationship Id="rId7" Type="http://schemas.openxmlformats.org/officeDocument/2006/relationships/image" Target="../media/image7.png"/><Relationship Id="rId8"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0.png"/><Relationship Id="rId4" Type="http://schemas.openxmlformats.org/officeDocument/2006/relationships/image" Target="../media/image34.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2.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32.png"/><Relationship Id="rId4" Type="http://schemas.openxmlformats.org/officeDocument/2006/relationships/image" Target="../media/image19.png"/><Relationship Id="rId5" Type="http://schemas.openxmlformats.org/officeDocument/2006/relationships/image" Target="../media/image27.png"/><Relationship Id="rId6" Type="http://schemas.openxmlformats.org/officeDocument/2006/relationships/image" Target="../media/image2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image" Target="../media/image3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3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5.jpg"/><Relationship Id="rId4" Type="http://schemas.openxmlformats.org/officeDocument/2006/relationships/image" Target="../media/image26.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7" name="Shape 67"/>
        <p:cNvGrpSpPr/>
        <p:nvPr/>
      </p:nvGrpSpPr>
      <p:grpSpPr>
        <a:xfrm>
          <a:off x="0" y="0"/>
          <a:ext cx="0" cy="0"/>
          <a:chOff x="0" y="0"/>
          <a:chExt cx="0" cy="0"/>
        </a:xfrm>
      </p:grpSpPr>
      <p:pic>
        <p:nvPicPr>
          <p:cNvPr id="68" name="Google Shape;68;p7"/>
          <p:cNvPicPr preferRelativeResize="0"/>
          <p:nvPr/>
        </p:nvPicPr>
        <p:blipFill rotWithShape="1">
          <a:blip r:embed="rId3">
            <a:alphaModFix/>
          </a:blip>
          <a:srcRect b="0" l="0" r="0" t="0"/>
          <a:stretch/>
        </p:blipFill>
        <p:spPr>
          <a:xfrm>
            <a:off x="0" y="8164"/>
            <a:ext cx="9143999" cy="5135335"/>
          </a:xfrm>
          <a:prstGeom prst="rect">
            <a:avLst/>
          </a:prstGeom>
          <a:noFill/>
          <a:ln>
            <a:noFill/>
          </a:ln>
        </p:spPr>
      </p:pic>
      <p:grpSp>
        <p:nvGrpSpPr>
          <p:cNvPr id="69" name="Google Shape;69;p7"/>
          <p:cNvGrpSpPr/>
          <p:nvPr/>
        </p:nvGrpSpPr>
        <p:grpSpPr>
          <a:xfrm>
            <a:off x="7342344" y="4597079"/>
            <a:ext cx="1801849" cy="428232"/>
            <a:chOff x="7342344" y="4597079"/>
            <a:chExt cx="1801849" cy="428232"/>
          </a:xfrm>
        </p:grpSpPr>
        <p:sp>
          <p:nvSpPr>
            <p:cNvPr id="70" name="Google Shape;70;p7"/>
            <p:cNvSpPr/>
            <p:nvPr/>
          </p:nvSpPr>
          <p:spPr>
            <a:xfrm>
              <a:off x="7379529" y="4597079"/>
              <a:ext cx="1764664" cy="391160"/>
            </a:xfrm>
            <a:custGeom>
              <a:rect b="b" l="l" r="r" t="t"/>
              <a:pathLst>
                <a:path extrusionOk="0" h="391160" w="1764665">
                  <a:moveTo>
                    <a:pt x="1764470" y="0"/>
                  </a:moveTo>
                  <a:lnTo>
                    <a:pt x="1549901" y="0"/>
                  </a:lnTo>
                  <a:lnTo>
                    <a:pt x="1158808" y="390795"/>
                  </a:lnTo>
                  <a:lnTo>
                    <a:pt x="0" y="390795"/>
                  </a:lnTo>
                </a:path>
              </a:pathLst>
            </a:custGeom>
            <a:noFill/>
            <a:ln cap="flat" cmpd="sng" w="9525">
              <a:solidFill>
                <a:srgbClr val="FFBD33"/>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71" name="Google Shape;71;p7"/>
            <p:cNvPicPr preferRelativeResize="0"/>
            <p:nvPr/>
          </p:nvPicPr>
          <p:blipFill rotWithShape="1">
            <a:blip r:embed="rId4">
              <a:alphaModFix/>
            </a:blip>
            <a:srcRect b="0" l="0" r="0" t="0"/>
            <a:stretch/>
          </p:blipFill>
          <p:spPr>
            <a:xfrm>
              <a:off x="7342344" y="4950688"/>
              <a:ext cx="74623" cy="74623"/>
            </a:xfrm>
            <a:prstGeom prst="rect">
              <a:avLst/>
            </a:prstGeom>
            <a:noFill/>
            <a:ln>
              <a:noFill/>
            </a:ln>
          </p:spPr>
        </p:pic>
      </p:grpSp>
      <p:grpSp>
        <p:nvGrpSpPr>
          <p:cNvPr id="72" name="Google Shape;72;p7"/>
          <p:cNvGrpSpPr/>
          <p:nvPr/>
        </p:nvGrpSpPr>
        <p:grpSpPr>
          <a:xfrm>
            <a:off x="0" y="118189"/>
            <a:ext cx="1801667" cy="428346"/>
            <a:chOff x="0" y="118189"/>
            <a:chExt cx="1801667" cy="428346"/>
          </a:xfrm>
        </p:grpSpPr>
        <p:sp>
          <p:nvSpPr>
            <p:cNvPr id="73" name="Google Shape;73;p7"/>
            <p:cNvSpPr/>
            <p:nvPr/>
          </p:nvSpPr>
          <p:spPr>
            <a:xfrm>
              <a:off x="0" y="155375"/>
              <a:ext cx="1766570" cy="391160"/>
            </a:xfrm>
            <a:custGeom>
              <a:rect b="b" l="l" r="r" t="t"/>
              <a:pathLst>
                <a:path extrusionOk="0" h="391159" w="1766570">
                  <a:moveTo>
                    <a:pt x="0" y="390796"/>
                  </a:moveTo>
                  <a:lnTo>
                    <a:pt x="215697" y="390796"/>
                  </a:lnTo>
                  <a:lnTo>
                    <a:pt x="607228" y="0"/>
                  </a:lnTo>
                  <a:lnTo>
                    <a:pt x="1766038" y="0"/>
                  </a:lnTo>
                </a:path>
              </a:pathLst>
            </a:custGeom>
            <a:noFill/>
            <a:ln cap="flat" cmpd="sng" w="9525">
              <a:solidFill>
                <a:srgbClr val="FFBD33"/>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74" name="Google Shape;74;p7"/>
            <p:cNvPicPr preferRelativeResize="0"/>
            <p:nvPr/>
          </p:nvPicPr>
          <p:blipFill rotWithShape="1">
            <a:blip r:embed="rId5">
              <a:alphaModFix/>
            </a:blip>
            <a:srcRect b="0" l="0" r="0" t="0"/>
            <a:stretch/>
          </p:blipFill>
          <p:spPr>
            <a:xfrm>
              <a:off x="1728844" y="118189"/>
              <a:ext cx="72823" cy="74623"/>
            </a:xfrm>
            <a:prstGeom prst="rect">
              <a:avLst/>
            </a:prstGeom>
            <a:noFill/>
            <a:ln>
              <a:noFill/>
            </a:ln>
          </p:spPr>
        </p:pic>
      </p:grpSp>
      <p:sp>
        <p:nvSpPr>
          <p:cNvPr id="75" name="Google Shape;75;p7"/>
          <p:cNvSpPr txBox="1"/>
          <p:nvPr/>
        </p:nvSpPr>
        <p:spPr>
          <a:xfrm>
            <a:off x="1479899" y="2925723"/>
            <a:ext cx="6827520" cy="36068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200"/>
              <a:buFont typeface="Arial"/>
              <a:buNone/>
            </a:pPr>
            <a:r>
              <a:rPr b="0" i="0" lang="en-US" sz="2200" u="none" cap="none" strike="noStrike">
                <a:solidFill>
                  <a:srgbClr val="FFFFFF"/>
                </a:solidFill>
                <a:latin typeface="Verdana"/>
                <a:ea typeface="Verdana"/>
                <a:cs typeface="Verdana"/>
                <a:sym typeface="Verdana"/>
              </a:rPr>
              <a:t>Topic- AirSketch: Gesture Based Virtual Drawing</a:t>
            </a:r>
            <a:endParaRPr b="0" i="0" sz="2200" u="none" cap="none" strike="noStrike">
              <a:solidFill>
                <a:srgbClr val="000000"/>
              </a:solidFill>
              <a:latin typeface="Verdana"/>
              <a:ea typeface="Verdana"/>
              <a:cs typeface="Verdana"/>
              <a:sym typeface="Verdana"/>
            </a:endParaRPr>
          </a:p>
        </p:txBody>
      </p:sp>
      <p:sp>
        <p:nvSpPr>
          <p:cNvPr id="76" name="Google Shape;76;p7"/>
          <p:cNvSpPr txBox="1"/>
          <p:nvPr/>
        </p:nvSpPr>
        <p:spPr>
          <a:xfrm>
            <a:off x="4312000" y="3560100"/>
            <a:ext cx="4616400" cy="13212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700"/>
              <a:buFont typeface="Arial"/>
              <a:buNone/>
            </a:pPr>
            <a:r>
              <a:rPr b="1" i="0" lang="en-US" sz="1700" u="none" cap="none" strike="noStrike">
                <a:solidFill>
                  <a:srgbClr val="FFFFFF"/>
                </a:solidFill>
                <a:latin typeface="Trebuchet MS"/>
                <a:ea typeface="Trebuchet MS"/>
                <a:cs typeface="Trebuchet MS"/>
                <a:sym typeface="Trebuchet MS"/>
              </a:rPr>
              <a:t>Presented by:</a:t>
            </a:r>
            <a:endParaRPr b="0" i="0" sz="1700" u="none" cap="none" strike="noStrike">
              <a:solidFill>
                <a:srgbClr val="000000"/>
              </a:solidFill>
              <a:latin typeface="Trebuchet MS"/>
              <a:ea typeface="Trebuchet MS"/>
              <a:cs typeface="Trebuchet MS"/>
              <a:sym typeface="Trebuchet MS"/>
            </a:endParaRPr>
          </a:p>
          <a:p>
            <a:pPr indent="0" lvl="0" marL="332740" marR="0" rtl="0" algn="l">
              <a:lnSpc>
                <a:spcPct val="100000"/>
              </a:lnSpc>
              <a:spcBef>
                <a:spcPts val="0"/>
              </a:spcBef>
              <a:spcAft>
                <a:spcPts val="0"/>
              </a:spcAft>
              <a:buClr>
                <a:srgbClr val="000000"/>
              </a:buClr>
              <a:buSzPts val="1700"/>
              <a:buFont typeface="Arial"/>
              <a:buNone/>
            </a:pPr>
            <a:r>
              <a:rPr b="1" i="0" lang="en-US" sz="1700" u="none" cap="none" strike="noStrike">
                <a:solidFill>
                  <a:srgbClr val="FFFFFF"/>
                </a:solidFill>
                <a:latin typeface="Trebuchet MS"/>
                <a:ea typeface="Trebuchet MS"/>
                <a:cs typeface="Trebuchet MS"/>
                <a:sym typeface="Trebuchet MS"/>
              </a:rPr>
              <a:t>Hisham Khuram (USN-3PD23CS050)</a:t>
            </a:r>
            <a:endParaRPr b="0" i="0" sz="1700" u="none" cap="none" strike="noStrike">
              <a:solidFill>
                <a:srgbClr val="000000"/>
              </a:solidFill>
              <a:latin typeface="Trebuchet MS"/>
              <a:ea typeface="Trebuchet MS"/>
              <a:cs typeface="Trebuchet MS"/>
              <a:sym typeface="Trebuchet MS"/>
            </a:endParaRPr>
          </a:p>
          <a:p>
            <a:pPr indent="0" lvl="0" marL="332740" marR="0" rtl="0" algn="l">
              <a:lnSpc>
                <a:spcPct val="100000"/>
              </a:lnSpc>
              <a:spcBef>
                <a:spcPts val="0"/>
              </a:spcBef>
              <a:spcAft>
                <a:spcPts val="0"/>
              </a:spcAft>
              <a:buClr>
                <a:srgbClr val="000000"/>
              </a:buClr>
              <a:buSzPts val="1700"/>
              <a:buFont typeface="Arial"/>
              <a:buNone/>
            </a:pPr>
            <a:r>
              <a:rPr b="1" i="0" lang="en-US" sz="1700" u="none" cap="none" strike="noStrike">
                <a:solidFill>
                  <a:srgbClr val="FFFFFF"/>
                </a:solidFill>
                <a:latin typeface="Trebuchet MS"/>
                <a:ea typeface="Trebuchet MS"/>
                <a:cs typeface="Trebuchet MS"/>
                <a:sym typeface="Trebuchet MS"/>
              </a:rPr>
              <a:t>Md Ahmed Raza Sofi (USN- 3PD23CS065)</a:t>
            </a:r>
            <a:endParaRPr b="0" i="0" sz="1700" u="none" cap="none" strike="noStrike">
              <a:solidFill>
                <a:srgbClr val="000000"/>
              </a:solidFill>
              <a:latin typeface="Trebuchet MS"/>
              <a:ea typeface="Trebuchet MS"/>
              <a:cs typeface="Trebuchet MS"/>
              <a:sym typeface="Trebuchet MS"/>
            </a:endParaRPr>
          </a:p>
          <a:p>
            <a:pPr indent="0" lvl="0" marL="332740" marR="1006475" rtl="0" algn="l">
              <a:lnSpc>
                <a:spcPct val="100000"/>
              </a:lnSpc>
              <a:spcBef>
                <a:spcPts val="0"/>
              </a:spcBef>
              <a:spcAft>
                <a:spcPts val="0"/>
              </a:spcAft>
              <a:buClr>
                <a:srgbClr val="000000"/>
              </a:buClr>
              <a:buSzPts val="1700"/>
              <a:buFont typeface="Arial"/>
              <a:buNone/>
            </a:pPr>
            <a:r>
              <a:rPr b="1" i="0" lang="en-US" sz="1700" u="none" cap="none" strike="noStrike">
                <a:solidFill>
                  <a:srgbClr val="FFFFFF"/>
                </a:solidFill>
                <a:latin typeface="Trebuchet MS"/>
                <a:ea typeface="Trebuchet MS"/>
                <a:cs typeface="Trebuchet MS"/>
                <a:sym typeface="Trebuchet MS"/>
              </a:rPr>
              <a:t>Mohammed Abdul Maaz Hanan (USN-3PD23CS070)</a:t>
            </a:r>
            <a:endParaRPr b="0" i="0" sz="1700" u="none" cap="none" strike="noStrike">
              <a:solidFill>
                <a:srgbClr val="000000"/>
              </a:solidFill>
              <a:latin typeface="Trebuchet MS"/>
              <a:ea typeface="Trebuchet MS"/>
              <a:cs typeface="Trebuchet MS"/>
              <a:sym typeface="Trebuchet MS"/>
            </a:endParaRPr>
          </a:p>
        </p:txBody>
      </p:sp>
      <p:sp>
        <p:nvSpPr>
          <p:cNvPr id="77" name="Google Shape;77;p7"/>
          <p:cNvSpPr txBox="1"/>
          <p:nvPr>
            <p:ph type="title"/>
          </p:nvPr>
        </p:nvSpPr>
        <p:spPr>
          <a:xfrm>
            <a:off x="2930340" y="173259"/>
            <a:ext cx="3284854" cy="4826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sz="3000"/>
              <a:t>H.K.E SOCIETY’S</a:t>
            </a:r>
            <a:endParaRPr sz="3000"/>
          </a:p>
        </p:txBody>
      </p:sp>
      <p:sp>
        <p:nvSpPr>
          <p:cNvPr id="78" name="Google Shape;78;p7"/>
          <p:cNvSpPr txBox="1"/>
          <p:nvPr/>
        </p:nvSpPr>
        <p:spPr>
          <a:xfrm>
            <a:off x="1389374" y="517949"/>
            <a:ext cx="6756400" cy="971550"/>
          </a:xfrm>
          <a:prstGeom prst="rect">
            <a:avLst/>
          </a:prstGeom>
          <a:noFill/>
          <a:ln>
            <a:noFill/>
          </a:ln>
        </p:spPr>
        <p:txBody>
          <a:bodyPr anchorCtr="0" anchor="t" bIns="0" lIns="0" spcFirstLastPara="1" rIns="0" wrap="square" tIns="146675">
            <a:spAutoFit/>
          </a:bodyPr>
          <a:lstStyle/>
          <a:p>
            <a:pPr indent="0" lvl="0" marL="201930" marR="0" rtl="0" algn="l">
              <a:lnSpc>
                <a:spcPct val="100000"/>
              </a:lnSpc>
              <a:spcBef>
                <a:spcPts val="0"/>
              </a:spcBef>
              <a:spcAft>
                <a:spcPts val="0"/>
              </a:spcAft>
              <a:buClr>
                <a:srgbClr val="000000"/>
              </a:buClr>
              <a:buSzPts val="3000"/>
              <a:buFont typeface="Arial"/>
              <a:buNone/>
            </a:pPr>
            <a:r>
              <a:rPr b="0" i="0" lang="en-US" sz="3000" u="none" cap="none" strike="noStrike">
                <a:solidFill>
                  <a:srgbClr val="FFFFFF"/>
                </a:solidFill>
                <a:latin typeface="Verdana"/>
                <a:ea typeface="Verdana"/>
                <a:cs typeface="Verdana"/>
                <a:sym typeface="Verdana"/>
              </a:rPr>
              <a:t>P.D.A COLLEGE OF ENGINEERING</a:t>
            </a:r>
            <a:endParaRPr b="0" i="0" sz="3000" u="none" cap="none" strike="noStrike">
              <a:solidFill>
                <a:srgbClr val="000000"/>
              </a:solidFill>
              <a:latin typeface="Verdana"/>
              <a:ea typeface="Verdana"/>
              <a:cs typeface="Verdana"/>
              <a:sym typeface="Verdana"/>
            </a:endParaRPr>
          </a:p>
          <a:p>
            <a:pPr indent="0" lvl="0" marL="12700" marR="0" rtl="0" algn="l">
              <a:lnSpc>
                <a:spcPct val="100000"/>
              </a:lnSpc>
              <a:spcBef>
                <a:spcPts val="630"/>
              </a:spcBef>
              <a:spcAft>
                <a:spcPts val="0"/>
              </a:spcAft>
              <a:buClr>
                <a:srgbClr val="000000"/>
              </a:buClr>
              <a:buSzPts val="1800"/>
              <a:buFont typeface="Arial"/>
              <a:buNone/>
            </a:pPr>
            <a:r>
              <a:rPr b="0" i="0" lang="en-US" sz="1800" u="none" cap="none" strike="noStrike">
                <a:solidFill>
                  <a:srgbClr val="FFFFFF"/>
                </a:solidFill>
                <a:latin typeface="Verdana"/>
                <a:ea typeface="Verdana"/>
                <a:cs typeface="Verdana"/>
                <a:sym typeface="Verdana"/>
              </a:rPr>
              <a:t>DEPARTMENT OF COMPUTER SCIENCE AND ENGINEERING</a:t>
            </a:r>
            <a:endParaRPr b="0" i="0" sz="1800" u="none" cap="none" strike="noStrike">
              <a:solidFill>
                <a:srgbClr val="000000"/>
              </a:solidFill>
              <a:latin typeface="Verdana"/>
              <a:ea typeface="Verdana"/>
              <a:cs typeface="Verdana"/>
              <a:sym typeface="Verdana"/>
            </a:endParaRPr>
          </a:p>
        </p:txBody>
      </p:sp>
      <p:pic>
        <p:nvPicPr>
          <p:cNvPr id="79" name="Google Shape;79;p7"/>
          <p:cNvPicPr preferRelativeResize="0"/>
          <p:nvPr/>
        </p:nvPicPr>
        <p:blipFill rotWithShape="1">
          <a:blip r:embed="rId6">
            <a:alphaModFix/>
          </a:blip>
          <a:srcRect b="0" l="0" r="0" t="0"/>
          <a:stretch/>
        </p:blipFill>
        <p:spPr>
          <a:xfrm>
            <a:off x="2953088" y="785075"/>
            <a:ext cx="2992721" cy="3035749"/>
          </a:xfrm>
          <a:prstGeom prst="rect">
            <a:avLst/>
          </a:prstGeom>
          <a:noFill/>
          <a:ln>
            <a:noFill/>
          </a:ln>
        </p:spPr>
      </p:pic>
      <p:sp>
        <p:nvSpPr>
          <p:cNvPr id="80" name="Google Shape;80;p7"/>
          <p:cNvSpPr txBox="1"/>
          <p:nvPr/>
        </p:nvSpPr>
        <p:spPr>
          <a:xfrm>
            <a:off x="493141" y="3549015"/>
            <a:ext cx="2809875" cy="635000"/>
          </a:xfrm>
          <a:prstGeom prst="rect">
            <a:avLst/>
          </a:prstGeom>
          <a:noFill/>
          <a:ln>
            <a:noFill/>
          </a:ln>
        </p:spPr>
        <p:txBody>
          <a:bodyPr anchorCtr="0" anchor="t" bIns="0" lIns="0" spcFirstLastPara="1" rIns="0" wrap="square" tIns="12700">
            <a:spAutoFit/>
          </a:bodyPr>
          <a:lstStyle/>
          <a:p>
            <a:pPr indent="-381000" lvl="0" marL="393065" marR="5080" rtl="0" algn="l">
              <a:lnSpc>
                <a:spcPct val="100000"/>
              </a:lnSpc>
              <a:spcBef>
                <a:spcPts val="0"/>
              </a:spcBef>
              <a:spcAft>
                <a:spcPts val="0"/>
              </a:spcAft>
              <a:buClr>
                <a:srgbClr val="000000"/>
              </a:buClr>
              <a:buSzPts val="2000"/>
              <a:buFont typeface="Arial"/>
              <a:buNone/>
            </a:pPr>
            <a:r>
              <a:rPr b="1" i="0" lang="en-US" sz="2000" u="none" cap="none" strike="noStrike">
                <a:solidFill>
                  <a:srgbClr val="FFFFFF"/>
                </a:solidFill>
                <a:latin typeface="Trebuchet MS"/>
                <a:ea typeface="Trebuchet MS"/>
                <a:cs typeface="Trebuchet MS"/>
                <a:sym typeface="Trebuchet MS"/>
              </a:rPr>
              <a:t>Under the Guidance of: Dr. Anita Harsoor</a:t>
            </a:r>
            <a:endParaRPr b="0" i="0" sz="2000" u="none" cap="none" strike="noStrike">
              <a:solidFill>
                <a:srgbClr val="000000"/>
              </a:solidFill>
              <a:latin typeface="Trebuchet MS"/>
              <a:ea typeface="Trebuchet MS"/>
              <a:cs typeface="Trebuchet MS"/>
              <a:sym typeface="Trebuchet M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8"/>
          <p:cNvSpPr txBox="1"/>
          <p:nvPr/>
        </p:nvSpPr>
        <p:spPr>
          <a:xfrm>
            <a:off x="764750" y="1373556"/>
            <a:ext cx="8040300" cy="2182800"/>
          </a:xfrm>
          <a:prstGeom prst="rect">
            <a:avLst/>
          </a:prstGeom>
          <a:noFill/>
          <a:ln>
            <a:noFill/>
          </a:ln>
        </p:spPr>
        <p:txBody>
          <a:bodyPr anchorCtr="0" anchor="t" bIns="0" lIns="0" spcFirstLastPara="1" rIns="0" wrap="square" tIns="12700">
            <a:spAutoFit/>
          </a:bodyPr>
          <a:lstStyle/>
          <a:p>
            <a:pPr indent="0" lvl="0" marL="12700" marR="120014" rtl="0" algn="l">
              <a:lnSpc>
                <a:spcPct val="114999"/>
              </a:lnSpc>
              <a:spcBef>
                <a:spcPts val="0"/>
              </a:spcBef>
              <a:spcAft>
                <a:spcPts val="0"/>
              </a:spcAft>
              <a:buClr>
                <a:srgbClr val="000000"/>
              </a:buClr>
              <a:buSzPts val="1400"/>
              <a:buFont typeface="Arial"/>
              <a:buNone/>
            </a:pPr>
            <a:r>
              <a:rPr b="1" i="0" lang="en-US" sz="1400" u="none" cap="none" strike="noStrike">
                <a:solidFill>
                  <a:srgbClr val="FFFFFF"/>
                </a:solidFill>
                <a:latin typeface="Cambria"/>
                <a:ea typeface="Cambria"/>
                <a:cs typeface="Cambria"/>
                <a:sym typeface="Cambria"/>
              </a:rPr>
              <a:t>AirSketch is an interactive web application that allows users to draw on a digital canvas using hand gestures detected through a webcam. By converting these gestures into drawing actions, the system eliminates the need for physical input devices while providing a smooth and responsive drawing experience.</a:t>
            </a:r>
            <a:endParaRPr b="0" i="0" sz="1400" u="none" cap="none" strike="noStrike">
              <a:solidFill>
                <a:srgbClr val="000000"/>
              </a:solidFill>
              <a:latin typeface="Cambria"/>
              <a:ea typeface="Cambria"/>
              <a:cs typeface="Cambria"/>
              <a:sym typeface="Cambria"/>
            </a:endParaRPr>
          </a:p>
          <a:p>
            <a:pPr indent="0" lvl="0" marL="12700" marR="299085" rtl="0" algn="l">
              <a:lnSpc>
                <a:spcPct val="114999"/>
              </a:lnSpc>
              <a:spcBef>
                <a:spcPts val="0"/>
              </a:spcBef>
              <a:spcAft>
                <a:spcPts val="0"/>
              </a:spcAft>
              <a:buClr>
                <a:srgbClr val="000000"/>
              </a:buClr>
              <a:buSzPts val="1400"/>
              <a:buFont typeface="Arial"/>
              <a:buNone/>
            </a:pPr>
            <a:r>
              <a:rPr b="1" i="0" lang="en-US" sz="1400" u="none" cap="none" strike="noStrike">
                <a:solidFill>
                  <a:srgbClr val="FFFFFF"/>
                </a:solidFill>
                <a:latin typeface="Cambria"/>
                <a:ea typeface="Cambria"/>
                <a:cs typeface="Cambria"/>
                <a:sym typeface="Cambria"/>
              </a:rPr>
              <a:t>Users will be able to draw by extending a single finger, change colors by performing specific gestures, switch to eraser mode, and clear the canvas and so on.</a:t>
            </a:r>
            <a:endParaRPr b="0" i="0" sz="1400" u="none" cap="none" strike="noStrike">
              <a:solidFill>
                <a:srgbClr val="000000"/>
              </a:solidFill>
              <a:latin typeface="Cambria"/>
              <a:ea typeface="Cambria"/>
              <a:cs typeface="Cambria"/>
              <a:sym typeface="Cambria"/>
            </a:endParaRPr>
          </a:p>
          <a:p>
            <a:pPr indent="0" lvl="0" marL="12700" marR="5080" rtl="0" algn="just">
              <a:lnSpc>
                <a:spcPct val="100000"/>
              </a:lnSpc>
              <a:spcBef>
                <a:spcPts val="285"/>
              </a:spcBef>
              <a:spcAft>
                <a:spcPts val="0"/>
              </a:spcAft>
              <a:buClr>
                <a:srgbClr val="000000"/>
              </a:buClr>
              <a:buSzPts val="1400"/>
              <a:buFont typeface="Arial"/>
              <a:buNone/>
            </a:pPr>
            <a:r>
              <a:rPr b="1" i="0" lang="en-US" sz="1400" u="none" cap="none" strike="noStrike">
                <a:solidFill>
                  <a:srgbClr val="FFFFFF"/>
                </a:solidFill>
                <a:latin typeface="Cambria"/>
                <a:ea typeface="Cambria"/>
                <a:cs typeface="Cambria"/>
                <a:sym typeface="Cambria"/>
              </a:rPr>
              <a:t>The system also promotes accessibility by enabling physically challenged users to interact with the application using simple hand and finger gestures. By eliminating the need for traditional input devices such as a mouse or stylus.</a:t>
            </a:r>
            <a:endParaRPr b="0" i="0" sz="1400" u="none" cap="none" strike="noStrike">
              <a:solidFill>
                <a:srgbClr val="000000"/>
              </a:solidFill>
              <a:latin typeface="Cambria"/>
              <a:ea typeface="Cambria"/>
              <a:cs typeface="Cambria"/>
              <a:sym typeface="Cambria"/>
            </a:endParaRPr>
          </a:p>
        </p:txBody>
      </p:sp>
      <p:pic>
        <p:nvPicPr>
          <p:cNvPr id="86" name="Google Shape;86;p8"/>
          <p:cNvPicPr preferRelativeResize="0"/>
          <p:nvPr/>
        </p:nvPicPr>
        <p:blipFill rotWithShape="1">
          <a:blip r:embed="rId3">
            <a:alphaModFix/>
          </a:blip>
          <a:srcRect b="0" l="0" r="0" t="0"/>
          <a:stretch/>
        </p:blipFill>
        <p:spPr>
          <a:xfrm>
            <a:off x="653325" y="454275"/>
            <a:ext cx="7875449" cy="744149"/>
          </a:xfrm>
          <a:prstGeom prst="rect">
            <a:avLst/>
          </a:prstGeom>
          <a:noFill/>
          <a:ln>
            <a:noFill/>
          </a:ln>
        </p:spPr>
      </p:pic>
      <p:sp>
        <p:nvSpPr>
          <p:cNvPr id="87" name="Google Shape;87;p8"/>
          <p:cNvSpPr txBox="1"/>
          <p:nvPr>
            <p:ph type="title"/>
          </p:nvPr>
        </p:nvSpPr>
        <p:spPr>
          <a:xfrm>
            <a:off x="2270730" y="522820"/>
            <a:ext cx="4678045" cy="528319"/>
          </a:xfrm>
          <a:prstGeom prst="rect">
            <a:avLst/>
          </a:prstGeom>
          <a:noFill/>
          <a:ln>
            <a:noFill/>
          </a:ln>
        </p:spPr>
        <p:txBody>
          <a:bodyPr anchorCtr="0" anchor="t" bIns="0" lIns="0" spcFirstLastPara="1" rIns="0" wrap="square" tIns="12700">
            <a:spAutoFit/>
          </a:bodyPr>
          <a:lstStyle/>
          <a:p>
            <a:pPr indent="0" lvl="0" marL="1198245" rtl="0" algn="l">
              <a:lnSpc>
                <a:spcPct val="100000"/>
              </a:lnSpc>
              <a:spcBef>
                <a:spcPts val="0"/>
              </a:spcBef>
              <a:spcAft>
                <a:spcPts val="0"/>
              </a:spcAft>
              <a:buSzPts val="1400"/>
              <a:buNone/>
            </a:pPr>
            <a:r>
              <a:rPr lang="en-US"/>
              <a:t>ABSTRACT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9"/>
          <p:cNvSpPr txBox="1"/>
          <p:nvPr/>
        </p:nvSpPr>
        <p:spPr>
          <a:xfrm>
            <a:off x="1477200" y="2057411"/>
            <a:ext cx="2340600" cy="1028700"/>
          </a:xfrm>
          <a:prstGeom prst="rect">
            <a:avLst/>
          </a:prstGeom>
          <a:noFill/>
          <a:ln>
            <a:noFill/>
          </a:ln>
        </p:spPr>
        <p:txBody>
          <a:bodyPr anchorCtr="0" anchor="t" bIns="0" lIns="0" spcFirstLastPara="1" rIns="0" wrap="square" tIns="12700">
            <a:spAutoFit/>
          </a:bodyPr>
          <a:lstStyle/>
          <a:p>
            <a:pPr indent="87630" lvl="0" marL="12700" marR="5080" rtl="0" algn="l">
              <a:lnSpc>
                <a:spcPct val="100000"/>
              </a:lnSpc>
              <a:spcBef>
                <a:spcPts val="0"/>
              </a:spcBef>
              <a:spcAft>
                <a:spcPts val="0"/>
              </a:spcAft>
              <a:buClr>
                <a:srgbClr val="000000"/>
              </a:buClr>
              <a:buSzPts val="3300"/>
              <a:buFont typeface="Arial"/>
              <a:buNone/>
            </a:pPr>
            <a:r>
              <a:rPr b="0" i="0" lang="en-US" sz="3300" u="none" cap="none" strike="noStrike">
                <a:solidFill>
                  <a:srgbClr val="FFFFFF"/>
                </a:solidFill>
                <a:latin typeface="Verdana"/>
                <a:ea typeface="Verdana"/>
                <a:cs typeface="Verdana"/>
                <a:sym typeface="Verdana"/>
              </a:rPr>
              <a:t>TABLE OF CONTENTS</a:t>
            </a:r>
            <a:endParaRPr b="0" i="0" sz="3300" u="none" cap="none" strike="noStrike">
              <a:solidFill>
                <a:srgbClr val="000000"/>
              </a:solidFill>
              <a:latin typeface="Verdana"/>
              <a:ea typeface="Verdana"/>
              <a:cs typeface="Verdana"/>
              <a:sym typeface="Verdana"/>
            </a:endParaRPr>
          </a:p>
        </p:txBody>
      </p:sp>
      <p:sp>
        <p:nvSpPr>
          <p:cNvPr id="93" name="Google Shape;93;p9"/>
          <p:cNvSpPr txBox="1"/>
          <p:nvPr>
            <p:ph type="title"/>
          </p:nvPr>
        </p:nvSpPr>
        <p:spPr>
          <a:xfrm>
            <a:off x="4292700" y="154058"/>
            <a:ext cx="2651125" cy="3911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sz="2400">
                <a:latin typeface="MS PGothic"/>
                <a:ea typeface="MS PGothic"/>
                <a:cs typeface="MS PGothic"/>
                <a:sym typeface="MS PGothic"/>
              </a:rPr>
              <a:t>❏	</a:t>
            </a:r>
            <a:r>
              <a:rPr lang="en-US" sz="2000">
                <a:solidFill>
                  <a:srgbClr val="FFBD33"/>
                </a:solidFill>
              </a:rPr>
              <a:t>INTRODUCTION</a:t>
            </a:r>
            <a:endParaRPr sz="2000">
              <a:latin typeface="MS PGothic"/>
              <a:ea typeface="MS PGothic"/>
              <a:cs typeface="MS PGothic"/>
              <a:sym typeface="MS PGothic"/>
            </a:endParaRPr>
          </a:p>
        </p:txBody>
      </p:sp>
      <p:sp>
        <p:nvSpPr>
          <p:cNvPr id="94" name="Google Shape;94;p9"/>
          <p:cNvSpPr txBox="1"/>
          <p:nvPr/>
        </p:nvSpPr>
        <p:spPr>
          <a:xfrm>
            <a:off x="4292699" y="501556"/>
            <a:ext cx="3289935" cy="4414520"/>
          </a:xfrm>
          <a:prstGeom prst="rect">
            <a:avLst/>
          </a:prstGeom>
          <a:noFill/>
          <a:ln>
            <a:noFill/>
          </a:ln>
        </p:spPr>
        <p:txBody>
          <a:bodyPr anchorCtr="0" anchor="t" bIns="0" lIns="0" spcFirstLastPara="1" rIns="0" wrap="square" tIns="195575">
            <a:spAutoFit/>
          </a:bodyPr>
          <a:lstStyle/>
          <a:p>
            <a:pPr indent="0" lvl="0" marL="12700" marR="0" rtl="0" algn="l">
              <a:lnSpc>
                <a:spcPct val="100000"/>
              </a:lnSpc>
              <a:spcBef>
                <a:spcPts val="0"/>
              </a:spcBef>
              <a:spcAft>
                <a:spcPts val="0"/>
              </a:spcAft>
              <a:buClr>
                <a:srgbClr val="000000"/>
              </a:buClr>
              <a:buSzPts val="2400"/>
              <a:buFont typeface="Arial"/>
              <a:buNone/>
            </a:pPr>
            <a:r>
              <a:rPr b="0" i="0" lang="en-US" sz="2400" u="none" cap="none" strike="noStrike">
                <a:solidFill>
                  <a:srgbClr val="FFFFFF"/>
                </a:solidFill>
                <a:latin typeface="MS PGothic"/>
                <a:ea typeface="MS PGothic"/>
                <a:cs typeface="MS PGothic"/>
                <a:sym typeface="MS PGothic"/>
              </a:rPr>
              <a:t>❏	</a:t>
            </a:r>
            <a:r>
              <a:rPr b="0" i="0" lang="en-US" sz="2000" u="none" cap="none" strike="noStrike">
                <a:solidFill>
                  <a:srgbClr val="FFBD33"/>
                </a:solidFill>
                <a:latin typeface="Verdana"/>
                <a:ea typeface="Verdana"/>
                <a:cs typeface="Verdana"/>
                <a:sym typeface="Verdana"/>
              </a:rPr>
              <a:t>LITERATURE SURVEY</a:t>
            </a:r>
            <a:endParaRPr b="0" i="0" sz="2000" u="none" cap="none" strike="noStrike">
              <a:solidFill>
                <a:srgbClr val="000000"/>
              </a:solidFill>
              <a:latin typeface="Verdana"/>
              <a:ea typeface="Verdana"/>
              <a:cs typeface="Verdana"/>
              <a:sym typeface="Verdana"/>
            </a:endParaRPr>
          </a:p>
          <a:p>
            <a:pPr indent="0" lvl="0" marL="12700" marR="0" rtl="0" algn="l">
              <a:lnSpc>
                <a:spcPct val="100000"/>
              </a:lnSpc>
              <a:spcBef>
                <a:spcPts val="1440"/>
              </a:spcBef>
              <a:spcAft>
                <a:spcPts val="0"/>
              </a:spcAft>
              <a:buClr>
                <a:srgbClr val="000000"/>
              </a:buClr>
              <a:buSzPts val="2400"/>
              <a:buFont typeface="Arial"/>
              <a:buNone/>
            </a:pPr>
            <a:r>
              <a:rPr b="0" i="0" lang="en-US" sz="2400" u="none" cap="none" strike="noStrike">
                <a:solidFill>
                  <a:srgbClr val="FFFFFF"/>
                </a:solidFill>
                <a:latin typeface="MS PGothic"/>
                <a:ea typeface="MS PGothic"/>
                <a:cs typeface="MS PGothic"/>
                <a:sym typeface="MS PGothic"/>
              </a:rPr>
              <a:t>❏	</a:t>
            </a:r>
            <a:r>
              <a:rPr b="0" i="0" lang="en-US" sz="2000" u="none" cap="none" strike="noStrike">
                <a:solidFill>
                  <a:srgbClr val="FFBD33"/>
                </a:solidFill>
                <a:latin typeface="Verdana"/>
                <a:ea typeface="Verdana"/>
                <a:cs typeface="Verdana"/>
                <a:sym typeface="Verdana"/>
              </a:rPr>
              <a:t>PROBLEM STATEMENT</a:t>
            </a:r>
            <a:endParaRPr b="0" i="0" sz="2000" u="none" cap="none" strike="noStrike">
              <a:solidFill>
                <a:srgbClr val="000000"/>
              </a:solidFill>
              <a:latin typeface="Verdana"/>
              <a:ea typeface="Verdana"/>
              <a:cs typeface="Verdana"/>
              <a:sym typeface="Verdana"/>
            </a:endParaRPr>
          </a:p>
          <a:p>
            <a:pPr indent="0" lvl="0" marL="12700" marR="0" rtl="0" algn="l">
              <a:lnSpc>
                <a:spcPct val="100000"/>
              </a:lnSpc>
              <a:spcBef>
                <a:spcPts val="1440"/>
              </a:spcBef>
              <a:spcAft>
                <a:spcPts val="0"/>
              </a:spcAft>
              <a:buClr>
                <a:srgbClr val="000000"/>
              </a:buClr>
              <a:buSzPts val="2400"/>
              <a:buFont typeface="Arial"/>
              <a:buNone/>
            </a:pPr>
            <a:r>
              <a:rPr b="0" i="0" lang="en-US" sz="2400" u="none" cap="none" strike="noStrike">
                <a:solidFill>
                  <a:srgbClr val="FFFFFF"/>
                </a:solidFill>
                <a:latin typeface="MS PGothic"/>
                <a:ea typeface="MS PGothic"/>
                <a:cs typeface="MS PGothic"/>
                <a:sym typeface="MS PGothic"/>
              </a:rPr>
              <a:t>❏	</a:t>
            </a:r>
            <a:r>
              <a:rPr b="0" i="0" lang="en-US" sz="2000" u="none" cap="none" strike="noStrike">
                <a:solidFill>
                  <a:srgbClr val="FFBD33"/>
                </a:solidFill>
                <a:latin typeface="Verdana"/>
                <a:ea typeface="Verdana"/>
                <a:cs typeface="Verdana"/>
                <a:sym typeface="Verdana"/>
              </a:rPr>
              <a:t>OBJECTIVES</a:t>
            </a:r>
            <a:endParaRPr b="0" i="0" sz="2000" u="none" cap="none" strike="noStrike">
              <a:solidFill>
                <a:srgbClr val="000000"/>
              </a:solidFill>
              <a:latin typeface="Verdana"/>
              <a:ea typeface="Verdana"/>
              <a:cs typeface="Verdana"/>
              <a:sym typeface="Verdana"/>
            </a:endParaRPr>
          </a:p>
          <a:p>
            <a:pPr indent="0" lvl="0" marL="12700" marR="0" rtl="0" algn="l">
              <a:lnSpc>
                <a:spcPct val="100000"/>
              </a:lnSpc>
              <a:spcBef>
                <a:spcPts val="1440"/>
              </a:spcBef>
              <a:spcAft>
                <a:spcPts val="0"/>
              </a:spcAft>
              <a:buClr>
                <a:srgbClr val="000000"/>
              </a:buClr>
              <a:buSzPts val="2400"/>
              <a:buFont typeface="Arial"/>
              <a:buNone/>
            </a:pPr>
            <a:r>
              <a:rPr b="0" i="0" lang="en-US" sz="2400" u="none" cap="none" strike="noStrike">
                <a:solidFill>
                  <a:srgbClr val="FFFFFF"/>
                </a:solidFill>
                <a:latin typeface="MS PGothic"/>
                <a:ea typeface="MS PGothic"/>
                <a:cs typeface="MS PGothic"/>
                <a:sym typeface="MS PGothic"/>
              </a:rPr>
              <a:t>❏	</a:t>
            </a:r>
            <a:r>
              <a:rPr b="0" i="0" lang="en-US" sz="2000" u="none" cap="none" strike="noStrike">
                <a:solidFill>
                  <a:srgbClr val="FFBD33"/>
                </a:solidFill>
                <a:latin typeface="Verdana"/>
                <a:ea typeface="Verdana"/>
                <a:cs typeface="Verdana"/>
                <a:sym typeface="Verdana"/>
              </a:rPr>
              <a:t>EXISTING SYSTEM</a:t>
            </a:r>
            <a:endParaRPr b="0" i="0" sz="2000" u="none" cap="none" strike="noStrike">
              <a:solidFill>
                <a:srgbClr val="000000"/>
              </a:solidFill>
              <a:latin typeface="Verdana"/>
              <a:ea typeface="Verdana"/>
              <a:cs typeface="Verdana"/>
              <a:sym typeface="Verdana"/>
            </a:endParaRPr>
          </a:p>
          <a:p>
            <a:pPr indent="0" lvl="0" marL="12700" marR="0" rtl="0" algn="l">
              <a:lnSpc>
                <a:spcPct val="100000"/>
              </a:lnSpc>
              <a:spcBef>
                <a:spcPts val="1440"/>
              </a:spcBef>
              <a:spcAft>
                <a:spcPts val="0"/>
              </a:spcAft>
              <a:buClr>
                <a:srgbClr val="000000"/>
              </a:buClr>
              <a:buSzPts val="2400"/>
              <a:buFont typeface="Arial"/>
              <a:buNone/>
            </a:pPr>
            <a:r>
              <a:rPr b="0" i="0" lang="en-US" sz="2400" u="none" cap="none" strike="noStrike">
                <a:solidFill>
                  <a:srgbClr val="FFFFFF"/>
                </a:solidFill>
                <a:latin typeface="MS PGothic"/>
                <a:ea typeface="MS PGothic"/>
                <a:cs typeface="MS PGothic"/>
                <a:sym typeface="MS PGothic"/>
              </a:rPr>
              <a:t>❏	</a:t>
            </a:r>
            <a:r>
              <a:rPr b="0" i="0" lang="en-US" sz="2000" u="none" cap="none" strike="noStrike">
                <a:solidFill>
                  <a:srgbClr val="FFBD33"/>
                </a:solidFill>
                <a:latin typeface="Verdana"/>
                <a:ea typeface="Verdana"/>
                <a:cs typeface="Verdana"/>
                <a:sym typeface="Verdana"/>
              </a:rPr>
              <a:t>PROPOSED SYSTEM</a:t>
            </a:r>
            <a:endParaRPr b="0" i="0" sz="2000" u="none" cap="none" strike="noStrike">
              <a:solidFill>
                <a:srgbClr val="000000"/>
              </a:solidFill>
              <a:latin typeface="Verdana"/>
              <a:ea typeface="Verdana"/>
              <a:cs typeface="Verdana"/>
              <a:sym typeface="Verdana"/>
            </a:endParaRPr>
          </a:p>
          <a:p>
            <a:pPr indent="0" lvl="0" marL="12700" marR="0" rtl="0" algn="l">
              <a:lnSpc>
                <a:spcPct val="100000"/>
              </a:lnSpc>
              <a:spcBef>
                <a:spcPts val="1440"/>
              </a:spcBef>
              <a:spcAft>
                <a:spcPts val="0"/>
              </a:spcAft>
              <a:buClr>
                <a:srgbClr val="000000"/>
              </a:buClr>
              <a:buSzPts val="2400"/>
              <a:buFont typeface="Arial"/>
              <a:buNone/>
            </a:pPr>
            <a:r>
              <a:rPr b="0" i="0" lang="en-US" sz="2400" u="none" cap="none" strike="noStrike">
                <a:solidFill>
                  <a:srgbClr val="FFFFFF"/>
                </a:solidFill>
                <a:latin typeface="MS PGothic"/>
                <a:ea typeface="MS PGothic"/>
                <a:cs typeface="MS PGothic"/>
                <a:sym typeface="MS PGothic"/>
              </a:rPr>
              <a:t>❏	</a:t>
            </a:r>
            <a:r>
              <a:rPr b="0" i="0" lang="en-US" sz="2000" u="none" cap="none" strike="noStrike">
                <a:solidFill>
                  <a:srgbClr val="FFBD33"/>
                </a:solidFill>
                <a:latin typeface="Verdana"/>
                <a:ea typeface="Verdana"/>
                <a:cs typeface="Verdana"/>
                <a:sym typeface="Verdana"/>
              </a:rPr>
              <a:t>METHODOLOGY</a:t>
            </a:r>
            <a:endParaRPr b="0" i="0" sz="2000" u="none" cap="none" strike="noStrike">
              <a:solidFill>
                <a:srgbClr val="000000"/>
              </a:solidFill>
              <a:latin typeface="Verdana"/>
              <a:ea typeface="Verdana"/>
              <a:cs typeface="Verdana"/>
              <a:sym typeface="Verdana"/>
            </a:endParaRPr>
          </a:p>
          <a:p>
            <a:pPr indent="0" lvl="0" marL="12700" marR="0" rtl="0" algn="l">
              <a:lnSpc>
                <a:spcPct val="100000"/>
              </a:lnSpc>
              <a:spcBef>
                <a:spcPts val="1440"/>
              </a:spcBef>
              <a:spcAft>
                <a:spcPts val="0"/>
              </a:spcAft>
              <a:buClr>
                <a:srgbClr val="000000"/>
              </a:buClr>
              <a:buSzPts val="2400"/>
              <a:buFont typeface="Arial"/>
              <a:buNone/>
            </a:pPr>
            <a:r>
              <a:rPr b="0" i="0" lang="en-US" sz="2400" u="none" cap="none" strike="noStrike">
                <a:solidFill>
                  <a:srgbClr val="FFFFFF"/>
                </a:solidFill>
                <a:latin typeface="MS PGothic"/>
                <a:ea typeface="MS PGothic"/>
                <a:cs typeface="MS PGothic"/>
                <a:sym typeface="MS PGothic"/>
              </a:rPr>
              <a:t>❏	</a:t>
            </a:r>
            <a:r>
              <a:rPr b="0" i="0" lang="en-US" sz="2000" u="none" cap="none" strike="noStrike">
                <a:solidFill>
                  <a:srgbClr val="FFBD33"/>
                </a:solidFill>
                <a:latin typeface="Verdana"/>
                <a:ea typeface="Verdana"/>
                <a:cs typeface="Verdana"/>
                <a:sym typeface="Verdana"/>
              </a:rPr>
              <a:t>CONCLUSION</a:t>
            </a:r>
            <a:endParaRPr b="0" i="0" sz="2000" u="none" cap="none" strike="noStrike">
              <a:solidFill>
                <a:srgbClr val="000000"/>
              </a:solidFill>
              <a:latin typeface="Verdana"/>
              <a:ea typeface="Verdana"/>
              <a:cs typeface="Verdana"/>
              <a:sym typeface="Verdana"/>
            </a:endParaRPr>
          </a:p>
          <a:p>
            <a:pPr indent="0" lvl="0" marL="12700" marR="0" rtl="0" algn="l">
              <a:lnSpc>
                <a:spcPct val="100000"/>
              </a:lnSpc>
              <a:spcBef>
                <a:spcPts val="1440"/>
              </a:spcBef>
              <a:spcAft>
                <a:spcPts val="0"/>
              </a:spcAft>
              <a:buClr>
                <a:srgbClr val="000000"/>
              </a:buClr>
              <a:buSzPts val="2400"/>
              <a:buFont typeface="Arial"/>
              <a:buNone/>
            </a:pPr>
            <a:r>
              <a:rPr b="0" i="0" lang="en-US" sz="2400" u="none" cap="none" strike="noStrike">
                <a:solidFill>
                  <a:srgbClr val="FFFFFF"/>
                </a:solidFill>
                <a:latin typeface="MS PGothic"/>
                <a:ea typeface="MS PGothic"/>
                <a:cs typeface="MS PGothic"/>
                <a:sym typeface="MS PGothic"/>
              </a:rPr>
              <a:t>❏	</a:t>
            </a:r>
            <a:r>
              <a:rPr b="0" i="0" lang="en-US" sz="2000" u="none" cap="none" strike="noStrike">
                <a:solidFill>
                  <a:srgbClr val="FFBD33"/>
                </a:solidFill>
                <a:latin typeface="Verdana"/>
                <a:ea typeface="Verdana"/>
                <a:cs typeface="Verdana"/>
                <a:sym typeface="Verdana"/>
              </a:rPr>
              <a:t>REFERENCES</a:t>
            </a:r>
            <a:endParaRPr b="0" i="0" sz="2000" u="none" cap="none" strike="noStrike">
              <a:solidFill>
                <a:srgbClr val="000000"/>
              </a:solidFill>
              <a:latin typeface="Verdana"/>
              <a:ea typeface="Verdana"/>
              <a:cs typeface="Verdana"/>
              <a:sym typeface="Verdana"/>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pic>
        <p:nvPicPr>
          <p:cNvPr id="99" name="Google Shape;99;p10"/>
          <p:cNvPicPr preferRelativeResize="0"/>
          <p:nvPr/>
        </p:nvPicPr>
        <p:blipFill rotWithShape="1">
          <a:blip r:embed="rId3">
            <a:alphaModFix/>
          </a:blip>
          <a:srcRect b="0" l="0" r="0" t="0"/>
          <a:stretch/>
        </p:blipFill>
        <p:spPr>
          <a:xfrm>
            <a:off x="653325" y="454275"/>
            <a:ext cx="7875449" cy="744149"/>
          </a:xfrm>
          <a:prstGeom prst="rect">
            <a:avLst/>
          </a:prstGeom>
          <a:noFill/>
          <a:ln>
            <a:noFill/>
          </a:ln>
        </p:spPr>
      </p:pic>
      <p:sp>
        <p:nvSpPr>
          <p:cNvPr id="100" name="Google Shape;100;p10"/>
          <p:cNvSpPr txBox="1"/>
          <p:nvPr>
            <p:ph type="title"/>
          </p:nvPr>
        </p:nvSpPr>
        <p:spPr>
          <a:xfrm>
            <a:off x="2270730" y="522820"/>
            <a:ext cx="4678045" cy="528319"/>
          </a:xfrm>
          <a:prstGeom prst="rect">
            <a:avLst/>
          </a:prstGeom>
          <a:noFill/>
          <a:ln>
            <a:noFill/>
          </a:ln>
        </p:spPr>
        <p:txBody>
          <a:bodyPr anchorCtr="0" anchor="t" bIns="0" lIns="0" spcFirstLastPara="1" rIns="0" wrap="square" tIns="12700">
            <a:spAutoFit/>
          </a:bodyPr>
          <a:lstStyle/>
          <a:p>
            <a:pPr indent="0" lvl="0" marL="715645" rtl="0" algn="l">
              <a:lnSpc>
                <a:spcPct val="100000"/>
              </a:lnSpc>
              <a:spcBef>
                <a:spcPts val="0"/>
              </a:spcBef>
              <a:spcAft>
                <a:spcPts val="0"/>
              </a:spcAft>
              <a:buSzPts val="1400"/>
              <a:buNone/>
            </a:pPr>
            <a:r>
              <a:rPr lang="en-US"/>
              <a:t>INTRODUCTION</a:t>
            </a:r>
            <a:endParaRPr/>
          </a:p>
        </p:txBody>
      </p:sp>
      <p:sp>
        <p:nvSpPr>
          <p:cNvPr id="101" name="Google Shape;101;p10"/>
          <p:cNvSpPr txBox="1"/>
          <p:nvPr/>
        </p:nvSpPr>
        <p:spPr>
          <a:xfrm>
            <a:off x="490985" y="1216815"/>
            <a:ext cx="8078400" cy="2223300"/>
          </a:xfrm>
          <a:prstGeom prst="rect">
            <a:avLst/>
          </a:prstGeom>
          <a:noFill/>
          <a:ln>
            <a:noFill/>
          </a:ln>
        </p:spPr>
        <p:txBody>
          <a:bodyPr anchorCtr="0" anchor="t" bIns="0" lIns="0" spcFirstLastPara="1" rIns="0" wrap="square" tIns="12700">
            <a:spAutoFit/>
          </a:bodyPr>
          <a:lstStyle/>
          <a:p>
            <a:pPr indent="-340360" lvl="0" marL="371475" marR="40640" rtl="0" algn="l">
              <a:lnSpc>
                <a:spcPct val="114999"/>
              </a:lnSpc>
              <a:spcBef>
                <a:spcPts val="0"/>
              </a:spcBef>
              <a:spcAft>
                <a:spcPts val="0"/>
              </a:spcAft>
              <a:buClr>
                <a:srgbClr val="FFFFFF"/>
              </a:buClr>
              <a:buSzPts val="1400"/>
              <a:buFont typeface="Arial"/>
              <a:buChar char="●"/>
            </a:pPr>
            <a:r>
              <a:rPr b="1" i="0" lang="en-US" sz="1400" u="none" cap="none" strike="noStrike">
                <a:solidFill>
                  <a:srgbClr val="FFFFFF"/>
                </a:solidFill>
                <a:latin typeface="Cambria"/>
                <a:ea typeface="Cambria"/>
                <a:cs typeface="Cambria"/>
                <a:sym typeface="Cambria"/>
              </a:rPr>
              <a:t>Hand gesture recognition is one of the most widely studied approaches in this field. By detecting and analyzing the movement and position of fingers and hands, computer systems can interpret specific gestures as commands. This technology has been used in various applications such as virtual reality environments, interactive gaming systems, smart classrooms, sign language recognition, and touchless control interfaces.</a:t>
            </a:r>
            <a:endParaRPr b="0" i="0" sz="1400" u="none" cap="none" strike="noStrike">
              <a:solidFill>
                <a:srgbClr val="000000"/>
              </a:solidFill>
              <a:latin typeface="Cambria"/>
              <a:ea typeface="Cambria"/>
              <a:cs typeface="Cambria"/>
              <a:sym typeface="Cambria"/>
            </a:endParaRPr>
          </a:p>
          <a:p>
            <a:pPr indent="0" lvl="0" marL="0" marR="0" rtl="0" algn="l">
              <a:lnSpc>
                <a:spcPct val="100000"/>
              </a:lnSpc>
              <a:spcBef>
                <a:spcPts val="350"/>
              </a:spcBef>
              <a:spcAft>
                <a:spcPts val="0"/>
              </a:spcAft>
              <a:buClr>
                <a:srgbClr val="FFFFFF"/>
              </a:buClr>
              <a:buSzPts val="1700"/>
              <a:buFont typeface="Arial"/>
              <a:buNone/>
            </a:pPr>
            <a:r>
              <a:t/>
            </a:r>
            <a:endParaRPr b="0" i="0" sz="1400" u="none" cap="none" strike="noStrike">
              <a:solidFill>
                <a:srgbClr val="000000"/>
              </a:solidFill>
              <a:latin typeface="Cambria"/>
              <a:ea typeface="Cambria"/>
              <a:cs typeface="Cambria"/>
              <a:sym typeface="Cambria"/>
            </a:endParaRPr>
          </a:p>
          <a:p>
            <a:pPr indent="-340360" lvl="0" marL="371475" marR="5080" rtl="0" algn="l">
              <a:lnSpc>
                <a:spcPct val="114999"/>
              </a:lnSpc>
              <a:spcBef>
                <a:spcPts val="0"/>
              </a:spcBef>
              <a:spcAft>
                <a:spcPts val="0"/>
              </a:spcAft>
              <a:buClr>
                <a:srgbClr val="FFFFFF"/>
              </a:buClr>
              <a:buSzPts val="1400"/>
              <a:buFont typeface="Arial"/>
              <a:buChar char="●"/>
            </a:pPr>
            <a:r>
              <a:rPr b="1" i="0" lang="en-US" sz="1400" u="none" cap="none" strike="noStrike">
                <a:solidFill>
                  <a:srgbClr val="FFFFFF"/>
                </a:solidFill>
                <a:latin typeface="Cambria"/>
                <a:ea typeface="Cambria"/>
                <a:cs typeface="Cambria"/>
                <a:sym typeface="Cambria"/>
              </a:rPr>
              <a:t>AirSketch aims to develop an interactive web application that enables users to draw on a digital canvas using hand gestures. The system will track hand movements, identify specific finger configurations, and translate these gestures into drawing actions.</a:t>
            </a:r>
            <a:endParaRPr b="0" i="0" sz="1400" u="none" cap="none" strike="noStrike">
              <a:solidFill>
                <a:srgbClr val="000000"/>
              </a:solidFill>
              <a:latin typeface="Cambria"/>
              <a:ea typeface="Cambria"/>
              <a:cs typeface="Cambria"/>
              <a:sym typeface="Cambri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1"/>
          <p:cNvSpPr txBox="1"/>
          <p:nvPr>
            <p:ph idx="1" type="body"/>
          </p:nvPr>
        </p:nvSpPr>
        <p:spPr>
          <a:xfrm>
            <a:off x="420299" y="916607"/>
            <a:ext cx="8377500" cy="21027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SzPts val="1400"/>
              <a:buNone/>
            </a:pPr>
            <a:r>
              <a:rPr lang="en-US" sz="1200">
                <a:latin typeface="Times New Roman"/>
                <a:ea typeface="Times New Roman"/>
                <a:cs typeface="Times New Roman"/>
                <a:sym typeface="Times New Roman"/>
              </a:rPr>
              <a:t>[</a:t>
            </a:r>
            <a:r>
              <a:rPr lang="en-US" sz="1300">
                <a:latin typeface="Times New Roman"/>
                <a:ea typeface="Times New Roman"/>
                <a:cs typeface="Times New Roman"/>
                <a:sym typeface="Times New Roman"/>
              </a:rPr>
              <a:t>1]Skeleton-based Online Micro Hand Gesture Recognition Authors: H. Chang, P. Ren, B. Zhang, D. Li, T. Han, H. Zhang, L. Xie, H. Chen, and E. Yin,2026:</a:t>
            </a:r>
            <a:endParaRPr sz="1300">
              <a:latin typeface="Times New Roman"/>
              <a:ea typeface="Times New Roman"/>
              <a:cs typeface="Times New Roman"/>
              <a:sym typeface="Times New Roman"/>
            </a:endParaRPr>
          </a:p>
          <a:p>
            <a:pPr indent="0" lvl="0" marL="0" rtl="0" algn="l">
              <a:lnSpc>
                <a:spcPct val="115000"/>
              </a:lnSpc>
              <a:spcBef>
                <a:spcPts val="200"/>
              </a:spcBef>
              <a:spcAft>
                <a:spcPts val="0"/>
              </a:spcAft>
              <a:buSzPts val="1400"/>
              <a:buNone/>
            </a:pPr>
            <a:r>
              <a:t/>
            </a:r>
            <a:endParaRPr sz="1300">
              <a:latin typeface="Times New Roman"/>
              <a:ea typeface="Times New Roman"/>
              <a:cs typeface="Times New Roman"/>
              <a:sym typeface="Times New Roman"/>
            </a:endParaRPr>
          </a:p>
          <a:p>
            <a:pPr indent="0" lvl="0" marL="0" rtl="0" algn="l">
              <a:lnSpc>
                <a:spcPct val="115000"/>
              </a:lnSpc>
              <a:spcBef>
                <a:spcPts val="200"/>
              </a:spcBef>
              <a:spcAft>
                <a:spcPts val="0"/>
              </a:spcAft>
              <a:buClr>
                <a:schemeClr val="dk1"/>
              </a:buClr>
              <a:buSzPts val="1100"/>
              <a:buFont typeface="Arial"/>
              <a:buNone/>
            </a:pPr>
            <a:r>
              <a:rPr lang="en-US" sz="1300">
                <a:latin typeface="Times New Roman"/>
                <a:ea typeface="Times New Roman"/>
                <a:cs typeface="Times New Roman"/>
                <a:sym typeface="Times New Roman"/>
              </a:rPr>
              <a:t>The work by Haochen Chang et al. presents OMG-Bench, a large-scale dataset for skeleton-based online micro hand gesture recognition. It introduces HMATr, a transformer model with hierarchical memory, enabling accurate real-time detection of subtle gestures, supporting precise and responsive interaction systems relevant to the AirSketch project. It implements real time hand tracking using MediaPipe and OpenCV. However it is sensitive to camera based lighting and digital noises.</a:t>
            </a:r>
            <a:endParaRPr sz="1300">
              <a:latin typeface="Times New Roman"/>
              <a:ea typeface="Times New Roman"/>
              <a:cs typeface="Times New Roman"/>
              <a:sym typeface="Times New Roman"/>
            </a:endParaRPr>
          </a:p>
          <a:p>
            <a:pPr indent="0" lvl="0" marL="0" rtl="0" algn="l">
              <a:lnSpc>
                <a:spcPct val="100000"/>
              </a:lnSpc>
              <a:spcBef>
                <a:spcPts val="200"/>
              </a:spcBef>
              <a:spcAft>
                <a:spcPts val="0"/>
              </a:spcAft>
              <a:buSzPts val="1400"/>
              <a:buNone/>
            </a:pPr>
            <a:r>
              <a:t/>
            </a:r>
            <a:endParaRPr b="0" sz="1200">
              <a:latin typeface="Times New Roman"/>
              <a:ea typeface="Times New Roman"/>
              <a:cs typeface="Times New Roman"/>
              <a:sym typeface="Times New Roman"/>
            </a:endParaRPr>
          </a:p>
        </p:txBody>
      </p:sp>
      <p:sp>
        <p:nvSpPr>
          <p:cNvPr id="107" name="Google Shape;107;p11"/>
          <p:cNvSpPr txBox="1"/>
          <p:nvPr/>
        </p:nvSpPr>
        <p:spPr>
          <a:xfrm>
            <a:off x="312465" y="2923123"/>
            <a:ext cx="7990200" cy="16509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200"/>
              <a:buFont typeface="Arial"/>
              <a:buNone/>
            </a:pPr>
            <a:r>
              <a:rPr b="1" i="0" lang="en-US" sz="1200" u="none" cap="none" strike="noStrike">
                <a:solidFill>
                  <a:schemeClr val="lt1"/>
                </a:solidFill>
                <a:latin typeface="Times New Roman"/>
                <a:ea typeface="Times New Roman"/>
                <a:cs typeface="Times New Roman"/>
                <a:sym typeface="Times New Roman"/>
              </a:rPr>
              <a:t>[</a:t>
            </a:r>
            <a:r>
              <a:rPr b="1" i="0" lang="en-US" sz="1300" u="none" cap="none" strike="noStrike">
                <a:solidFill>
                  <a:schemeClr val="lt1"/>
                </a:solidFill>
                <a:latin typeface="Times New Roman"/>
                <a:ea typeface="Times New Roman"/>
                <a:cs typeface="Times New Roman"/>
                <a:sym typeface="Times New Roman"/>
              </a:rPr>
              <a:t>2]Dynamic LIBRAS Gesture Recognition via CNN over Spatiotemporal Matrix Representation. Authors: J. Moreira, 2026</a:t>
            </a:r>
            <a:endParaRPr b="1" i="0" sz="1300" u="none" cap="none" strike="noStrike">
              <a:solidFill>
                <a:schemeClr val="lt1"/>
              </a:solidFill>
              <a:latin typeface="Times New Roman"/>
              <a:ea typeface="Times New Roman"/>
              <a:cs typeface="Times New Roman"/>
              <a:sym typeface="Times New Roman"/>
            </a:endParaRPr>
          </a:p>
          <a:p>
            <a:pPr indent="0" lvl="0" marL="0" marR="0" rtl="0" algn="l">
              <a:lnSpc>
                <a:spcPct val="115000"/>
              </a:lnSpc>
              <a:spcBef>
                <a:spcPts val="900"/>
              </a:spcBef>
              <a:spcAft>
                <a:spcPts val="900"/>
              </a:spcAft>
              <a:buClr>
                <a:srgbClr val="000000"/>
              </a:buClr>
              <a:buSzPts val="1300"/>
              <a:buFont typeface="Arial"/>
              <a:buNone/>
            </a:pPr>
            <a:r>
              <a:rPr b="1" i="0" lang="en-US" sz="1300" u="none" cap="none" strike="noStrike">
                <a:solidFill>
                  <a:schemeClr val="lt1"/>
                </a:solidFill>
                <a:latin typeface="Times New Roman"/>
                <a:ea typeface="Times New Roman"/>
                <a:cs typeface="Times New Roman"/>
                <a:sym typeface="Times New Roman"/>
              </a:rPr>
              <a:t>The study by J. Moreira proposes a CNN-based approach using spatiotemporal matrix representation for dynamic LIBRAS gesture recognition. It effectively captures motion patterns and improves classification accuracy. However, it is computationally intensive and less suitable for real-time applications. Overall, it demonstrates strong performance but faces scalability and deployment limitations in practical systems.</a:t>
            </a:r>
            <a:endParaRPr b="1" i="0" sz="1300" u="none" cap="none" strike="noStrike">
              <a:solidFill>
                <a:schemeClr val="lt1"/>
              </a:solidFill>
              <a:latin typeface="Times New Roman"/>
              <a:ea typeface="Times New Roman"/>
              <a:cs typeface="Times New Roman"/>
              <a:sym typeface="Times New Roman"/>
            </a:endParaRPr>
          </a:p>
        </p:txBody>
      </p:sp>
      <p:pic>
        <p:nvPicPr>
          <p:cNvPr id="108" name="Google Shape;108;p11"/>
          <p:cNvPicPr preferRelativeResize="0"/>
          <p:nvPr/>
        </p:nvPicPr>
        <p:blipFill rotWithShape="1">
          <a:blip r:embed="rId3">
            <a:alphaModFix/>
          </a:blip>
          <a:srcRect b="0" l="0" r="0" t="0"/>
          <a:stretch/>
        </p:blipFill>
        <p:spPr>
          <a:xfrm>
            <a:off x="558800" y="161750"/>
            <a:ext cx="7875450" cy="748168"/>
          </a:xfrm>
          <a:prstGeom prst="rect">
            <a:avLst/>
          </a:prstGeom>
          <a:noFill/>
          <a:ln>
            <a:noFill/>
          </a:ln>
        </p:spPr>
      </p:pic>
      <p:sp>
        <p:nvSpPr>
          <p:cNvPr id="109" name="Google Shape;109;p11"/>
          <p:cNvSpPr txBox="1"/>
          <p:nvPr/>
        </p:nvSpPr>
        <p:spPr>
          <a:xfrm>
            <a:off x="312475" y="269575"/>
            <a:ext cx="8302800" cy="563400"/>
          </a:xfrm>
          <a:prstGeom prst="rect">
            <a:avLst/>
          </a:prstGeom>
          <a:noFill/>
          <a:ln>
            <a:noFill/>
          </a:ln>
        </p:spPr>
        <p:txBody>
          <a:bodyPr anchorCtr="0" anchor="t" bIns="91425" lIns="91425" spcFirstLastPara="1" rIns="91425" wrap="square" tIns="91425">
            <a:spAutoFit/>
          </a:bodyPr>
          <a:lstStyle/>
          <a:p>
            <a:pPr indent="0" lvl="0" marL="183515" marR="0" rtl="0" algn="ctr">
              <a:lnSpc>
                <a:spcPct val="74545"/>
              </a:lnSpc>
              <a:spcBef>
                <a:spcPts val="0"/>
              </a:spcBef>
              <a:spcAft>
                <a:spcPts val="0"/>
              </a:spcAft>
              <a:buClr>
                <a:srgbClr val="000000"/>
              </a:buClr>
              <a:buSzPts val="3300"/>
              <a:buFont typeface="Arial"/>
              <a:buNone/>
            </a:pPr>
            <a:r>
              <a:rPr b="0" i="0" lang="en-US" sz="3300" u="none" cap="none" strike="noStrike">
                <a:solidFill>
                  <a:schemeClr val="lt1"/>
                </a:solidFill>
                <a:latin typeface="Verdana"/>
                <a:ea typeface="Verdana"/>
                <a:cs typeface="Verdana"/>
                <a:sym typeface="Verdana"/>
              </a:rPr>
              <a:t>LITERATURE SURVEY</a:t>
            </a:r>
            <a:endParaRPr b="0" i="0" sz="3300" u="none" cap="none" strike="noStrike">
              <a:solidFill>
                <a:schemeClr val="dk1"/>
              </a:solidFill>
              <a:latin typeface="Verdana"/>
              <a:ea typeface="Verdana"/>
              <a:cs typeface="Verdana"/>
              <a:sym typeface="Verdana"/>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2"/>
          <p:cNvSpPr txBox="1"/>
          <p:nvPr>
            <p:ph idx="1" type="body"/>
          </p:nvPr>
        </p:nvSpPr>
        <p:spPr>
          <a:xfrm>
            <a:off x="420299" y="905824"/>
            <a:ext cx="8377500" cy="17964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Clr>
                <a:schemeClr val="dk1"/>
              </a:buClr>
              <a:buSzPts val="1100"/>
              <a:buFont typeface="Arial"/>
              <a:buNone/>
            </a:pPr>
            <a:r>
              <a:rPr lang="en-US" sz="1300">
                <a:latin typeface="Times New Roman"/>
                <a:ea typeface="Times New Roman"/>
                <a:cs typeface="Times New Roman"/>
                <a:sym typeface="Times New Roman"/>
              </a:rPr>
              <a:t>[3] Painting with Hand Gestures using MediaPipe Authors: R. Vasavi, N. Rahul, A. Snigdha, K. J. Moses, and S. V. Simha, 2022.</a:t>
            </a:r>
            <a:endParaRPr sz="1300">
              <a:latin typeface="Times New Roman"/>
              <a:ea typeface="Times New Roman"/>
              <a:cs typeface="Times New Roman"/>
              <a:sym typeface="Times New Roman"/>
            </a:endParaRPr>
          </a:p>
          <a:p>
            <a:pPr indent="0" lvl="0" marL="0" rtl="0" algn="l">
              <a:lnSpc>
                <a:spcPct val="115000"/>
              </a:lnSpc>
              <a:spcBef>
                <a:spcPts val="900"/>
              </a:spcBef>
              <a:spcAft>
                <a:spcPts val="0"/>
              </a:spcAft>
              <a:buClr>
                <a:schemeClr val="dk1"/>
              </a:buClr>
              <a:buSzPts val="1100"/>
              <a:buFont typeface="Arial"/>
              <a:buNone/>
            </a:pPr>
            <a:r>
              <a:rPr lang="en-US" sz="1300">
                <a:latin typeface="Times New Roman"/>
                <a:ea typeface="Times New Roman"/>
                <a:cs typeface="Times New Roman"/>
                <a:sym typeface="Times New Roman"/>
              </a:rPr>
              <a:t>The study by R. Vasavi et al. presents a hand gesture–based virtual painting system using MediaPipe. It enables real-time hand tracking and intuitive drawing without physical contact. However, performance is affected by lighting conditions and occlusions. Overall, it is efficient, user-friendly, and highly relevant for interactive systems like AirSketch.</a:t>
            </a:r>
            <a:endParaRPr sz="1300">
              <a:latin typeface="Times New Roman"/>
              <a:ea typeface="Times New Roman"/>
              <a:cs typeface="Times New Roman"/>
              <a:sym typeface="Times New Roman"/>
            </a:endParaRPr>
          </a:p>
          <a:p>
            <a:pPr indent="0" lvl="0" marL="0" rtl="0" algn="l">
              <a:lnSpc>
                <a:spcPct val="100000"/>
              </a:lnSpc>
              <a:spcBef>
                <a:spcPts val="900"/>
              </a:spcBef>
              <a:spcAft>
                <a:spcPts val="0"/>
              </a:spcAft>
              <a:buSzPts val="1400"/>
              <a:buNone/>
            </a:pPr>
            <a:r>
              <a:t/>
            </a:r>
            <a:endParaRPr sz="1200">
              <a:latin typeface="Times New Roman"/>
              <a:ea typeface="Times New Roman"/>
              <a:cs typeface="Times New Roman"/>
              <a:sym typeface="Times New Roman"/>
            </a:endParaRPr>
          </a:p>
        </p:txBody>
      </p:sp>
      <p:sp>
        <p:nvSpPr>
          <p:cNvPr id="115" name="Google Shape;115;p12"/>
          <p:cNvSpPr txBox="1"/>
          <p:nvPr/>
        </p:nvSpPr>
        <p:spPr>
          <a:xfrm>
            <a:off x="312709" y="2566344"/>
            <a:ext cx="7515900" cy="14208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300"/>
              <a:buFont typeface="Arial"/>
              <a:buNone/>
            </a:pPr>
            <a:r>
              <a:rPr b="1" i="0" lang="en-US" sz="1300" u="none" cap="none" strike="noStrike">
                <a:solidFill>
                  <a:schemeClr val="lt1"/>
                </a:solidFill>
                <a:latin typeface="Times New Roman"/>
                <a:ea typeface="Times New Roman"/>
                <a:cs typeface="Times New Roman"/>
                <a:sym typeface="Times New Roman"/>
              </a:rPr>
              <a:t>[4] Air Canvas Hand Tracking, Authors: A. Swathi, 2024.</a:t>
            </a:r>
            <a:endParaRPr b="1" i="0" sz="1300" u="none" cap="none" strike="noStrike">
              <a:solidFill>
                <a:schemeClr val="lt1"/>
              </a:solidFill>
              <a:latin typeface="Times New Roman"/>
              <a:ea typeface="Times New Roman"/>
              <a:cs typeface="Times New Roman"/>
              <a:sym typeface="Times New Roman"/>
            </a:endParaRPr>
          </a:p>
          <a:p>
            <a:pPr indent="0" lvl="0" marL="0" marR="0" rtl="0" algn="l">
              <a:lnSpc>
                <a:spcPct val="115000"/>
              </a:lnSpc>
              <a:spcBef>
                <a:spcPts val="900"/>
              </a:spcBef>
              <a:spcAft>
                <a:spcPts val="900"/>
              </a:spcAft>
              <a:buClr>
                <a:srgbClr val="000000"/>
              </a:buClr>
              <a:buSzPts val="1300"/>
              <a:buFont typeface="Arial"/>
              <a:buNone/>
            </a:pPr>
            <a:r>
              <a:rPr b="1" i="0" lang="en-US" sz="1300" u="none" cap="none" strike="noStrike">
                <a:solidFill>
                  <a:schemeClr val="lt1"/>
                </a:solidFill>
                <a:latin typeface="Times New Roman"/>
                <a:ea typeface="Times New Roman"/>
                <a:cs typeface="Times New Roman"/>
                <a:sym typeface="Times New Roman"/>
              </a:rPr>
              <a:t>The work by A. Swathi presents an Air Canvas system using hand tracking for virtual drawing. It enables real-time, touchless interaction using computer vision techniques. However, performance is sensitive to lighting, background noise, and camera quality. Overall, it is practical, low-cost, and relevant for gesture-based systems like AirSketch.</a:t>
            </a:r>
            <a:endParaRPr b="1" i="0" sz="1300" u="none" cap="none" strike="noStrike">
              <a:solidFill>
                <a:schemeClr val="lt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3"/>
          <p:cNvSpPr txBox="1"/>
          <p:nvPr>
            <p:ph idx="1" type="body"/>
          </p:nvPr>
        </p:nvSpPr>
        <p:spPr>
          <a:xfrm>
            <a:off x="420299" y="1013654"/>
            <a:ext cx="8377500" cy="18117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Clr>
                <a:schemeClr val="dk1"/>
              </a:buClr>
              <a:buSzPts val="1100"/>
              <a:buFont typeface="Arial"/>
              <a:buNone/>
            </a:pPr>
            <a:r>
              <a:rPr lang="en-US" sz="1300">
                <a:latin typeface="Times New Roman"/>
                <a:ea typeface="Times New Roman"/>
                <a:cs typeface="Times New Roman"/>
                <a:sym typeface="Times New Roman"/>
              </a:rPr>
              <a:t>[5]A Deep Learning-based Multimodal Depth-Aware Dynamic Hand Gesture Recognition System Authors: H. Mahmud, M. M. Morshed, and Md. et al., " 2022.</a:t>
            </a:r>
            <a:endParaRPr sz="1300">
              <a:latin typeface="Times New Roman"/>
              <a:ea typeface="Times New Roman"/>
              <a:cs typeface="Times New Roman"/>
              <a:sym typeface="Times New Roman"/>
            </a:endParaRPr>
          </a:p>
          <a:p>
            <a:pPr indent="0" lvl="0" marL="0" rtl="0" algn="l">
              <a:lnSpc>
                <a:spcPct val="115000"/>
              </a:lnSpc>
              <a:spcBef>
                <a:spcPts val="900"/>
              </a:spcBef>
              <a:spcAft>
                <a:spcPts val="0"/>
              </a:spcAft>
              <a:buClr>
                <a:schemeClr val="dk1"/>
              </a:buClr>
              <a:buSzPts val="1100"/>
              <a:buFont typeface="Arial"/>
              <a:buNone/>
            </a:pPr>
            <a:r>
              <a:rPr lang="en-US" sz="1300">
                <a:latin typeface="Times New Roman"/>
                <a:ea typeface="Times New Roman"/>
                <a:cs typeface="Times New Roman"/>
                <a:sym typeface="Times New Roman"/>
              </a:rPr>
              <a:t>The study by H. Mahmud et al. proposes a deep learning-based multimodal, depth-aware system for dynamic hand gesture recognition. It combines RGB and depth data to improve accuracy and robustness. However, it requires specialized sensors and higher computation. Overall, it achieves strong performance but limits scalability in low-cost, real-time applications like AirSketch.</a:t>
            </a:r>
            <a:endParaRPr sz="1300">
              <a:latin typeface="Times New Roman"/>
              <a:ea typeface="Times New Roman"/>
              <a:cs typeface="Times New Roman"/>
              <a:sym typeface="Times New Roman"/>
            </a:endParaRPr>
          </a:p>
          <a:p>
            <a:pPr indent="0" lvl="0" marL="0" rtl="0" algn="l">
              <a:lnSpc>
                <a:spcPct val="100000"/>
              </a:lnSpc>
              <a:spcBef>
                <a:spcPts val="900"/>
              </a:spcBef>
              <a:spcAft>
                <a:spcPts val="0"/>
              </a:spcAft>
              <a:buSzPts val="1400"/>
              <a:buNone/>
            </a:pPr>
            <a:r>
              <a:t/>
            </a:r>
            <a:endParaRPr sz="1300">
              <a:latin typeface="Times New Roman"/>
              <a:ea typeface="Times New Roman"/>
              <a:cs typeface="Times New Roman"/>
              <a:sym typeface="Times New Roman"/>
            </a:endParaRPr>
          </a:p>
        </p:txBody>
      </p:sp>
      <p:sp>
        <p:nvSpPr>
          <p:cNvPr id="121" name="Google Shape;121;p13"/>
          <p:cNvSpPr txBox="1"/>
          <p:nvPr>
            <p:ph idx="1" type="body"/>
          </p:nvPr>
        </p:nvSpPr>
        <p:spPr>
          <a:xfrm>
            <a:off x="410946" y="2708038"/>
            <a:ext cx="8377500" cy="18117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Clr>
                <a:schemeClr val="dk1"/>
              </a:buClr>
              <a:buSzPts val="1100"/>
              <a:buFont typeface="Arial"/>
              <a:buNone/>
            </a:pPr>
            <a:r>
              <a:rPr lang="en-US" sz="1300">
                <a:latin typeface="Times New Roman"/>
                <a:ea typeface="Times New Roman"/>
                <a:cs typeface="Times New Roman"/>
                <a:sym typeface="Times New Roman"/>
              </a:rPr>
              <a:t>[6]Hand Gesture Recognition using Image Processing and Feature Extraction Techniques, Authors: A. Sharma, A. Mittal, S. Singh, and V. Awatramani, 2020.</a:t>
            </a:r>
            <a:endParaRPr sz="1300">
              <a:latin typeface="Times New Roman"/>
              <a:ea typeface="Times New Roman"/>
              <a:cs typeface="Times New Roman"/>
              <a:sym typeface="Times New Roman"/>
            </a:endParaRPr>
          </a:p>
          <a:p>
            <a:pPr indent="0" lvl="0" marL="0" rtl="0" algn="l">
              <a:lnSpc>
                <a:spcPct val="115000"/>
              </a:lnSpc>
              <a:spcBef>
                <a:spcPts val="900"/>
              </a:spcBef>
              <a:spcAft>
                <a:spcPts val="0"/>
              </a:spcAft>
              <a:buClr>
                <a:schemeClr val="dk1"/>
              </a:buClr>
              <a:buSzPts val="1100"/>
              <a:buFont typeface="Arial"/>
              <a:buNone/>
            </a:pPr>
            <a:r>
              <a:rPr lang="en-US" sz="1300">
                <a:latin typeface="Times New Roman"/>
                <a:ea typeface="Times New Roman"/>
                <a:cs typeface="Times New Roman"/>
                <a:sym typeface="Times New Roman"/>
              </a:rPr>
              <a:t>The study by A. Sharma et al. presents a hand gesture recognition system using image processing and feature extraction techniques. It identifies gestures through contour and shape analysis. However, it is sensitive to background noise and lighting variations. Overall, it is simple and effective but less robust for complex, real-time AirSketch applications.</a:t>
            </a:r>
            <a:endParaRPr sz="1300">
              <a:latin typeface="Times New Roman"/>
              <a:ea typeface="Times New Roman"/>
              <a:cs typeface="Times New Roman"/>
              <a:sym typeface="Times New Roman"/>
            </a:endParaRPr>
          </a:p>
          <a:p>
            <a:pPr indent="0" lvl="0" marL="0" rtl="0" algn="l">
              <a:lnSpc>
                <a:spcPct val="100000"/>
              </a:lnSpc>
              <a:spcBef>
                <a:spcPts val="900"/>
              </a:spcBef>
              <a:spcAft>
                <a:spcPts val="0"/>
              </a:spcAft>
              <a:buSzPts val="1400"/>
              <a:buNone/>
            </a:pPr>
            <a:r>
              <a:t/>
            </a:r>
            <a:endParaRPr sz="1300">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4"/>
          <p:cNvSpPr txBox="1"/>
          <p:nvPr>
            <p:ph idx="1" type="body"/>
          </p:nvPr>
        </p:nvSpPr>
        <p:spPr>
          <a:xfrm>
            <a:off x="420299" y="981305"/>
            <a:ext cx="8377500" cy="18117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Clr>
                <a:schemeClr val="dk1"/>
              </a:buClr>
              <a:buSzPts val="1100"/>
              <a:buFont typeface="Arial"/>
              <a:buNone/>
            </a:pPr>
            <a:r>
              <a:rPr lang="en-US" sz="1300">
                <a:latin typeface="Times New Roman"/>
                <a:ea typeface="Times New Roman"/>
                <a:cs typeface="Times New Roman"/>
                <a:sym typeface="Times New Roman"/>
              </a:rPr>
              <a:t>[7] Computer Vision-based Hand Gesture Recognition for Human-Robot Interaction Authors: J. Qi, L. Ma, Z. Cui, and Y. Yu, 2023.</a:t>
            </a:r>
            <a:endParaRPr sz="1300">
              <a:latin typeface="Times New Roman"/>
              <a:ea typeface="Times New Roman"/>
              <a:cs typeface="Times New Roman"/>
              <a:sym typeface="Times New Roman"/>
            </a:endParaRPr>
          </a:p>
          <a:p>
            <a:pPr indent="0" lvl="0" marL="0" rtl="0" algn="l">
              <a:lnSpc>
                <a:spcPct val="115000"/>
              </a:lnSpc>
              <a:spcBef>
                <a:spcPts val="900"/>
              </a:spcBef>
              <a:spcAft>
                <a:spcPts val="0"/>
              </a:spcAft>
              <a:buClr>
                <a:schemeClr val="dk1"/>
              </a:buClr>
              <a:buSzPts val="1100"/>
              <a:buFont typeface="Arial"/>
              <a:buNone/>
            </a:pPr>
            <a:r>
              <a:rPr lang="en-US" sz="1300">
                <a:latin typeface="Times New Roman"/>
                <a:ea typeface="Times New Roman"/>
                <a:cs typeface="Times New Roman"/>
                <a:sym typeface="Times New Roman"/>
              </a:rPr>
              <a:t>The study by J. Qi et al. provides a comprehensive overview of computer vision–based hand gesture recognition for human-robot interaction. It discusses traditional and deep learning methods, datasets, and challenges. However, real-time robustness and generalization remain issues. Overall, it highlights key gaps relevant to AirSketch development.</a:t>
            </a:r>
            <a:endParaRPr sz="1300">
              <a:latin typeface="Times New Roman"/>
              <a:ea typeface="Times New Roman"/>
              <a:cs typeface="Times New Roman"/>
              <a:sym typeface="Times New Roman"/>
            </a:endParaRPr>
          </a:p>
          <a:p>
            <a:pPr indent="0" lvl="0" marL="0" rtl="0" algn="l">
              <a:lnSpc>
                <a:spcPct val="100000"/>
              </a:lnSpc>
              <a:spcBef>
                <a:spcPts val="900"/>
              </a:spcBef>
              <a:spcAft>
                <a:spcPts val="0"/>
              </a:spcAft>
              <a:buSzPts val="1400"/>
              <a:buNone/>
            </a:pPr>
            <a:r>
              <a:t/>
            </a:r>
            <a:endParaRPr sz="1300">
              <a:latin typeface="Times New Roman"/>
              <a:ea typeface="Times New Roman"/>
              <a:cs typeface="Times New Roman"/>
              <a:sym typeface="Times New Roman"/>
            </a:endParaRPr>
          </a:p>
        </p:txBody>
      </p:sp>
      <p:sp>
        <p:nvSpPr>
          <p:cNvPr id="127" name="Google Shape;127;p14"/>
          <p:cNvSpPr txBox="1"/>
          <p:nvPr>
            <p:ph idx="1" type="body"/>
          </p:nvPr>
        </p:nvSpPr>
        <p:spPr>
          <a:xfrm>
            <a:off x="443310" y="2567836"/>
            <a:ext cx="8377500" cy="18117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Clr>
                <a:schemeClr val="dk1"/>
              </a:buClr>
              <a:buSzPts val="1100"/>
              <a:buFont typeface="Arial"/>
              <a:buNone/>
            </a:pPr>
            <a:r>
              <a:rPr lang="en-US" sz="1300">
                <a:latin typeface="Times New Roman"/>
                <a:ea typeface="Times New Roman"/>
                <a:cs typeface="Times New Roman"/>
                <a:sym typeface="Times New Roman"/>
              </a:rPr>
              <a:t>[8] Hand Gesture and Voice-controlled Mouse for Physically Challenged using Computer Vision, Authors:A. Morajkar, A. M. James, M. Bagwe, and A. S. James, 2022.</a:t>
            </a:r>
            <a:endParaRPr sz="1300">
              <a:latin typeface="Times New Roman"/>
              <a:ea typeface="Times New Roman"/>
              <a:cs typeface="Times New Roman"/>
              <a:sym typeface="Times New Roman"/>
            </a:endParaRPr>
          </a:p>
          <a:p>
            <a:pPr indent="0" lvl="0" marL="0" rtl="0" algn="l">
              <a:lnSpc>
                <a:spcPct val="115000"/>
              </a:lnSpc>
              <a:spcBef>
                <a:spcPts val="900"/>
              </a:spcBef>
              <a:spcAft>
                <a:spcPts val="0"/>
              </a:spcAft>
              <a:buClr>
                <a:schemeClr val="dk1"/>
              </a:buClr>
              <a:buSzPts val="1100"/>
              <a:buFont typeface="Arial"/>
              <a:buNone/>
            </a:pPr>
            <a:r>
              <a:rPr lang="en-US" sz="1300">
                <a:latin typeface="Times New Roman"/>
                <a:ea typeface="Times New Roman"/>
                <a:cs typeface="Times New Roman"/>
                <a:sym typeface="Times New Roman"/>
              </a:rPr>
              <a:t>The study by A. Morajkar et al. presents a system combining hand gestures and voice commands to control a computer mouse using computer vision. It improves accessibility for physically challenged users. However, accuracy depends on environmental conditions and speech clarity. Overall, it is practical but limited in robustness and scalability.</a:t>
            </a:r>
            <a:endParaRPr sz="1300">
              <a:latin typeface="Times New Roman"/>
              <a:ea typeface="Times New Roman"/>
              <a:cs typeface="Times New Roman"/>
              <a:sym typeface="Times New Roman"/>
            </a:endParaRPr>
          </a:p>
          <a:p>
            <a:pPr indent="0" lvl="0" marL="0" rtl="0" algn="l">
              <a:lnSpc>
                <a:spcPct val="100000"/>
              </a:lnSpc>
              <a:spcBef>
                <a:spcPts val="900"/>
              </a:spcBef>
              <a:spcAft>
                <a:spcPts val="0"/>
              </a:spcAft>
              <a:buSzPts val="1400"/>
              <a:buNone/>
            </a:pPr>
            <a:r>
              <a:t/>
            </a:r>
            <a:endParaRPr sz="1300">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15"/>
          <p:cNvSpPr txBox="1"/>
          <p:nvPr>
            <p:ph idx="1" type="body"/>
          </p:nvPr>
        </p:nvSpPr>
        <p:spPr>
          <a:xfrm>
            <a:off x="420299" y="970522"/>
            <a:ext cx="8377500" cy="18117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Clr>
                <a:schemeClr val="dk1"/>
              </a:buClr>
              <a:buSzPts val="1100"/>
              <a:buFont typeface="Arial"/>
              <a:buNone/>
            </a:pPr>
            <a:r>
              <a:rPr lang="en-US" sz="1300">
                <a:latin typeface="Times New Roman"/>
                <a:ea typeface="Times New Roman"/>
                <a:cs typeface="Times New Roman"/>
                <a:sym typeface="Times New Roman"/>
              </a:rPr>
              <a:t>[9] MediaPipe-LSTM-Enhanced Framework for Real-Time Dynamic Sign Language Recognition in Inclusive Communication Systems, Authors: N. Anithadevi, S. Palanisamy, S. S. Rubini, and S. Shrestha 2024.</a:t>
            </a:r>
            <a:endParaRPr sz="1300">
              <a:latin typeface="Times New Roman"/>
              <a:ea typeface="Times New Roman"/>
              <a:cs typeface="Times New Roman"/>
              <a:sym typeface="Times New Roman"/>
            </a:endParaRPr>
          </a:p>
          <a:p>
            <a:pPr indent="0" lvl="0" marL="0" rtl="0" algn="l">
              <a:lnSpc>
                <a:spcPct val="115000"/>
              </a:lnSpc>
              <a:spcBef>
                <a:spcPts val="900"/>
              </a:spcBef>
              <a:spcAft>
                <a:spcPts val="0"/>
              </a:spcAft>
              <a:buClr>
                <a:schemeClr val="dk1"/>
              </a:buClr>
              <a:buSzPts val="1100"/>
              <a:buFont typeface="Arial"/>
              <a:buNone/>
            </a:pPr>
            <a:r>
              <a:rPr lang="en-US" sz="1300">
                <a:latin typeface="Times New Roman"/>
                <a:ea typeface="Times New Roman"/>
                <a:cs typeface="Times New Roman"/>
                <a:sym typeface="Times New Roman"/>
              </a:rPr>
              <a:t>The study by N. Anithadevi et al. proposes a MediaPipe-LSTM based framework for real-time dynamic sign language recognition. It combines spatial hand tracking with temporal sequence learning for improved accuracy. However, it requires stable input conditions and computational resources. Overall, it enhances real-time performance for inclusive systems like AirSketch.</a:t>
            </a:r>
            <a:endParaRPr sz="1300">
              <a:latin typeface="Times New Roman"/>
              <a:ea typeface="Times New Roman"/>
              <a:cs typeface="Times New Roman"/>
              <a:sym typeface="Times New Roman"/>
            </a:endParaRPr>
          </a:p>
          <a:p>
            <a:pPr indent="0" lvl="0" marL="0" rtl="0" algn="l">
              <a:lnSpc>
                <a:spcPct val="100000"/>
              </a:lnSpc>
              <a:spcBef>
                <a:spcPts val="900"/>
              </a:spcBef>
              <a:spcAft>
                <a:spcPts val="0"/>
              </a:spcAft>
              <a:buSzPts val="1400"/>
              <a:buNone/>
            </a:pPr>
            <a:r>
              <a:t/>
            </a:r>
            <a:endParaRPr sz="1300">
              <a:latin typeface="Times New Roman"/>
              <a:ea typeface="Times New Roman"/>
              <a:cs typeface="Times New Roman"/>
              <a:sym typeface="Times New Roman"/>
            </a:endParaRPr>
          </a:p>
        </p:txBody>
      </p:sp>
      <p:sp>
        <p:nvSpPr>
          <p:cNvPr id="133" name="Google Shape;133;p15"/>
          <p:cNvSpPr txBox="1"/>
          <p:nvPr>
            <p:ph idx="1" type="body"/>
          </p:nvPr>
        </p:nvSpPr>
        <p:spPr>
          <a:xfrm>
            <a:off x="410141" y="2610996"/>
            <a:ext cx="8377500" cy="18117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Clr>
                <a:schemeClr val="dk1"/>
              </a:buClr>
              <a:buSzPts val="1100"/>
              <a:buFont typeface="Arial"/>
              <a:buNone/>
            </a:pPr>
            <a:r>
              <a:rPr lang="en-US" sz="1300">
                <a:latin typeface="Times New Roman"/>
                <a:ea typeface="Times New Roman"/>
                <a:cs typeface="Times New Roman"/>
                <a:sym typeface="Times New Roman"/>
              </a:rPr>
              <a:t>[10] Towards Understanding the Faults of JavaScript-Based Deep Learning Systems, Authors: L. Quan, Q. Guo, X. Xie, S. Chen, X. Li, and Y. Liu, 2023.</a:t>
            </a:r>
            <a:endParaRPr sz="1300">
              <a:latin typeface="Times New Roman"/>
              <a:ea typeface="Times New Roman"/>
              <a:cs typeface="Times New Roman"/>
              <a:sym typeface="Times New Roman"/>
            </a:endParaRPr>
          </a:p>
          <a:p>
            <a:pPr indent="0" lvl="0" marL="0" rtl="0" algn="l">
              <a:lnSpc>
                <a:spcPct val="115000"/>
              </a:lnSpc>
              <a:spcBef>
                <a:spcPts val="900"/>
              </a:spcBef>
              <a:spcAft>
                <a:spcPts val="0"/>
              </a:spcAft>
              <a:buClr>
                <a:schemeClr val="dk1"/>
              </a:buClr>
              <a:buSzPts val="1100"/>
              <a:buFont typeface="Arial"/>
              <a:buNone/>
            </a:pPr>
            <a:r>
              <a:rPr lang="en-US" sz="1300">
                <a:latin typeface="Times New Roman"/>
                <a:ea typeface="Times New Roman"/>
                <a:cs typeface="Times New Roman"/>
                <a:sym typeface="Times New Roman"/>
              </a:rPr>
              <a:t>The study by L. Quan et al. investigates faults in JavaScript-based deep learning systems. It identifies common issues in model implementation, debugging, and performance inconsistencies. However, findings are limited to JavaScript environments. Overall, it highlights reliability challenges and the need for robust development practices in AI-based applications like AirSketch.</a:t>
            </a:r>
            <a:endParaRPr sz="1300">
              <a:latin typeface="Times New Roman"/>
              <a:ea typeface="Times New Roman"/>
              <a:cs typeface="Times New Roman"/>
              <a:sym typeface="Times New Roman"/>
            </a:endParaRPr>
          </a:p>
          <a:p>
            <a:pPr indent="0" lvl="0" marL="0" rtl="0" algn="l">
              <a:lnSpc>
                <a:spcPct val="100000"/>
              </a:lnSpc>
              <a:spcBef>
                <a:spcPts val="900"/>
              </a:spcBef>
              <a:spcAft>
                <a:spcPts val="0"/>
              </a:spcAft>
              <a:buSzPts val="1400"/>
              <a:buNone/>
            </a:pPr>
            <a:r>
              <a:t/>
            </a:r>
            <a:endParaRPr sz="1300">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6"/>
          <p:cNvSpPr/>
          <p:nvPr/>
        </p:nvSpPr>
        <p:spPr>
          <a:xfrm>
            <a:off x="8361706" y="0"/>
            <a:ext cx="290195" cy="1434465"/>
          </a:xfrm>
          <a:custGeom>
            <a:rect b="b" l="l" r="r" t="t"/>
            <a:pathLst>
              <a:path extrusionOk="0" h="1434465" w="290195">
                <a:moveTo>
                  <a:pt x="139425" y="1434302"/>
                </a:moveTo>
                <a:lnTo>
                  <a:pt x="139425" y="810545"/>
                </a:lnTo>
                <a:lnTo>
                  <a:pt x="0" y="670715"/>
                </a:lnTo>
                <a:lnTo>
                  <a:pt x="0" y="292867"/>
                </a:lnTo>
                <a:lnTo>
                  <a:pt x="289681" y="0"/>
                </a:lnTo>
              </a:path>
            </a:pathLst>
          </a:custGeom>
          <a:noFill/>
          <a:ln cap="flat" cmpd="sng" w="9525">
            <a:solidFill>
              <a:srgbClr val="FFBD33"/>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39" name="Google Shape;139;p16"/>
          <p:cNvGrpSpPr/>
          <p:nvPr/>
        </p:nvGrpSpPr>
        <p:grpSpPr>
          <a:xfrm>
            <a:off x="7970104" y="4583944"/>
            <a:ext cx="1174115" cy="439499"/>
            <a:chOff x="7970104" y="4583944"/>
            <a:chExt cx="1174115" cy="439499"/>
          </a:xfrm>
        </p:grpSpPr>
        <p:sp>
          <p:nvSpPr>
            <p:cNvPr id="140" name="Google Shape;140;p16"/>
            <p:cNvSpPr/>
            <p:nvPr/>
          </p:nvSpPr>
          <p:spPr>
            <a:xfrm>
              <a:off x="8470011" y="4617498"/>
              <a:ext cx="455930" cy="370840"/>
            </a:xfrm>
            <a:custGeom>
              <a:rect b="b" l="l" r="r" t="t"/>
              <a:pathLst>
                <a:path extrusionOk="0" h="370839" w="455929">
                  <a:moveTo>
                    <a:pt x="0" y="0"/>
                  </a:moveTo>
                  <a:lnTo>
                    <a:pt x="206543" y="0"/>
                  </a:lnTo>
                  <a:lnTo>
                    <a:pt x="455492" y="248947"/>
                  </a:lnTo>
                  <a:lnTo>
                    <a:pt x="455661" y="370513"/>
                  </a:lnTo>
                </a:path>
              </a:pathLst>
            </a:custGeom>
            <a:noFill/>
            <a:ln cap="flat" cmpd="sng" w="9525">
              <a:solidFill>
                <a:srgbClr val="FFBD33"/>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41" name="Google Shape;141;p16"/>
            <p:cNvPicPr preferRelativeResize="0"/>
            <p:nvPr/>
          </p:nvPicPr>
          <p:blipFill rotWithShape="1">
            <a:blip r:embed="rId3">
              <a:alphaModFix/>
            </a:blip>
            <a:srcRect b="0" l="0" r="0" t="0"/>
            <a:stretch/>
          </p:blipFill>
          <p:spPr>
            <a:xfrm>
              <a:off x="8435621" y="4583944"/>
              <a:ext cx="68781" cy="68779"/>
            </a:xfrm>
            <a:prstGeom prst="rect">
              <a:avLst/>
            </a:prstGeom>
            <a:noFill/>
            <a:ln>
              <a:noFill/>
            </a:ln>
          </p:spPr>
        </p:pic>
        <p:pic>
          <p:nvPicPr>
            <p:cNvPr id="142" name="Google Shape;142;p16"/>
            <p:cNvPicPr preferRelativeResize="0"/>
            <p:nvPr/>
          </p:nvPicPr>
          <p:blipFill rotWithShape="1">
            <a:blip r:embed="rId4">
              <a:alphaModFix/>
            </a:blip>
            <a:srcRect b="0" l="0" r="0" t="0"/>
            <a:stretch/>
          </p:blipFill>
          <p:spPr>
            <a:xfrm>
              <a:off x="8891078" y="4954664"/>
              <a:ext cx="68778" cy="68779"/>
            </a:xfrm>
            <a:prstGeom prst="rect">
              <a:avLst/>
            </a:prstGeom>
            <a:noFill/>
            <a:ln>
              <a:noFill/>
            </a:ln>
          </p:spPr>
        </p:pic>
        <p:sp>
          <p:nvSpPr>
            <p:cNvPr id="143" name="Google Shape;143;p16"/>
            <p:cNvSpPr/>
            <p:nvPr/>
          </p:nvSpPr>
          <p:spPr>
            <a:xfrm>
              <a:off x="7970104" y="4849851"/>
              <a:ext cx="1174115" cy="15240"/>
            </a:xfrm>
            <a:custGeom>
              <a:rect b="b" l="l" r="r" t="t"/>
              <a:pathLst>
                <a:path extrusionOk="0" h="15239" w="1174115">
                  <a:moveTo>
                    <a:pt x="1173895" y="0"/>
                  </a:moveTo>
                  <a:lnTo>
                    <a:pt x="1158809" y="15074"/>
                  </a:lnTo>
                  <a:lnTo>
                    <a:pt x="0" y="15074"/>
                  </a:lnTo>
                </a:path>
              </a:pathLst>
            </a:custGeom>
            <a:noFill/>
            <a:ln cap="flat" cmpd="sng" w="9525">
              <a:solidFill>
                <a:srgbClr val="FFBD33"/>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id="144" name="Google Shape;144;p16"/>
          <p:cNvPicPr preferRelativeResize="0"/>
          <p:nvPr/>
        </p:nvPicPr>
        <p:blipFill rotWithShape="1">
          <a:blip r:embed="rId5">
            <a:alphaModFix/>
          </a:blip>
          <a:srcRect b="0" l="0" r="0" t="0"/>
          <a:stretch/>
        </p:blipFill>
        <p:spPr>
          <a:xfrm>
            <a:off x="7932918" y="4827738"/>
            <a:ext cx="74624" cy="74623"/>
          </a:xfrm>
          <a:prstGeom prst="rect">
            <a:avLst/>
          </a:prstGeom>
          <a:noFill/>
          <a:ln>
            <a:noFill/>
          </a:ln>
        </p:spPr>
      </p:pic>
      <p:grpSp>
        <p:nvGrpSpPr>
          <p:cNvPr id="145" name="Google Shape;145;p16"/>
          <p:cNvGrpSpPr/>
          <p:nvPr/>
        </p:nvGrpSpPr>
        <p:grpSpPr>
          <a:xfrm>
            <a:off x="0" y="4628734"/>
            <a:ext cx="567879" cy="405832"/>
            <a:chOff x="0" y="4628734"/>
            <a:chExt cx="567879" cy="405832"/>
          </a:xfrm>
        </p:grpSpPr>
        <p:sp>
          <p:nvSpPr>
            <p:cNvPr id="146" name="Google Shape;146;p16"/>
            <p:cNvSpPr/>
            <p:nvPr/>
          </p:nvSpPr>
          <p:spPr>
            <a:xfrm>
              <a:off x="0" y="4628734"/>
              <a:ext cx="530860" cy="368300"/>
            </a:xfrm>
            <a:custGeom>
              <a:rect b="b" l="l" r="r" t="t"/>
              <a:pathLst>
                <a:path extrusionOk="0" h="368300" w="530860">
                  <a:moveTo>
                    <a:pt x="530340" y="368295"/>
                  </a:moveTo>
                  <a:lnTo>
                    <a:pt x="182533" y="20439"/>
                  </a:lnTo>
                  <a:lnTo>
                    <a:pt x="20457" y="20439"/>
                  </a:lnTo>
                  <a:lnTo>
                    <a:pt x="0" y="0"/>
                  </a:lnTo>
                </a:path>
              </a:pathLst>
            </a:custGeom>
            <a:noFill/>
            <a:ln cap="flat" cmpd="sng" w="9525">
              <a:solidFill>
                <a:srgbClr val="FFBD33"/>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47" name="Google Shape;147;p16"/>
            <p:cNvPicPr preferRelativeResize="0"/>
            <p:nvPr/>
          </p:nvPicPr>
          <p:blipFill rotWithShape="1">
            <a:blip r:embed="rId6">
              <a:alphaModFix/>
            </a:blip>
            <a:srcRect b="0" l="0" r="0" t="0"/>
            <a:stretch/>
          </p:blipFill>
          <p:spPr>
            <a:xfrm>
              <a:off x="494618" y="4961304"/>
              <a:ext cx="73261" cy="73262"/>
            </a:xfrm>
            <a:prstGeom prst="rect">
              <a:avLst/>
            </a:prstGeom>
            <a:noFill/>
            <a:ln>
              <a:noFill/>
            </a:ln>
          </p:spPr>
        </p:pic>
      </p:grpSp>
      <p:sp>
        <p:nvSpPr>
          <p:cNvPr id="148" name="Google Shape;148;p16"/>
          <p:cNvSpPr/>
          <p:nvPr/>
        </p:nvSpPr>
        <p:spPr>
          <a:xfrm>
            <a:off x="324902" y="4291167"/>
            <a:ext cx="791845" cy="624840"/>
          </a:xfrm>
          <a:custGeom>
            <a:rect b="b" l="l" r="r" t="t"/>
            <a:pathLst>
              <a:path extrusionOk="0" h="624839" w="791844">
                <a:moveTo>
                  <a:pt x="791842" y="624602"/>
                </a:moveTo>
                <a:lnTo>
                  <a:pt x="319807" y="624602"/>
                </a:lnTo>
                <a:lnTo>
                  <a:pt x="0" y="304394"/>
                </a:lnTo>
                <a:lnTo>
                  <a:pt x="0" y="0"/>
                </a:lnTo>
              </a:path>
            </a:pathLst>
          </a:custGeom>
          <a:noFill/>
          <a:ln cap="flat" cmpd="sng" w="9525">
            <a:solidFill>
              <a:srgbClr val="FFBD33"/>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49" name="Google Shape;149;p16"/>
          <p:cNvPicPr preferRelativeResize="0"/>
          <p:nvPr/>
        </p:nvPicPr>
        <p:blipFill rotWithShape="1">
          <a:blip r:embed="rId7">
            <a:alphaModFix/>
          </a:blip>
          <a:srcRect b="0" l="0" r="0" t="0"/>
          <a:stretch/>
        </p:blipFill>
        <p:spPr>
          <a:xfrm>
            <a:off x="287715" y="4255687"/>
            <a:ext cx="74346" cy="72733"/>
          </a:xfrm>
          <a:prstGeom prst="rect">
            <a:avLst/>
          </a:prstGeom>
          <a:noFill/>
          <a:ln>
            <a:noFill/>
          </a:ln>
        </p:spPr>
      </p:pic>
      <p:graphicFrame>
        <p:nvGraphicFramePr>
          <p:cNvPr id="150" name="Google Shape;150;p16"/>
          <p:cNvGraphicFramePr/>
          <p:nvPr/>
        </p:nvGraphicFramePr>
        <p:xfrm>
          <a:off x="294449" y="30971"/>
          <a:ext cx="3000000" cy="3000000"/>
        </p:xfrm>
        <a:graphic>
          <a:graphicData uri="http://schemas.openxmlformats.org/drawingml/2006/table">
            <a:tbl>
              <a:tblPr bandRow="1" firstRow="1">
                <a:noFill/>
                <a:tableStyleId>{1F646490-F326-4984-BB32-13F74F47306F}</a:tableStyleId>
              </a:tblPr>
              <a:tblGrid>
                <a:gridCol w="422800"/>
                <a:gridCol w="2365075"/>
                <a:gridCol w="2209000"/>
                <a:gridCol w="2177150"/>
                <a:gridCol w="1565925"/>
              </a:tblGrid>
              <a:tr h="379100">
                <a:tc gridSpan="4">
                  <a:txBody>
                    <a:bodyPr/>
                    <a:lstStyle/>
                    <a:p>
                      <a:pPr indent="0" lvl="0" marL="183515" marR="0" rtl="0" algn="ctr">
                        <a:lnSpc>
                          <a:spcPct val="74545"/>
                        </a:lnSpc>
                        <a:spcBef>
                          <a:spcPts val="0"/>
                        </a:spcBef>
                        <a:spcAft>
                          <a:spcPts val="0"/>
                        </a:spcAft>
                        <a:buClr>
                          <a:srgbClr val="000000"/>
                        </a:buClr>
                        <a:buSzPts val="3300"/>
                        <a:buFont typeface="Arial"/>
                        <a:buNone/>
                      </a:pPr>
                      <a:r>
                        <a:t/>
                      </a:r>
                      <a:endParaRPr sz="3300" u="none" cap="none" strike="noStrike">
                        <a:latin typeface="Verdana"/>
                        <a:ea typeface="Verdana"/>
                        <a:cs typeface="Verdana"/>
                        <a:sym typeface="Verdana"/>
                      </a:endParaRPr>
                    </a:p>
                  </a:txBody>
                  <a:tcPr marT="0" marB="0" marR="0" marL="0">
                    <a:lnR cap="flat" cmpd="sng" w="9525">
                      <a:solidFill>
                        <a:srgbClr val="FFBD33"/>
                      </a:solidFill>
                      <a:prstDash val="solid"/>
                      <a:round/>
                      <a:headEnd len="sm" w="sm" type="none"/>
                      <a:tailEnd len="sm" w="sm" type="none"/>
                    </a:lnR>
                    <a:lnB cap="flat" cmpd="sng" w="9525">
                      <a:solidFill>
                        <a:srgbClr val="9E9E9E"/>
                      </a:solidFill>
                      <a:prstDash val="solid"/>
                      <a:round/>
                      <a:headEnd len="sm" w="sm" type="none"/>
                      <a:tailEnd len="sm" w="sm" type="none"/>
                    </a:lnB>
                  </a:tcPr>
                </a:tc>
                <a:tc hMerge="1"/>
                <a:tc hMerge="1"/>
                <a:tc hMerge="1"/>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latin typeface="Times New Roman"/>
                        <a:ea typeface="Times New Roman"/>
                        <a:cs typeface="Times New Roman"/>
                        <a:sym typeface="Times New Roman"/>
                      </a:endParaRPr>
                    </a:p>
                  </a:txBody>
                  <a:tcPr marT="0" marB="0" marR="0" marL="0">
                    <a:lnL cap="flat" cmpd="sng" w="9525">
                      <a:solidFill>
                        <a:srgbClr val="FFBD33"/>
                      </a:solidFill>
                      <a:prstDash val="solid"/>
                      <a:round/>
                      <a:headEnd len="sm" w="sm" type="none"/>
                      <a:tailEnd len="sm" w="sm" type="none"/>
                    </a:lnL>
                    <a:lnR cap="flat" cmpd="sng" w="9525">
                      <a:solidFill>
                        <a:srgbClr val="FFBD33"/>
                      </a:solidFill>
                      <a:prstDash val="solid"/>
                      <a:round/>
                      <a:headEnd len="sm" w="sm" type="none"/>
                      <a:tailEnd len="sm" w="sm" type="none"/>
                    </a:lnR>
                    <a:lnB cap="flat" cmpd="sng" w="9525">
                      <a:solidFill>
                        <a:srgbClr val="9E9E9E"/>
                      </a:solidFill>
                      <a:prstDash val="solid"/>
                      <a:round/>
                      <a:headEnd len="sm" w="sm" type="none"/>
                      <a:tailEnd len="sm" w="sm" type="none"/>
                    </a:lnB>
                  </a:tcPr>
                </a:tc>
              </a:tr>
              <a:tr h="421800">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FFFFFF"/>
                          </a:solidFill>
                          <a:latin typeface="Arial"/>
                          <a:ea typeface="Arial"/>
                          <a:cs typeface="Arial"/>
                          <a:sym typeface="Arial"/>
                        </a:rPr>
                        <a:t>No.</a:t>
                      </a:r>
                      <a:endParaRPr sz="1400" u="none" cap="none" strike="noStrike">
                        <a:latin typeface="Arial"/>
                        <a:ea typeface="Arial"/>
                        <a:cs typeface="Arial"/>
                        <a:sym typeface="Arial"/>
                      </a:endParaRPr>
                    </a:p>
                  </a:txBody>
                  <a:tcPr marT="88275"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542925" marR="0" rtl="0" algn="l">
                        <a:lnSpc>
                          <a:spcPct val="100000"/>
                        </a:lnSpc>
                        <a:spcBef>
                          <a:spcPts val="0"/>
                        </a:spcBef>
                        <a:spcAft>
                          <a:spcPts val="0"/>
                        </a:spcAft>
                        <a:buClr>
                          <a:srgbClr val="000000"/>
                        </a:buClr>
                        <a:buSzPts val="1400"/>
                        <a:buFont typeface="Arial"/>
                        <a:buNone/>
                      </a:pPr>
                      <a:r>
                        <a:rPr lang="en-US" sz="1400" u="none" cap="none" strike="noStrike">
                          <a:solidFill>
                            <a:srgbClr val="FFFFFF"/>
                          </a:solidFill>
                          <a:latin typeface="Arial"/>
                          <a:ea typeface="Arial"/>
                          <a:cs typeface="Arial"/>
                          <a:sym typeface="Arial"/>
                        </a:rPr>
                        <a:t>Research papers</a:t>
                      </a:r>
                      <a:endParaRPr sz="1400" u="none" cap="none" strike="noStrike">
                        <a:latin typeface="Arial"/>
                        <a:ea typeface="Arial"/>
                        <a:cs typeface="Arial"/>
                        <a:sym typeface="Arial"/>
                      </a:endParaRPr>
                    </a:p>
                  </a:txBody>
                  <a:tcPr marT="88275"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1" lang="en-US" sz="1000" u="none" cap="none" strike="noStrike">
                          <a:solidFill>
                            <a:schemeClr val="lt1"/>
                          </a:solidFill>
                          <a:latin typeface="Cambria"/>
                          <a:ea typeface="Cambria"/>
                          <a:cs typeface="Cambria"/>
                          <a:sym typeface="Cambria"/>
                        </a:rPr>
                        <a:t>     </a:t>
                      </a:r>
                      <a:r>
                        <a:rPr lang="en-US" sz="1400" u="none" cap="none" strike="noStrike">
                          <a:solidFill>
                            <a:schemeClr val="lt1"/>
                          </a:solidFill>
                          <a:latin typeface="Arial"/>
                          <a:ea typeface="Arial"/>
                          <a:cs typeface="Arial"/>
                          <a:sym typeface="Arial"/>
                        </a:rPr>
                        <a:t>Conclusion &amp; Drawback</a:t>
                      </a:r>
                      <a:endParaRPr sz="1400" u="none" cap="none" strike="noStrike">
                        <a:solidFill>
                          <a:schemeClr val="lt1"/>
                        </a:solidFill>
                        <a:latin typeface="Arial"/>
                        <a:ea typeface="Arial"/>
                        <a:cs typeface="Arial"/>
                        <a:sym typeface="Arial"/>
                      </a:endParaRPr>
                    </a:p>
                  </a:txBody>
                  <a:tcPr marT="88275"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lt1"/>
                          </a:solidFill>
                          <a:latin typeface="Arial"/>
                          <a:ea typeface="Arial"/>
                          <a:cs typeface="Arial"/>
                          <a:sym typeface="Arial"/>
                        </a:rPr>
                        <a:t>  Relevance for our system</a:t>
                      </a:r>
                      <a:endParaRPr sz="1400" u="none" cap="none" strike="noStrike">
                        <a:solidFill>
                          <a:schemeClr val="lt1"/>
                        </a:solidFill>
                        <a:latin typeface="Arial"/>
                        <a:ea typeface="Arial"/>
                        <a:cs typeface="Arial"/>
                        <a:sym typeface="Arial"/>
                      </a:endParaRPr>
                    </a:p>
                  </a:txBody>
                  <a:tcPr marT="88275" marB="0" marR="0" marL="0">
                    <a:lnL cap="flat" cmpd="sng" w="9525">
                      <a:solidFill>
                        <a:srgbClr val="9E9E9E"/>
                      </a:solidFill>
                      <a:prstDash val="solid"/>
                      <a:round/>
                      <a:headEnd len="sm" w="sm" type="none"/>
                      <a:tailEnd len="sm" w="sm" type="none"/>
                    </a:lnL>
                    <a:lnR cap="flat" cmpd="sng" w="9525">
                      <a:solidFill>
                        <a:srgbClr val="FFBD33"/>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lt1"/>
                          </a:solidFill>
                          <a:latin typeface="Arial"/>
                          <a:ea typeface="Arial"/>
                          <a:cs typeface="Arial"/>
                          <a:sym typeface="Arial"/>
                        </a:rPr>
                        <a:t>        Published By</a:t>
                      </a:r>
                      <a:endParaRPr sz="1400" u="none" cap="none" strike="noStrike">
                        <a:solidFill>
                          <a:schemeClr val="lt1"/>
                        </a:solidFill>
                        <a:latin typeface="Arial"/>
                        <a:ea typeface="Arial"/>
                        <a:cs typeface="Arial"/>
                        <a:sym typeface="Arial"/>
                      </a:endParaRPr>
                    </a:p>
                  </a:txBody>
                  <a:tcPr marT="0" marB="0" marR="0" marL="0" anchor="ctr">
                    <a:lnL cap="flat" cmpd="sng" w="9525">
                      <a:solidFill>
                        <a:srgbClr val="FFBD33"/>
                      </a:solidFill>
                      <a:prstDash val="solid"/>
                      <a:round/>
                      <a:headEnd len="sm" w="sm" type="none"/>
                      <a:tailEnd len="sm" w="sm" type="none"/>
                    </a:lnL>
                    <a:lnR cap="flat" cmpd="sng" w="9525">
                      <a:solidFill>
                        <a:srgbClr val="FFBD33"/>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835025">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latin typeface="Times New Roman"/>
                        <a:ea typeface="Times New Roman"/>
                        <a:cs typeface="Times New Roman"/>
                        <a:sym typeface="Times New Roman"/>
                      </a:endParaRPr>
                    </a:p>
                    <a:p>
                      <a:pPr indent="0" lvl="0" marL="0" marR="0" rtl="0" algn="ctr">
                        <a:lnSpc>
                          <a:spcPct val="100000"/>
                        </a:lnSpc>
                        <a:spcBef>
                          <a:spcPts val="5"/>
                        </a:spcBef>
                        <a:spcAft>
                          <a:spcPts val="0"/>
                        </a:spcAft>
                        <a:buClr>
                          <a:srgbClr val="000000"/>
                        </a:buClr>
                        <a:buSzPts val="1400"/>
                        <a:buFont typeface="Arial"/>
                        <a:buNone/>
                      </a:pPr>
                      <a:r>
                        <a:rPr lang="en-US" sz="1400" u="none" cap="none" strike="noStrike">
                          <a:solidFill>
                            <a:srgbClr val="FFFFFF"/>
                          </a:solidFill>
                          <a:latin typeface="Arial"/>
                          <a:ea typeface="Arial"/>
                          <a:cs typeface="Arial"/>
                          <a:sym typeface="Arial"/>
                        </a:rPr>
                        <a:t>1</a:t>
                      </a:r>
                      <a:endParaRPr sz="1400" u="none" cap="none" strike="noStrike">
                        <a:latin typeface="Arial"/>
                        <a:ea typeface="Arial"/>
                        <a:cs typeface="Arial"/>
                        <a:sym typeface="Arial"/>
                      </a:endParaRPr>
                    </a:p>
                  </a:txBody>
                  <a:tcPr marT="20325"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147320" marR="221615" rtl="0" algn="l">
                        <a:lnSpc>
                          <a:spcPct val="100000"/>
                        </a:lnSpc>
                        <a:spcBef>
                          <a:spcPts val="0"/>
                        </a:spcBef>
                        <a:spcAft>
                          <a:spcPts val="0"/>
                        </a:spcAft>
                        <a:buClr>
                          <a:schemeClr val="dk1"/>
                        </a:buClr>
                        <a:buSzPts val="1000"/>
                        <a:buFont typeface="Arial"/>
                        <a:buNone/>
                      </a:pPr>
                      <a:r>
                        <a:rPr b="1" lang="en-US" sz="1000" u="none" cap="none" strike="noStrike">
                          <a:solidFill>
                            <a:schemeClr val="lt1"/>
                          </a:solidFill>
                          <a:latin typeface="Cambria"/>
                          <a:ea typeface="Cambria"/>
                          <a:cs typeface="Cambria"/>
                          <a:sym typeface="Cambria"/>
                        </a:rPr>
                        <a:t>A New Challenging Benchmark for Skeleton based Micro Hand Gesture</a:t>
                      </a:r>
                      <a:r>
                        <a:rPr lang="en-US" sz="1000" u="none" cap="none" strike="noStrike">
                          <a:latin typeface="Cambria"/>
                          <a:ea typeface="Cambria"/>
                          <a:cs typeface="Cambria"/>
                          <a:sym typeface="Cambria"/>
                        </a:rPr>
                        <a:t> </a:t>
                      </a:r>
                      <a:r>
                        <a:rPr b="1" lang="en-US" sz="1000" u="none" cap="none" strike="noStrike">
                          <a:solidFill>
                            <a:schemeClr val="lt1"/>
                          </a:solidFill>
                          <a:latin typeface="Cambria"/>
                          <a:ea typeface="Cambria"/>
                          <a:cs typeface="Cambria"/>
                          <a:sym typeface="Cambria"/>
                        </a:rPr>
                        <a:t>Recognition. 2026</a:t>
                      </a:r>
                      <a:endParaRPr sz="1000" u="none" cap="none" strike="noStrike">
                        <a:latin typeface="Cambria"/>
                        <a:ea typeface="Cambria"/>
                        <a:cs typeface="Cambria"/>
                        <a:sym typeface="Cambria"/>
                      </a:endParaRPr>
                    </a:p>
                  </a:txBody>
                  <a:tcPr marT="121925"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1" lang="en-US" sz="1000" u="none" cap="none" strike="noStrike">
                          <a:solidFill>
                            <a:schemeClr val="lt1"/>
                          </a:solidFill>
                          <a:latin typeface="Cambria"/>
                          <a:ea typeface="Cambria"/>
                          <a:cs typeface="Cambria"/>
                          <a:sym typeface="Cambria"/>
                        </a:rPr>
                        <a:t>C. Real time hand tracking using MediaPipe and OpenCV.</a:t>
                      </a:r>
                      <a:endParaRPr b="1" sz="1000" u="none" cap="none" strike="noStrike">
                        <a:solidFill>
                          <a:schemeClr val="lt1"/>
                        </a:solidFill>
                        <a:latin typeface="Cambria"/>
                        <a:ea typeface="Cambria"/>
                        <a:cs typeface="Cambria"/>
                        <a:sym typeface="Cambria"/>
                      </a:endParaRPr>
                    </a:p>
                    <a:p>
                      <a:pPr indent="0" lvl="0" marL="0" marR="0" rtl="0" algn="l">
                        <a:lnSpc>
                          <a:spcPct val="100000"/>
                        </a:lnSpc>
                        <a:spcBef>
                          <a:spcPts val="0"/>
                        </a:spcBef>
                        <a:spcAft>
                          <a:spcPts val="0"/>
                        </a:spcAft>
                        <a:buClr>
                          <a:srgbClr val="000000"/>
                        </a:buClr>
                        <a:buSzPts val="1000"/>
                        <a:buFont typeface="Arial"/>
                        <a:buNone/>
                      </a:pPr>
                      <a:r>
                        <a:rPr b="1" lang="en-US" sz="1000" u="none" cap="none" strike="noStrike">
                          <a:solidFill>
                            <a:schemeClr val="lt1"/>
                          </a:solidFill>
                          <a:latin typeface="Cambria"/>
                          <a:ea typeface="Cambria"/>
                          <a:cs typeface="Cambria"/>
                          <a:sym typeface="Cambria"/>
                        </a:rPr>
                        <a:t>D. Dependancy on camera based tracking sensitive to lighting and background variations</a:t>
                      </a:r>
                      <a:endParaRPr b="1" sz="1000" u="none" cap="none" strike="noStrike">
                        <a:solidFill>
                          <a:schemeClr val="lt1"/>
                        </a:solidFill>
                        <a:latin typeface="Cambria"/>
                        <a:ea typeface="Cambria"/>
                        <a:cs typeface="Cambria"/>
                        <a:sym typeface="Cambria"/>
                      </a:endParaRPr>
                    </a:p>
                    <a:p>
                      <a:pPr indent="0" lvl="0" marL="0" marR="0" rtl="0" algn="l">
                        <a:lnSpc>
                          <a:spcPct val="100000"/>
                        </a:lnSpc>
                        <a:spcBef>
                          <a:spcPts val="0"/>
                        </a:spcBef>
                        <a:spcAft>
                          <a:spcPts val="0"/>
                        </a:spcAft>
                        <a:buClr>
                          <a:srgbClr val="000000"/>
                        </a:buClr>
                        <a:buSzPts val="1000"/>
                        <a:buFont typeface="Arial"/>
                        <a:buNone/>
                      </a:pPr>
                      <a:r>
                        <a:t/>
                      </a:r>
                      <a:endParaRPr b="1" sz="1000" u="none" cap="none" strike="noStrike">
                        <a:solidFill>
                          <a:schemeClr val="lt1"/>
                        </a:solidFill>
                        <a:latin typeface="Cambria"/>
                        <a:ea typeface="Cambria"/>
                        <a:cs typeface="Cambria"/>
                        <a:sym typeface="Cambria"/>
                      </a:endParaRPr>
                    </a:p>
                  </a:txBody>
                  <a:tcPr marT="29200" marB="0" marR="0"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1" lang="en-US" sz="1000" u="none" cap="none" strike="noStrike">
                          <a:solidFill>
                            <a:schemeClr val="lt1"/>
                          </a:solidFill>
                          <a:latin typeface="Cambria"/>
                          <a:ea typeface="Cambria"/>
                          <a:cs typeface="Cambria"/>
                          <a:sym typeface="Cambria"/>
                        </a:rPr>
                        <a:t>Accurate hand tracking with simple gesture mapping can enable a responsive real-time air drawing system</a:t>
                      </a:r>
                      <a:endParaRPr b="1" sz="1000" u="none" cap="none" strike="noStrike">
                        <a:solidFill>
                          <a:schemeClr val="lt1"/>
                        </a:solidFill>
                        <a:latin typeface="Cambria"/>
                        <a:ea typeface="Cambria"/>
                        <a:cs typeface="Cambria"/>
                        <a:sym typeface="Cambria"/>
                      </a:endParaRPr>
                    </a:p>
                  </a:txBody>
                  <a:tcPr marT="71125" marB="0" marR="0"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254000" lvl="0" marL="541655" marR="0" rtl="0" algn="l">
                        <a:lnSpc>
                          <a:spcPct val="100000"/>
                        </a:lnSpc>
                        <a:spcBef>
                          <a:spcPts val="0"/>
                        </a:spcBef>
                        <a:spcAft>
                          <a:spcPts val="0"/>
                        </a:spcAft>
                        <a:buClr>
                          <a:srgbClr val="000000"/>
                        </a:buClr>
                        <a:buSzPts val="1300"/>
                        <a:buFont typeface="Arial"/>
                        <a:buNone/>
                      </a:pPr>
                      <a:r>
                        <a:rPr b="1" lang="en-US" sz="1300" u="none" cap="none" strike="noStrike">
                          <a:solidFill>
                            <a:srgbClr val="FFFFFF"/>
                          </a:solidFill>
                          <a:latin typeface="Cambria"/>
                          <a:ea typeface="Cambria"/>
                          <a:cs typeface="Cambria"/>
                          <a:sym typeface="Cambria"/>
                        </a:rPr>
                        <a:t>   ScienceOpen</a:t>
                      </a:r>
                      <a:endParaRPr b="1" sz="1300" u="none" cap="none" strike="noStrike">
                        <a:solidFill>
                          <a:srgbClr val="FFFFFF"/>
                        </a:solidFill>
                        <a:latin typeface="Cambria"/>
                        <a:ea typeface="Cambria"/>
                        <a:cs typeface="Cambria"/>
                        <a:sym typeface="Cambria"/>
                      </a:endParaRPr>
                    </a:p>
                  </a:txBody>
                  <a:tcPr marT="71125"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101815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latin typeface="Times New Roman"/>
                        <a:ea typeface="Times New Roman"/>
                        <a:cs typeface="Times New Roman"/>
                        <a:sym typeface="Times New Roman"/>
                      </a:endParaRPr>
                    </a:p>
                    <a:p>
                      <a:pPr indent="0" lvl="0" marL="0" marR="0" rtl="0" algn="ctr">
                        <a:lnSpc>
                          <a:spcPct val="100000"/>
                        </a:lnSpc>
                        <a:spcBef>
                          <a:spcPts val="5"/>
                        </a:spcBef>
                        <a:spcAft>
                          <a:spcPts val="0"/>
                        </a:spcAft>
                        <a:buClr>
                          <a:srgbClr val="000000"/>
                        </a:buClr>
                        <a:buSzPts val="1400"/>
                        <a:buFont typeface="Arial"/>
                        <a:buNone/>
                      </a:pPr>
                      <a:r>
                        <a:rPr lang="en-US" sz="1400" u="none" cap="none" strike="noStrike">
                          <a:solidFill>
                            <a:srgbClr val="FFFFFF"/>
                          </a:solidFill>
                          <a:latin typeface="Arial"/>
                          <a:ea typeface="Arial"/>
                          <a:cs typeface="Arial"/>
                          <a:sym typeface="Arial"/>
                        </a:rPr>
                        <a:t>2</a:t>
                      </a:r>
                      <a:endParaRPr sz="1400" u="none" cap="none" strike="noStrike">
                        <a:latin typeface="Arial"/>
                        <a:ea typeface="Arial"/>
                        <a:cs typeface="Arial"/>
                        <a:sym typeface="Arial"/>
                      </a:endParaRPr>
                    </a:p>
                  </a:txBody>
                  <a:tcPr marT="1275"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1068070" lvl="0" marL="1097280" marR="23495" rtl="0" algn="l">
                        <a:lnSpc>
                          <a:spcPct val="100000"/>
                        </a:lnSpc>
                        <a:spcBef>
                          <a:spcPts val="0"/>
                        </a:spcBef>
                        <a:spcAft>
                          <a:spcPts val="0"/>
                        </a:spcAft>
                        <a:buClr>
                          <a:schemeClr val="dk1"/>
                        </a:buClr>
                        <a:buSzPts val="1000"/>
                        <a:buFont typeface="Arial"/>
                        <a:buNone/>
                      </a:pPr>
                      <a:r>
                        <a:rPr b="1" lang="en-US" sz="1000" u="none" cap="none" strike="noStrike">
                          <a:solidFill>
                            <a:schemeClr val="lt1"/>
                          </a:solidFill>
                          <a:latin typeface="Cambria"/>
                          <a:ea typeface="Cambria"/>
                          <a:cs typeface="Cambria"/>
                          <a:sym typeface="Cambria"/>
                        </a:rPr>
                        <a:t>  Dynamic LIBRAS Gesture recognition using cnn 2026</a:t>
                      </a:r>
                      <a:endParaRPr b="1" sz="1000" u="none" cap="none" strike="noStrike">
                        <a:solidFill>
                          <a:schemeClr val="lt1"/>
                        </a:solidFill>
                        <a:latin typeface="Cambria"/>
                        <a:ea typeface="Cambria"/>
                        <a:cs typeface="Cambria"/>
                        <a:sym typeface="Cambria"/>
                      </a:endParaRPr>
                    </a:p>
                  </a:txBody>
                  <a:tcPr marT="11425"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1" lang="en-US" sz="1000" u="none" cap="none" strike="noStrike">
                          <a:solidFill>
                            <a:schemeClr val="lt1"/>
                          </a:solidFill>
                          <a:latin typeface="Cambria"/>
                          <a:ea typeface="Cambria"/>
                          <a:cs typeface="Cambria"/>
                          <a:sym typeface="Cambria"/>
                        </a:rPr>
                        <a:t>C. Improves user interaction and enables accurate air writing on virtual canvases</a:t>
                      </a:r>
                      <a:endParaRPr b="1" sz="1000" u="none" cap="none" strike="noStrike">
                        <a:solidFill>
                          <a:schemeClr val="lt1"/>
                        </a:solidFill>
                        <a:latin typeface="Cambria"/>
                        <a:ea typeface="Cambria"/>
                        <a:cs typeface="Cambria"/>
                        <a:sym typeface="Cambria"/>
                      </a:endParaRPr>
                    </a:p>
                    <a:p>
                      <a:pPr indent="0" lvl="0" marL="0" marR="0" rtl="0" algn="l">
                        <a:lnSpc>
                          <a:spcPct val="100000"/>
                        </a:lnSpc>
                        <a:spcBef>
                          <a:spcPts val="0"/>
                        </a:spcBef>
                        <a:spcAft>
                          <a:spcPts val="0"/>
                        </a:spcAft>
                        <a:buClr>
                          <a:srgbClr val="000000"/>
                        </a:buClr>
                        <a:buSzPts val="1000"/>
                        <a:buFont typeface="Arial"/>
                        <a:buNone/>
                      </a:pPr>
                      <a:r>
                        <a:rPr b="1" lang="en-US" sz="1000" u="none" cap="none" strike="noStrike">
                          <a:solidFill>
                            <a:schemeClr val="lt1"/>
                          </a:solidFill>
                          <a:latin typeface="Cambria"/>
                          <a:ea typeface="Cambria"/>
                          <a:cs typeface="Cambria"/>
                          <a:sym typeface="Cambria"/>
                        </a:rPr>
                        <a:t>D.Struggles with variability in hand movements and lack of tactile feedback</a:t>
                      </a:r>
                      <a:endParaRPr b="1" sz="1000" u="none" cap="none" strike="noStrike">
                        <a:solidFill>
                          <a:schemeClr val="lt1"/>
                        </a:solidFill>
                        <a:latin typeface="Cambria"/>
                        <a:ea typeface="Cambria"/>
                        <a:cs typeface="Cambria"/>
                        <a:sym typeface="Cambria"/>
                      </a:endParaRPr>
                    </a:p>
                  </a:txBody>
                  <a:tcPr marT="80650" marB="0" marR="0"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711200" rtl="0" algn="l">
                        <a:lnSpc>
                          <a:spcPct val="100000"/>
                        </a:lnSpc>
                        <a:spcBef>
                          <a:spcPts val="0"/>
                        </a:spcBef>
                        <a:spcAft>
                          <a:spcPts val="0"/>
                        </a:spcAft>
                        <a:buClr>
                          <a:srgbClr val="000000"/>
                        </a:buClr>
                        <a:buSzPts val="1000"/>
                        <a:buFont typeface="Arial"/>
                        <a:buNone/>
                      </a:pPr>
                      <a:r>
                        <a:rPr b="1" lang="en-US" sz="1000" u="none" cap="none" strike="noStrike">
                          <a:solidFill>
                            <a:schemeClr val="lt1"/>
                          </a:solidFill>
                          <a:latin typeface="Cambria"/>
                          <a:ea typeface="Cambria"/>
                          <a:cs typeface="Cambria"/>
                          <a:sym typeface="Cambria"/>
                        </a:rPr>
                        <a:t>Combining fingertip </a:t>
                      </a:r>
                      <a:endParaRPr b="1" sz="1000" u="none" cap="none" strike="noStrike">
                        <a:solidFill>
                          <a:schemeClr val="lt1"/>
                        </a:solidFill>
                        <a:latin typeface="Cambria"/>
                        <a:ea typeface="Cambria"/>
                        <a:cs typeface="Cambria"/>
                        <a:sym typeface="Cambria"/>
                      </a:endParaRPr>
                    </a:p>
                    <a:p>
                      <a:pPr indent="0" lvl="0" marL="0" marR="711200" rtl="0" algn="l">
                        <a:lnSpc>
                          <a:spcPct val="100000"/>
                        </a:lnSpc>
                        <a:spcBef>
                          <a:spcPts val="0"/>
                        </a:spcBef>
                        <a:spcAft>
                          <a:spcPts val="0"/>
                        </a:spcAft>
                        <a:buClr>
                          <a:srgbClr val="000000"/>
                        </a:buClr>
                        <a:buSzPts val="1000"/>
                        <a:buFont typeface="Arial"/>
                        <a:buNone/>
                      </a:pPr>
                      <a:r>
                        <a:rPr b="1" lang="en-US" sz="1000" u="none" cap="none" strike="noStrike">
                          <a:solidFill>
                            <a:schemeClr val="lt1"/>
                          </a:solidFill>
                          <a:latin typeface="Cambria"/>
                          <a:ea typeface="Cambria"/>
                          <a:cs typeface="Cambria"/>
                          <a:sym typeface="Cambria"/>
                        </a:rPr>
                        <a:t>detection with preprocessing enhance accuracy</a:t>
                      </a:r>
                      <a:endParaRPr b="1" sz="1000" u="none" cap="none" strike="noStrike">
                        <a:solidFill>
                          <a:schemeClr val="lt1"/>
                        </a:solidFill>
                        <a:latin typeface="Cambria"/>
                        <a:ea typeface="Cambria"/>
                        <a:cs typeface="Cambria"/>
                        <a:sym typeface="Cambria"/>
                      </a:endParaRPr>
                    </a:p>
                  </a:txBody>
                  <a:tcPr marT="71125" marB="0" marR="0"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923290" rtl="0" algn="l">
                        <a:lnSpc>
                          <a:spcPct val="100000"/>
                        </a:lnSpc>
                        <a:spcBef>
                          <a:spcPts val="0"/>
                        </a:spcBef>
                        <a:spcAft>
                          <a:spcPts val="0"/>
                        </a:spcAft>
                        <a:buClr>
                          <a:srgbClr val="000000"/>
                        </a:buClr>
                        <a:buSzPts val="1300"/>
                        <a:buFont typeface="Arial"/>
                        <a:buNone/>
                      </a:pPr>
                      <a:r>
                        <a:t/>
                      </a:r>
                      <a:endParaRPr b="1" sz="1300" u="none" cap="none" strike="noStrike">
                        <a:solidFill>
                          <a:srgbClr val="FFFFFF"/>
                        </a:solidFill>
                        <a:latin typeface="Cambria"/>
                        <a:ea typeface="Cambria"/>
                        <a:cs typeface="Cambria"/>
                        <a:sym typeface="Cambria"/>
                      </a:endParaRPr>
                    </a:p>
                  </a:txBody>
                  <a:tcPr marT="71125"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94425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latin typeface="Times New Roman"/>
                        <a:ea typeface="Times New Roman"/>
                        <a:cs typeface="Times New Roman"/>
                        <a:sym typeface="Times New Roman"/>
                      </a:endParaRPr>
                    </a:p>
                    <a:p>
                      <a:pPr indent="0" lvl="0" marL="0" marR="0" rtl="0" algn="ctr">
                        <a:lnSpc>
                          <a:spcPct val="100000"/>
                        </a:lnSpc>
                        <a:spcBef>
                          <a:spcPts val="5"/>
                        </a:spcBef>
                        <a:spcAft>
                          <a:spcPts val="0"/>
                        </a:spcAft>
                        <a:buClr>
                          <a:srgbClr val="000000"/>
                        </a:buClr>
                        <a:buSzPts val="1400"/>
                        <a:buFont typeface="Arial"/>
                        <a:buNone/>
                      </a:pPr>
                      <a:r>
                        <a:rPr lang="en-US" sz="1400" u="none" cap="none" strike="noStrike">
                          <a:solidFill>
                            <a:srgbClr val="FFFFFF"/>
                          </a:solidFill>
                          <a:latin typeface="Arial"/>
                          <a:ea typeface="Arial"/>
                          <a:cs typeface="Arial"/>
                          <a:sym typeface="Arial"/>
                        </a:rPr>
                        <a:t>3</a:t>
                      </a:r>
                      <a:endParaRPr sz="1400" u="none" cap="none" strike="noStrike">
                        <a:latin typeface="Arial"/>
                        <a:ea typeface="Arial"/>
                        <a:cs typeface="Arial"/>
                        <a:sym typeface="Arial"/>
                      </a:endParaRPr>
                    </a:p>
                  </a:txBody>
                  <a:tcPr marT="153675"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latin typeface="Times New Roman"/>
                        <a:ea typeface="Times New Roman"/>
                        <a:cs typeface="Times New Roman"/>
                        <a:sym typeface="Times New Roman"/>
                      </a:endParaRPr>
                    </a:p>
                    <a:p>
                      <a:pPr indent="0" lvl="0" marL="0" marR="0" rtl="0" algn="l">
                        <a:lnSpc>
                          <a:spcPct val="100000"/>
                        </a:lnSpc>
                        <a:spcBef>
                          <a:spcPts val="840"/>
                        </a:spcBef>
                        <a:spcAft>
                          <a:spcPts val="0"/>
                        </a:spcAft>
                        <a:buClr>
                          <a:srgbClr val="000000"/>
                        </a:buClr>
                        <a:buSzPts val="1000"/>
                        <a:buFont typeface="Arial"/>
                        <a:buNone/>
                      </a:pPr>
                      <a:r>
                        <a:t/>
                      </a:r>
                      <a:endParaRPr sz="1000" u="none" cap="none" strike="noStrike">
                        <a:latin typeface="Times New Roman"/>
                        <a:ea typeface="Times New Roman"/>
                        <a:cs typeface="Times New Roman"/>
                        <a:sym typeface="Times New Roman"/>
                      </a:endParaRPr>
                    </a:p>
                    <a:p>
                      <a:pPr indent="-1068070" lvl="0" marL="1097280" marR="23495" rtl="0" algn="l">
                        <a:lnSpc>
                          <a:spcPct val="100000"/>
                        </a:lnSpc>
                        <a:spcBef>
                          <a:spcPts val="0"/>
                        </a:spcBef>
                        <a:spcAft>
                          <a:spcPts val="0"/>
                        </a:spcAft>
                        <a:buClr>
                          <a:srgbClr val="000000"/>
                        </a:buClr>
                        <a:buSzPts val="1000"/>
                        <a:buFont typeface="Arial"/>
                        <a:buNone/>
                      </a:pPr>
                      <a:r>
                        <a:rPr b="1" lang="en-US" sz="1000" u="none" cap="none" strike="noStrike">
                          <a:solidFill>
                            <a:srgbClr val="FFFFFF"/>
                          </a:solidFill>
                          <a:latin typeface="Cambria"/>
                          <a:ea typeface="Cambria"/>
                          <a:cs typeface="Cambria"/>
                          <a:sym typeface="Cambria"/>
                        </a:rPr>
                        <a:t>Painting with hand gestures using media pipe 2024</a:t>
                      </a:r>
                      <a:endParaRPr sz="1000" u="none" cap="none" strike="noStrike">
                        <a:latin typeface="Cambria"/>
                        <a:ea typeface="Cambria"/>
                        <a:cs typeface="Cambria"/>
                        <a:sym typeface="Cambria"/>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1" lang="en-US" sz="1000" u="none" cap="none" strike="noStrike">
                          <a:solidFill>
                            <a:schemeClr val="lt1"/>
                          </a:solidFill>
                          <a:latin typeface="Cambria"/>
                          <a:ea typeface="Cambria"/>
                          <a:cs typeface="Cambria"/>
                          <a:sym typeface="Cambria"/>
                        </a:rPr>
                        <a:t>C. Effective real-time hand gesture painting system by tracking fingertip movements.</a:t>
                      </a:r>
                      <a:endParaRPr b="1" sz="1000" u="none" cap="none" strike="noStrike">
                        <a:solidFill>
                          <a:schemeClr val="lt1"/>
                        </a:solidFill>
                        <a:latin typeface="Cambria"/>
                        <a:ea typeface="Cambria"/>
                        <a:cs typeface="Cambria"/>
                        <a:sym typeface="Cambria"/>
                      </a:endParaRPr>
                    </a:p>
                    <a:p>
                      <a:pPr indent="0" lvl="0" marL="0" marR="0" rtl="0" algn="l">
                        <a:lnSpc>
                          <a:spcPct val="100000"/>
                        </a:lnSpc>
                        <a:spcBef>
                          <a:spcPts val="0"/>
                        </a:spcBef>
                        <a:spcAft>
                          <a:spcPts val="0"/>
                        </a:spcAft>
                        <a:buClr>
                          <a:srgbClr val="000000"/>
                        </a:buClr>
                        <a:buSzPts val="1000"/>
                        <a:buFont typeface="Arial"/>
                        <a:buNone/>
                      </a:pPr>
                      <a:r>
                        <a:rPr b="1" lang="en-US" sz="1000" u="none" cap="none" strike="noStrike">
                          <a:solidFill>
                            <a:schemeClr val="lt1"/>
                          </a:solidFill>
                          <a:latin typeface="Cambria"/>
                          <a:ea typeface="Cambria"/>
                          <a:cs typeface="Cambria"/>
                          <a:sym typeface="Cambria"/>
                        </a:rPr>
                        <a:t>D. Sensitive to lighting conditions and background noise which can reduce drawing accuracy.</a:t>
                      </a:r>
                      <a:endParaRPr b="1" sz="1000" u="none" cap="none" strike="noStrike">
                        <a:solidFill>
                          <a:schemeClr val="lt1"/>
                        </a:solidFill>
                        <a:latin typeface="Cambria"/>
                        <a:ea typeface="Cambria"/>
                        <a:cs typeface="Cambria"/>
                        <a:sym typeface="Cambria"/>
                      </a:endParaRPr>
                    </a:p>
                  </a:txBody>
                  <a:tcPr marT="0" marB="0" marR="0"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1" lang="en-US" sz="1000" u="none" cap="none" strike="noStrike">
                          <a:solidFill>
                            <a:schemeClr val="lt1"/>
                          </a:solidFill>
                          <a:latin typeface="Cambria"/>
                          <a:ea typeface="Cambria"/>
                          <a:cs typeface="Cambria"/>
                          <a:sym typeface="Cambria"/>
                        </a:rPr>
                        <a:t>Simple fingertip tracking and gesture mapping can be used to build an air drawing system, which we can enhance with better accuracy and stability.</a:t>
                      </a:r>
                      <a:endParaRPr b="1" sz="1000" u="none" cap="none" strike="noStrike">
                        <a:solidFill>
                          <a:schemeClr val="lt1"/>
                        </a:solidFill>
                        <a:latin typeface="Cambria"/>
                        <a:ea typeface="Cambria"/>
                        <a:cs typeface="Cambria"/>
                        <a:sym typeface="Cambria"/>
                      </a:endParaRPr>
                    </a:p>
                  </a:txBody>
                  <a:tcPr marT="71125" marB="0" marR="0"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255270" lvl="0" marL="542925" marR="358775" rtl="0" algn="l">
                        <a:lnSpc>
                          <a:spcPct val="100000"/>
                        </a:lnSpc>
                        <a:spcBef>
                          <a:spcPts val="0"/>
                        </a:spcBef>
                        <a:spcAft>
                          <a:spcPts val="0"/>
                        </a:spcAft>
                        <a:buClr>
                          <a:srgbClr val="000000"/>
                        </a:buClr>
                        <a:buSzPts val="1300"/>
                        <a:buFont typeface="Arial"/>
                        <a:buNone/>
                      </a:pPr>
                      <a:r>
                        <a:rPr b="1" lang="en-US" sz="1300" u="none" cap="none" strike="noStrike">
                          <a:solidFill>
                            <a:srgbClr val="FFFFFF"/>
                          </a:solidFill>
                          <a:latin typeface="Cambria"/>
                          <a:ea typeface="Cambria"/>
                          <a:cs typeface="Cambria"/>
                          <a:sym typeface="Cambria"/>
                        </a:rPr>
                        <a:t>           IJISRT</a:t>
                      </a:r>
                      <a:endParaRPr b="1" sz="1300" u="none" cap="none" strike="noStrike">
                        <a:solidFill>
                          <a:srgbClr val="FFFFFF"/>
                        </a:solidFill>
                        <a:latin typeface="Cambria"/>
                        <a:ea typeface="Cambria"/>
                        <a:cs typeface="Cambria"/>
                        <a:sym typeface="Cambria"/>
                      </a:endParaRPr>
                    </a:p>
                  </a:txBody>
                  <a:tcPr marT="71125"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620400">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FFFFFF"/>
                          </a:solidFill>
                          <a:latin typeface="Arial"/>
                          <a:ea typeface="Arial"/>
                          <a:cs typeface="Arial"/>
                          <a:sym typeface="Arial"/>
                        </a:rPr>
                        <a:t>4</a:t>
                      </a:r>
                      <a:endParaRPr sz="1400" u="none" cap="none" strike="noStrike">
                        <a:latin typeface="Arial"/>
                        <a:ea typeface="Arial"/>
                        <a:cs typeface="Arial"/>
                        <a:sym typeface="Arial"/>
                      </a:endParaRPr>
                    </a:p>
                  </a:txBody>
                  <a:tcPr marT="183525"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latin typeface="Times New Roman"/>
                        <a:ea typeface="Times New Roman"/>
                        <a:cs typeface="Times New Roman"/>
                        <a:sym typeface="Times New Roman"/>
                      </a:endParaRPr>
                    </a:p>
                    <a:p>
                      <a:pPr indent="-274955" lvl="0" marL="381635" marR="96520" rtl="0" algn="l">
                        <a:lnSpc>
                          <a:spcPct val="100000"/>
                        </a:lnSpc>
                        <a:spcBef>
                          <a:spcPts val="0"/>
                        </a:spcBef>
                        <a:spcAft>
                          <a:spcPts val="0"/>
                        </a:spcAft>
                        <a:buClr>
                          <a:srgbClr val="000000"/>
                        </a:buClr>
                        <a:buSzPts val="1000"/>
                        <a:buFont typeface="Arial"/>
                        <a:buNone/>
                      </a:pPr>
                      <a:r>
                        <a:rPr b="1" lang="en-US" sz="1000" u="none" cap="none" strike="noStrike">
                          <a:solidFill>
                            <a:srgbClr val="FFFFFF"/>
                          </a:solidFill>
                          <a:latin typeface="Cambria"/>
                          <a:ea typeface="Cambria"/>
                          <a:cs typeface="Cambria"/>
                          <a:sym typeface="Cambria"/>
                        </a:rPr>
                        <a:t>Air Canvas Handtracking 2022</a:t>
                      </a:r>
                      <a:endParaRPr sz="1000" u="none" cap="none" strike="noStrike">
                        <a:latin typeface="Cambria"/>
                        <a:ea typeface="Cambria"/>
                        <a:cs typeface="Cambria"/>
                        <a:sym typeface="Cambria"/>
                      </a:endParaRPr>
                    </a:p>
                  </a:txBody>
                  <a:tcPr marT="1275"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1" lang="en-US" sz="1000" u="none" cap="none" strike="noStrike">
                          <a:solidFill>
                            <a:schemeClr val="lt1"/>
                          </a:solidFill>
                          <a:latin typeface="Cambria"/>
                          <a:ea typeface="Cambria"/>
                          <a:cs typeface="Cambria"/>
                          <a:sym typeface="Cambria"/>
                        </a:rPr>
                        <a:t>C. Virtual air canvas system built using color-based object tracking</a:t>
                      </a:r>
                      <a:endParaRPr b="1" sz="1000" u="none" cap="none" strike="noStrike">
                        <a:solidFill>
                          <a:schemeClr val="lt1"/>
                        </a:solidFill>
                        <a:latin typeface="Cambria"/>
                        <a:ea typeface="Cambria"/>
                        <a:cs typeface="Cambria"/>
                        <a:sym typeface="Cambria"/>
                      </a:endParaRPr>
                    </a:p>
                    <a:p>
                      <a:pPr indent="0" lvl="0" marL="0" marR="0" rtl="0" algn="l">
                        <a:lnSpc>
                          <a:spcPct val="100000"/>
                        </a:lnSpc>
                        <a:spcBef>
                          <a:spcPts val="0"/>
                        </a:spcBef>
                        <a:spcAft>
                          <a:spcPts val="0"/>
                        </a:spcAft>
                        <a:buClr>
                          <a:srgbClr val="000000"/>
                        </a:buClr>
                        <a:buSzPts val="1000"/>
                        <a:buFont typeface="Arial"/>
                        <a:buNone/>
                      </a:pPr>
                      <a:r>
                        <a:rPr b="1" lang="en-US" sz="1000" u="none" cap="none" strike="noStrike">
                          <a:solidFill>
                            <a:schemeClr val="lt1"/>
                          </a:solidFill>
                          <a:latin typeface="Cambria"/>
                          <a:ea typeface="Cambria"/>
                          <a:cs typeface="Cambria"/>
                          <a:sym typeface="Cambria"/>
                        </a:rPr>
                        <a:t>D. Reliance on colored markers, making it less natural and less flexible</a:t>
                      </a:r>
                      <a:endParaRPr b="1" sz="1000" u="none" cap="none" strike="noStrike">
                        <a:solidFill>
                          <a:schemeClr val="lt1"/>
                        </a:solidFill>
                        <a:latin typeface="Cambria"/>
                        <a:ea typeface="Cambria"/>
                        <a:cs typeface="Cambria"/>
                        <a:sym typeface="Cambria"/>
                      </a:endParaRPr>
                    </a:p>
                  </a:txBody>
                  <a:tcPr marT="1275" marB="0" marR="0"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1" lang="en-US" sz="1000" u="none" cap="none" strike="noStrike">
                          <a:solidFill>
                            <a:schemeClr val="lt1"/>
                          </a:solidFill>
                          <a:latin typeface="Cambria"/>
                          <a:ea typeface="Cambria"/>
                          <a:cs typeface="Cambria"/>
                          <a:sym typeface="Cambria"/>
                        </a:rPr>
                        <a:t>Simpler color detection methods can reduce computational complexity,</a:t>
                      </a:r>
                      <a:endParaRPr b="1" sz="1000" u="none" cap="none" strike="noStrike">
                        <a:solidFill>
                          <a:schemeClr val="lt1"/>
                        </a:solidFill>
                        <a:latin typeface="Cambria"/>
                        <a:ea typeface="Cambria"/>
                        <a:cs typeface="Cambria"/>
                        <a:sym typeface="Cambria"/>
                      </a:endParaRPr>
                    </a:p>
                  </a:txBody>
                  <a:tcPr marT="83175" marB="0" marR="0"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256540" lvl="0" marL="541655" marR="0" rtl="0" algn="l">
                        <a:lnSpc>
                          <a:spcPct val="100000"/>
                        </a:lnSpc>
                        <a:spcBef>
                          <a:spcPts val="0"/>
                        </a:spcBef>
                        <a:spcAft>
                          <a:spcPts val="0"/>
                        </a:spcAft>
                        <a:buClr>
                          <a:srgbClr val="000000"/>
                        </a:buClr>
                        <a:buSzPts val="1300"/>
                        <a:buFont typeface="Arial"/>
                        <a:buNone/>
                      </a:pPr>
                      <a:r>
                        <a:rPr b="1" lang="en-US" sz="1300" u="none" cap="none" strike="noStrike">
                          <a:solidFill>
                            <a:srgbClr val="FFFFFF"/>
                          </a:solidFill>
                          <a:latin typeface="Cambria"/>
                          <a:ea typeface="Cambria"/>
                          <a:cs typeface="Cambria"/>
                          <a:sym typeface="Cambria"/>
                        </a:rPr>
                        <a:t>         JETIR</a:t>
                      </a:r>
                      <a:endParaRPr b="1" sz="1300" u="none" cap="none" strike="noStrike">
                        <a:solidFill>
                          <a:srgbClr val="FFFFFF"/>
                        </a:solidFill>
                        <a:latin typeface="Cambria"/>
                        <a:ea typeface="Cambria"/>
                        <a:cs typeface="Cambria"/>
                        <a:sym typeface="Cambria"/>
                      </a:endParaRPr>
                    </a:p>
                  </a:txBody>
                  <a:tcPr marT="83175"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pic>
        <p:nvPicPr>
          <p:cNvPr id="151" name="Google Shape;151;p16"/>
          <p:cNvPicPr preferRelativeResize="0"/>
          <p:nvPr/>
        </p:nvPicPr>
        <p:blipFill rotWithShape="1">
          <a:blip r:embed="rId8">
            <a:alphaModFix/>
          </a:blip>
          <a:srcRect b="0" l="0" r="0" t="0"/>
          <a:stretch/>
        </p:blipFill>
        <p:spPr>
          <a:xfrm>
            <a:off x="8753671" y="1019914"/>
            <a:ext cx="86275" cy="86275"/>
          </a:xfrm>
          <a:prstGeom prst="rect">
            <a:avLst/>
          </a:prstGeom>
          <a:noFill/>
          <a:ln>
            <a:noFill/>
          </a:ln>
        </p:spPr>
      </p:pic>
      <p:pic>
        <p:nvPicPr>
          <p:cNvPr id="152" name="Google Shape;152;p16"/>
          <p:cNvPicPr preferRelativeResize="0"/>
          <p:nvPr/>
        </p:nvPicPr>
        <p:blipFill rotWithShape="1">
          <a:blip r:embed="rId9">
            <a:alphaModFix/>
          </a:blip>
          <a:srcRect b="0" l="0" r="0" t="0"/>
          <a:stretch/>
        </p:blipFill>
        <p:spPr>
          <a:xfrm>
            <a:off x="8754380" y="268214"/>
            <a:ext cx="86275" cy="86275"/>
          </a:xfrm>
          <a:prstGeom prst="rect">
            <a:avLst/>
          </a:prstGeom>
          <a:noFill/>
          <a:ln>
            <a:noFill/>
          </a:ln>
        </p:spPr>
      </p:pic>
      <p:pic>
        <p:nvPicPr>
          <p:cNvPr id="153" name="Google Shape;153;p16"/>
          <p:cNvPicPr preferRelativeResize="0"/>
          <p:nvPr/>
        </p:nvPicPr>
        <p:blipFill rotWithShape="1">
          <a:blip r:embed="rId10">
            <a:alphaModFix/>
          </a:blip>
          <a:srcRect b="0" l="0" r="0" t="0"/>
          <a:stretch/>
        </p:blipFill>
        <p:spPr>
          <a:xfrm>
            <a:off x="8464393" y="1397144"/>
            <a:ext cx="72734" cy="74346"/>
          </a:xfrm>
          <a:prstGeom prst="rect">
            <a:avLst/>
          </a:prstGeom>
          <a:noFill/>
          <a:ln>
            <a:noFill/>
          </a:ln>
        </p:spPr>
      </p:pic>
      <p:grpSp>
        <p:nvGrpSpPr>
          <p:cNvPr id="154" name="Google Shape;154;p16"/>
          <p:cNvGrpSpPr/>
          <p:nvPr/>
        </p:nvGrpSpPr>
        <p:grpSpPr>
          <a:xfrm>
            <a:off x="0" y="79439"/>
            <a:ext cx="1139292" cy="74623"/>
            <a:chOff x="0" y="79439"/>
            <a:chExt cx="1139292" cy="74623"/>
          </a:xfrm>
        </p:grpSpPr>
        <p:sp>
          <p:nvSpPr>
            <p:cNvPr id="155" name="Google Shape;155;p16"/>
            <p:cNvSpPr/>
            <p:nvPr/>
          </p:nvSpPr>
          <p:spPr>
            <a:xfrm>
              <a:off x="0" y="116625"/>
              <a:ext cx="1104265" cy="0"/>
            </a:xfrm>
            <a:custGeom>
              <a:rect b="b" l="l" r="r" t="t"/>
              <a:pathLst>
                <a:path extrusionOk="0" h="120000" w="1104265">
                  <a:moveTo>
                    <a:pt x="0" y="0"/>
                  </a:moveTo>
                  <a:lnTo>
                    <a:pt x="1103663" y="0"/>
                  </a:lnTo>
                </a:path>
              </a:pathLst>
            </a:custGeom>
            <a:noFill/>
            <a:ln cap="flat" cmpd="sng" w="9525">
              <a:solidFill>
                <a:srgbClr val="FFBD33"/>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56" name="Google Shape;156;p16"/>
            <p:cNvPicPr preferRelativeResize="0"/>
            <p:nvPr/>
          </p:nvPicPr>
          <p:blipFill rotWithShape="1">
            <a:blip r:embed="rId11">
              <a:alphaModFix/>
            </a:blip>
            <a:srcRect b="0" l="0" r="0" t="0"/>
            <a:stretch/>
          </p:blipFill>
          <p:spPr>
            <a:xfrm>
              <a:off x="1066469" y="79439"/>
              <a:ext cx="72823" cy="74623"/>
            </a:xfrm>
            <a:prstGeom prst="rect">
              <a:avLst/>
            </a:prstGeom>
            <a:noFill/>
            <a:ln>
              <a:noFill/>
            </a:ln>
          </p:spPr>
        </p:pic>
      </p:grpSp>
      <p:pic>
        <p:nvPicPr>
          <p:cNvPr id="157" name="Google Shape;157;p16"/>
          <p:cNvPicPr preferRelativeResize="0"/>
          <p:nvPr/>
        </p:nvPicPr>
        <p:blipFill rotWithShape="1">
          <a:blip r:embed="rId12">
            <a:alphaModFix/>
          </a:blip>
          <a:srcRect b="0" l="0" r="0" t="0"/>
          <a:stretch/>
        </p:blipFill>
        <p:spPr>
          <a:xfrm>
            <a:off x="1079560" y="4878582"/>
            <a:ext cx="72733" cy="72733"/>
          </a:xfrm>
          <a:prstGeom prst="rect">
            <a:avLst/>
          </a:prstGeom>
          <a:noFill/>
          <a:ln>
            <a:noFill/>
          </a:ln>
        </p:spPr>
      </p:pic>
      <p:sp>
        <p:nvSpPr>
          <p:cNvPr id="158" name="Google Shape;158;p16"/>
          <p:cNvSpPr txBox="1"/>
          <p:nvPr/>
        </p:nvSpPr>
        <p:spPr>
          <a:xfrm>
            <a:off x="7868950" y="2413725"/>
            <a:ext cx="1299000" cy="446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chemeClr val="lt1"/>
              </a:solidFill>
              <a:latin typeface="Cambria"/>
              <a:ea typeface="Cambria"/>
              <a:cs typeface="Cambria"/>
              <a:sym typeface="Cambria"/>
            </a:endParaRPr>
          </a:p>
        </p:txBody>
      </p:sp>
      <p:sp>
        <p:nvSpPr>
          <p:cNvPr id="159" name="Google Shape;159;p16"/>
          <p:cNvSpPr txBox="1"/>
          <p:nvPr/>
        </p:nvSpPr>
        <p:spPr>
          <a:xfrm>
            <a:off x="7381875" y="2351325"/>
            <a:ext cx="1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chemeClr val="lt1"/>
                </a:solidFill>
                <a:latin typeface="Cambria"/>
                <a:ea typeface="Cambria"/>
                <a:cs typeface="Cambria"/>
                <a:sym typeface="Cambria"/>
              </a:rPr>
              <a:t>Cornell University</a:t>
            </a:r>
            <a:endParaRPr b="1" i="0" sz="1300" u="none" cap="none" strike="noStrike">
              <a:solidFill>
                <a:schemeClr val="lt1"/>
              </a:solidFill>
              <a:latin typeface="Cambria"/>
              <a:ea typeface="Cambria"/>
              <a:cs typeface="Cambria"/>
              <a:sym typeface="Cambria"/>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grpSp>
        <p:nvGrpSpPr>
          <p:cNvPr id="164" name="Google Shape;164;p17"/>
          <p:cNvGrpSpPr/>
          <p:nvPr/>
        </p:nvGrpSpPr>
        <p:grpSpPr>
          <a:xfrm>
            <a:off x="8753671" y="268214"/>
            <a:ext cx="86984" cy="837975"/>
            <a:chOff x="8753671" y="268214"/>
            <a:chExt cx="86984" cy="837975"/>
          </a:xfrm>
        </p:grpSpPr>
        <p:sp>
          <p:nvSpPr>
            <p:cNvPr id="165" name="Google Shape;165;p17"/>
            <p:cNvSpPr/>
            <p:nvPr/>
          </p:nvSpPr>
          <p:spPr>
            <a:xfrm>
              <a:off x="8797889" y="310053"/>
              <a:ext cx="0" cy="753110"/>
            </a:xfrm>
            <a:custGeom>
              <a:rect b="b" l="l" r="r" t="t"/>
              <a:pathLst>
                <a:path extrusionOk="0" h="753110" w="120000">
                  <a:moveTo>
                    <a:pt x="0" y="752996"/>
                  </a:moveTo>
                  <a:lnTo>
                    <a:pt x="0" y="0"/>
                  </a:lnTo>
                </a:path>
              </a:pathLst>
            </a:custGeom>
            <a:noFill/>
            <a:ln cap="flat" cmpd="sng" w="9525">
              <a:solidFill>
                <a:srgbClr val="FFBD33"/>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66" name="Google Shape;166;p17"/>
            <p:cNvPicPr preferRelativeResize="0"/>
            <p:nvPr/>
          </p:nvPicPr>
          <p:blipFill rotWithShape="1">
            <a:blip r:embed="rId3">
              <a:alphaModFix/>
            </a:blip>
            <a:srcRect b="0" l="0" r="0" t="0"/>
            <a:stretch/>
          </p:blipFill>
          <p:spPr>
            <a:xfrm>
              <a:off x="8753671" y="1019914"/>
              <a:ext cx="86275" cy="86275"/>
            </a:xfrm>
            <a:prstGeom prst="rect">
              <a:avLst/>
            </a:prstGeom>
            <a:noFill/>
            <a:ln>
              <a:noFill/>
            </a:ln>
          </p:spPr>
        </p:pic>
        <p:pic>
          <p:nvPicPr>
            <p:cNvPr id="167" name="Google Shape;167;p17"/>
            <p:cNvPicPr preferRelativeResize="0"/>
            <p:nvPr/>
          </p:nvPicPr>
          <p:blipFill rotWithShape="1">
            <a:blip r:embed="rId4">
              <a:alphaModFix/>
            </a:blip>
            <a:srcRect b="0" l="0" r="0" t="0"/>
            <a:stretch/>
          </p:blipFill>
          <p:spPr>
            <a:xfrm>
              <a:off x="8754380" y="268214"/>
              <a:ext cx="86275" cy="86275"/>
            </a:xfrm>
            <a:prstGeom prst="rect">
              <a:avLst/>
            </a:prstGeom>
            <a:noFill/>
            <a:ln>
              <a:noFill/>
            </a:ln>
          </p:spPr>
        </p:pic>
      </p:grpSp>
      <p:grpSp>
        <p:nvGrpSpPr>
          <p:cNvPr id="168" name="Google Shape;168;p17"/>
          <p:cNvGrpSpPr/>
          <p:nvPr/>
        </p:nvGrpSpPr>
        <p:grpSpPr>
          <a:xfrm>
            <a:off x="8361706" y="0"/>
            <a:ext cx="290195" cy="1471490"/>
            <a:chOff x="8361706" y="0"/>
            <a:chExt cx="290195" cy="1471490"/>
          </a:xfrm>
        </p:grpSpPr>
        <p:sp>
          <p:nvSpPr>
            <p:cNvPr id="169" name="Google Shape;169;p17"/>
            <p:cNvSpPr/>
            <p:nvPr/>
          </p:nvSpPr>
          <p:spPr>
            <a:xfrm>
              <a:off x="8361706" y="0"/>
              <a:ext cx="290195" cy="1434465"/>
            </a:xfrm>
            <a:custGeom>
              <a:rect b="b" l="l" r="r" t="t"/>
              <a:pathLst>
                <a:path extrusionOk="0" h="1434465" w="290195">
                  <a:moveTo>
                    <a:pt x="139425" y="1434302"/>
                  </a:moveTo>
                  <a:lnTo>
                    <a:pt x="139425" y="810545"/>
                  </a:lnTo>
                  <a:lnTo>
                    <a:pt x="0" y="670715"/>
                  </a:lnTo>
                  <a:lnTo>
                    <a:pt x="0" y="292867"/>
                  </a:lnTo>
                  <a:lnTo>
                    <a:pt x="289681" y="0"/>
                  </a:lnTo>
                </a:path>
              </a:pathLst>
            </a:custGeom>
            <a:noFill/>
            <a:ln cap="flat" cmpd="sng" w="9525">
              <a:solidFill>
                <a:srgbClr val="FFBD33"/>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70" name="Google Shape;170;p17"/>
            <p:cNvPicPr preferRelativeResize="0"/>
            <p:nvPr/>
          </p:nvPicPr>
          <p:blipFill rotWithShape="1">
            <a:blip r:embed="rId5">
              <a:alphaModFix/>
            </a:blip>
            <a:srcRect b="0" l="0" r="0" t="0"/>
            <a:stretch/>
          </p:blipFill>
          <p:spPr>
            <a:xfrm>
              <a:off x="8464392" y="1397144"/>
              <a:ext cx="72734" cy="74346"/>
            </a:xfrm>
            <a:prstGeom prst="rect">
              <a:avLst/>
            </a:prstGeom>
            <a:noFill/>
            <a:ln>
              <a:noFill/>
            </a:ln>
          </p:spPr>
        </p:pic>
      </p:grpSp>
      <p:grpSp>
        <p:nvGrpSpPr>
          <p:cNvPr id="171" name="Google Shape;171;p17"/>
          <p:cNvGrpSpPr/>
          <p:nvPr/>
        </p:nvGrpSpPr>
        <p:grpSpPr>
          <a:xfrm>
            <a:off x="7970104" y="4583944"/>
            <a:ext cx="1174115" cy="439499"/>
            <a:chOff x="7970104" y="4583944"/>
            <a:chExt cx="1174115" cy="439499"/>
          </a:xfrm>
        </p:grpSpPr>
        <p:sp>
          <p:nvSpPr>
            <p:cNvPr id="172" name="Google Shape;172;p17"/>
            <p:cNvSpPr/>
            <p:nvPr/>
          </p:nvSpPr>
          <p:spPr>
            <a:xfrm>
              <a:off x="8470011" y="4617498"/>
              <a:ext cx="455930" cy="370840"/>
            </a:xfrm>
            <a:custGeom>
              <a:rect b="b" l="l" r="r" t="t"/>
              <a:pathLst>
                <a:path extrusionOk="0" h="370839" w="455929">
                  <a:moveTo>
                    <a:pt x="0" y="0"/>
                  </a:moveTo>
                  <a:lnTo>
                    <a:pt x="206543" y="0"/>
                  </a:lnTo>
                  <a:lnTo>
                    <a:pt x="455492" y="248947"/>
                  </a:lnTo>
                  <a:lnTo>
                    <a:pt x="455661" y="370513"/>
                  </a:lnTo>
                </a:path>
              </a:pathLst>
            </a:custGeom>
            <a:noFill/>
            <a:ln cap="flat" cmpd="sng" w="9525">
              <a:solidFill>
                <a:srgbClr val="FFBD33"/>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73" name="Google Shape;173;p17"/>
            <p:cNvPicPr preferRelativeResize="0"/>
            <p:nvPr/>
          </p:nvPicPr>
          <p:blipFill rotWithShape="1">
            <a:blip r:embed="rId6">
              <a:alphaModFix/>
            </a:blip>
            <a:srcRect b="0" l="0" r="0" t="0"/>
            <a:stretch/>
          </p:blipFill>
          <p:spPr>
            <a:xfrm>
              <a:off x="8435621" y="4583944"/>
              <a:ext cx="68781" cy="68779"/>
            </a:xfrm>
            <a:prstGeom prst="rect">
              <a:avLst/>
            </a:prstGeom>
            <a:noFill/>
            <a:ln>
              <a:noFill/>
            </a:ln>
          </p:spPr>
        </p:pic>
        <p:pic>
          <p:nvPicPr>
            <p:cNvPr id="174" name="Google Shape;174;p17"/>
            <p:cNvPicPr preferRelativeResize="0"/>
            <p:nvPr/>
          </p:nvPicPr>
          <p:blipFill rotWithShape="1">
            <a:blip r:embed="rId7">
              <a:alphaModFix/>
            </a:blip>
            <a:srcRect b="0" l="0" r="0" t="0"/>
            <a:stretch/>
          </p:blipFill>
          <p:spPr>
            <a:xfrm>
              <a:off x="8891078" y="4954664"/>
              <a:ext cx="68778" cy="68779"/>
            </a:xfrm>
            <a:prstGeom prst="rect">
              <a:avLst/>
            </a:prstGeom>
            <a:noFill/>
            <a:ln>
              <a:noFill/>
            </a:ln>
          </p:spPr>
        </p:pic>
        <p:sp>
          <p:nvSpPr>
            <p:cNvPr id="175" name="Google Shape;175;p17"/>
            <p:cNvSpPr/>
            <p:nvPr/>
          </p:nvSpPr>
          <p:spPr>
            <a:xfrm>
              <a:off x="7970104" y="4849851"/>
              <a:ext cx="1174115" cy="15240"/>
            </a:xfrm>
            <a:custGeom>
              <a:rect b="b" l="l" r="r" t="t"/>
              <a:pathLst>
                <a:path extrusionOk="0" h="15239" w="1174115">
                  <a:moveTo>
                    <a:pt x="1173895" y="0"/>
                  </a:moveTo>
                  <a:lnTo>
                    <a:pt x="1158809" y="15074"/>
                  </a:lnTo>
                  <a:lnTo>
                    <a:pt x="0" y="15074"/>
                  </a:lnTo>
                </a:path>
              </a:pathLst>
            </a:custGeom>
            <a:noFill/>
            <a:ln cap="flat" cmpd="sng" w="9525">
              <a:solidFill>
                <a:srgbClr val="FFBD33"/>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id="176" name="Google Shape;176;p17"/>
          <p:cNvPicPr preferRelativeResize="0"/>
          <p:nvPr/>
        </p:nvPicPr>
        <p:blipFill rotWithShape="1">
          <a:blip r:embed="rId8">
            <a:alphaModFix/>
          </a:blip>
          <a:srcRect b="0" l="0" r="0" t="0"/>
          <a:stretch/>
        </p:blipFill>
        <p:spPr>
          <a:xfrm>
            <a:off x="7932918" y="4827738"/>
            <a:ext cx="74624" cy="74623"/>
          </a:xfrm>
          <a:prstGeom prst="rect">
            <a:avLst/>
          </a:prstGeom>
          <a:noFill/>
          <a:ln>
            <a:noFill/>
          </a:ln>
        </p:spPr>
      </p:pic>
      <p:grpSp>
        <p:nvGrpSpPr>
          <p:cNvPr id="177" name="Google Shape;177;p17"/>
          <p:cNvGrpSpPr/>
          <p:nvPr/>
        </p:nvGrpSpPr>
        <p:grpSpPr>
          <a:xfrm>
            <a:off x="0" y="79439"/>
            <a:ext cx="1139292" cy="74623"/>
            <a:chOff x="0" y="79439"/>
            <a:chExt cx="1139292" cy="74623"/>
          </a:xfrm>
        </p:grpSpPr>
        <p:sp>
          <p:nvSpPr>
            <p:cNvPr id="178" name="Google Shape;178;p17"/>
            <p:cNvSpPr/>
            <p:nvPr/>
          </p:nvSpPr>
          <p:spPr>
            <a:xfrm>
              <a:off x="0" y="116625"/>
              <a:ext cx="1104265" cy="0"/>
            </a:xfrm>
            <a:custGeom>
              <a:rect b="b" l="l" r="r" t="t"/>
              <a:pathLst>
                <a:path extrusionOk="0" h="120000" w="1104265">
                  <a:moveTo>
                    <a:pt x="0" y="0"/>
                  </a:moveTo>
                  <a:lnTo>
                    <a:pt x="1103663" y="0"/>
                  </a:lnTo>
                </a:path>
              </a:pathLst>
            </a:custGeom>
            <a:noFill/>
            <a:ln cap="flat" cmpd="sng" w="9525">
              <a:solidFill>
                <a:srgbClr val="FFBD33"/>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79" name="Google Shape;179;p17"/>
            <p:cNvPicPr preferRelativeResize="0"/>
            <p:nvPr/>
          </p:nvPicPr>
          <p:blipFill rotWithShape="1">
            <a:blip r:embed="rId9">
              <a:alphaModFix/>
            </a:blip>
            <a:srcRect b="0" l="0" r="0" t="0"/>
            <a:stretch/>
          </p:blipFill>
          <p:spPr>
            <a:xfrm>
              <a:off x="1066469" y="79439"/>
              <a:ext cx="72823" cy="74623"/>
            </a:xfrm>
            <a:prstGeom prst="rect">
              <a:avLst/>
            </a:prstGeom>
            <a:noFill/>
            <a:ln>
              <a:noFill/>
            </a:ln>
          </p:spPr>
        </p:pic>
      </p:grpSp>
      <p:sp>
        <p:nvSpPr>
          <p:cNvPr id="180" name="Google Shape;180;p17"/>
          <p:cNvSpPr/>
          <p:nvPr/>
        </p:nvSpPr>
        <p:spPr>
          <a:xfrm>
            <a:off x="0" y="4628734"/>
            <a:ext cx="530860" cy="368300"/>
          </a:xfrm>
          <a:custGeom>
            <a:rect b="b" l="l" r="r" t="t"/>
            <a:pathLst>
              <a:path extrusionOk="0" h="368300" w="530860">
                <a:moveTo>
                  <a:pt x="530340" y="368295"/>
                </a:moveTo>
                <a:lnTo>
                  <a:pt x="182533" y="20439"/>
                </a:lnTo>
                <a:lnTo>
                  <a:pt x="20457" y="20439"/>
                </a:lnTo>
                <a:lnTo>
                  <a:pt x="0" y="0"/>
                </a:lnTo>
              </a:path>
            </a:pathLst>
          </a:custGeom>
          <a:noFill/>
          <a:ln cap="flat" cmpd="sng" w="9525">
            <a:solidFill>
              <a:srgbClr val="FFBD33"/>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81" name="Google Shape;181;p17"/>
          <p:cNvPicPr preferRelativeResize="0"/>
          <p:nvPr/>
        </p:nvPicPr>
        <p:blipFill rotWithShape="1">
          <a:blip r:embed="rId10">
            <a:alphaModFix/>
          </a:blip>
          <a:srcRect b="0" l="0" r="0" t="0"/>
          <a:stretch/>
        </p:blipFill>
        <p:spPr>
          <a:xfrm>
            <a:off x="494618" y="4961304"/>
            <a:ext cx="73261" cy="73262"/>
          </a:xfrm>
          <a:prstGeom prst="rect">
            <a:avLst/>
          </a:prstGeom>
          <a:noFill/>
          <a:ln>
            <a:noFill/>
          </a:ln>
        </p:spPr>
      </p:pic>
      <p:sp>
        <p:nvSpPr>
          <p:cNvPr id="182" name="Google Shape;182;p17"/>
          <p:cNvSpPr/>
          <p:nvPr/>
        </p:nvSpPr>
        <p:spPr>
          <a:xfrm>
            <a:off x="324902" y="4291167"/>
            <a:ext cx="791845" cy="624840"/>
          </a:xfrm>
          <a:custGeom>
            <a:rect b="b" l="l" r="r" t="t"/>
            <a:pathLst>
              <a:path extrusionOk="0" h="624839" w="791844">
                <a:moveTo>
                  <a:pt x="791842" y="624602"/>
                </a:moveTo>
                <a:lnTo>
                  <a:pt x="319807" y="624602"/>
                </a:lnTo>
                <a:lnTo>
                  <a:pt x="0" y="304394"/>
                </a:lnTo>
                <a:lnTo>
                  <a:pt x="0" y="0"/>
                </a:lnTo>
              </a:path>
            </a:pathLst>
          </a:custGeom>
          <a:noFill/>
          <a:ln cap="flat" cmpd="sng" w="9525">
            <a:solidFill>
              <a:srgbClr val="FFBD33"/>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83" name="Google Shape;183;p17"/>
          <p:cNvPicPr preferRelativeResize="0"/>
          <p:nvPr/>
        </p:nvPicPr>
        <p:blipFill rotWithShape="1">
          <a:blip r:embed="rId11">
            <a:alphaModFix/>
          </a:blip>
          <a:srcRect b="0" l="0" r="0" t="0"/>
          <a:stretch/>
        </p:blipFill>
        <p:spPr>
          <a:xfrm>
            <a:off x="1079560" y="4878582"/>
            <a:ext cx="72733" cy="72733"/>
          </a:xfrm>
          <a:prstGeom prst="rect">
            <a:avLst/>
          </a:prstGeom>
          <a:noFill/>
          <a:ln>
            <a:noFill/>
          </a:ln>
        </p:spPr>
      </p:pic>
      <p:pic>
        <p:nvPicPr>
          <p:cNvPr id="184" name="Google Shape;184;p17"/>
          <p:cNvPicPr preferRelativeResize="0"/>
          <p:nvPr/>
        </p:nvPicPr>
        <p:blipFill rotWithShape="1">
          <a:blip r:embed="rId12">
            <a:alphaModFix/>
          </a:blip>
          <a:srcRect b="0" l="0" r="0" t="0"/>
          <a:stretch/>
        </p:blipFill>
        <p:spPr>
          <a:xfrm>
            <a:off x="287715" y="4255687"/>
            <a:ext cx="74346" cy="72733"/>
          </a:xfrm>
          <a:prstGeom prst="rect">
            <a:avLst/>
          </a:prstGeom>
          <a:noFill/>
          <a:ln>
            <a:noFill/>
          </a:ln>
        </p:spPr>
      </p:pic>
      <p:graphicFrame>
        <p:nvGraphicFramePr>
          <p:cNvPr id="185" name="Google Shape;185;p17"/>
          <p:cNvGraphicFramePr/>
          <p:nvPr/>
        </p:nvGraphicFramePr>
        <p:xfrm>
          <a:off x="287724" y="347949"/>
          <a:ext cx="3000000" cy="3000000"/>
        </p:xfrm>
        <a:graphic>
          <a:graphicData uri="http://schemas.openxmlformats.org/drawingml/2006/table">
            <a:tbl>
              <a:tblPr bandRow="1" firstRow="1">
                <a:noFill/>
                <a:tableStyleId>{1F646490-F326-4984-BB32-13F74F47306F}</a:tableStyleId>
              </a:tblPr>
              <a:tblGrid>
                <a:gridCol w="509900"/>
                <a:gridCol w="2242175"/>
                <a:gridCol w="2132650"/>
                <a:gridCol w="2107850"/>
                <a:gridCol w="1706650"/>
              </a:tblGrid>
              <a:tr h="428625">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FFFFFF"/>
                          </a:solidFill>
                          <a:latin typeface="Arial"/>
                          <a:ea typeface="Arial"/>
                          <a:cs typeface="Arial"/>
                          <a:sym typeface="Arial"/>
                        </a:rPr>
                        <a:t>No.</a:t>
                      </a:r>
                      <a:endParaRPr sz="1400" u="none" cap="none" strike="noStrike">
                        <a:latin typeface="Arial"/>
                        <a:ea typeface="Arial"/>
                        <a:cs typeface="Arial"/>
                        <a:sym typeface="Arial"/>
                      </a:endParaRPr>
                    </a:p>
                  </a:txBody>
                  <a:tcPr marT="88275"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444500" marR="0" rtl="0" algn="l">
                        <a:lnSpc>
                          <a:spcPct val="100000"/>
                        </a:lnSpc>
                        <a:spcBef>
                          <a:spcPts val="0"/>
                        </a:spcBef>
                        <a:spcAft>
                          <a:spcPts val="0"/>
                        </a:spcAft>
                        <a:buClr>
                          <a:srgbClr val="000000"/>
                        </a:buClr>
                        <a:buSzPts val="1400"/>
                        <a:buFont typeface="Arial"/>
                        <a:buNone/>
                      </a:pPr>
                      <a:r>
                        <a:rPr lang="en-US" sz="1400" u="none" cap="none" strike="noStrike">
                          <a:solidFill>
                            <a:srgbClr val="FFFFFF"/>
                          </a:solidFill>
                          <a:latin typeface="Arial"/>
                          <a:ea typeface="Arial"/>
                          <a:cs typeface="Arial"/>
                          <a:sym typeface="Arial"/>
                        </a:rPr>
                        <a:t>Research papers</a:t>
                      </a:r>
                      <a:endParaRPr sz="1400" u="none" cap="none" strike="noStrike">
                        <a:latin typeface="Arial"/>
                        <a:ea typeface="Arial"/>
                        <a:cs typeface="Arial"/>
                        <a:sym typeface="Arial"/>
                      </a:endParaRPr>
                    </a:p>
                  </a:txBody>
                  <a:tcPr marT="88275"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FFFFFF"/>
                          </a:solidFill>
                          <a:latin typeface="Arial"/>
                          <a:ea typeface="Arial"/>
                          <a:cs typeface="Arial"/>
                          <a:sym typeface="Arial"/>
                        </a:rPr>
                        <a:t>Conclusion &amp; Drawback</a:t>
                      </a:r>
                      <a:endParaRPr sz="1400" u="none" cap="none" strike="noStrike">
                        <a:latin typeface="Arial"/>
                        <a:ea typeface="Arial"/>
                        <a:cs typeface="Arial"/>
                        <a:sym typeface="Arial"/>
                      </a:endParaRPr>
                    </a:p>
                  </a:txBody>
                  <a:tcPr marT="88275"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Arial"/>
                        <a:buNone/>
                      </a:pPr>
                      <a:r>
                        <a:rPr lang="en-US" sz="1400" u="none" cap="none" strike="noStrike">
                          <a:solidFill>
                            <a:schemeClr val="lt1"/>
                          </a:solidFill>
                          <a:latin typeface="Arial"/>
                          <a:ea typeface="Arial"/>
                          <a:cs typeface="Arial"/>
                          <a:sym typeface="Arial"/>
                        </a:rPr>
                        <a:t>Relevance for our system</a:t>
                      </a:r>
                      <a:endParaRPr sz="1400" u="none" cap="none" strike="noStrike">
                        <a:solidFill>
                          <a:schemeClr val="lt1"/>
                        </a:solidFill>
                        <a:latin typeface="Arial"/>
                        <a:ea typeface="Arial"/>
                        <a:cs typeface="Arial"/>
                        <a:sym typeface="Arial"/>
                      </a:endParaRPr>
                    </a:p>
                  </a:txBody>
                  <a:tcPr marT="88275"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FFFFFF"/>
                          </a:solidFill>
                          <a:latin typeface="Arial"/>
                          <a:ea typeface="Arial"/>
                          <a:cs typeface="Arial"/>
                          <a:sym typeface="Arial"/>
                        </a:rPr>
                        <a:t>Published By</a:t>
                      </a:r>
                      <a:endParaRPr sz="1400" u="none" cap="none" strike="noStrike">
                        <a:latin typeface="Arial"/>
                        <a:ea typeface="Arial"/>
                        <a:cs typeface="Arial"/>
                        <a:sym typeface="Arial"/>
                      </a:endParaRPr>
                    </a:p>
                  </a:txBody>
                  <a:tcPr marT="88275"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873025">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latin typeface="Times New Roman"/>
                        <a:ea typeface="Times New Roman"/>
                        <a:cs typeface="Times New Roman"/>
                        <a:sym typeface="Times New Roman"/>
                      </a:endParaRPr>
                    </a:p>
                    <a:p>
                      <a:pPr indent="0" lvl="0" marL="0" marR="0" rtl="0" algn="ctr">
                        <a:lnSpc>
                          <a:spcPct val="100000"/>
                        </a:lnSpc>
                        <a:spcBef>
                          <a:spcPts val="5"/>
                        </a:spcBef>
                        <a:spcAft>
                          <a:spcPts val="0"/>
                        </a:spcAft>
                        <a:buClr>
                          <a:srgbClr val="000000"/>
                        </a:buClr>
                        <a:buSzPts val="1400"/>
                        <a:buFont typeface="Arial"/>
                        <a:buNone/>
                      </a:pPr>
                      <a:r>
                        <a:rPr lang="en-US" sz="1400" u="none" cap="none" strike="noStrike">
                          <a:solidFill>
                            <a:srgbClr val="FFFFFF"/>
                          </a:solidFill>
                          <a:latin typeface="Arial"/>
                          <a:ea typeface="Arial"/>
                          <a:cs typeface="Arial"/>
                          <a:sym typeface="Arial"/>
                        </a:rPr>
                        <a:t>5</a:t>
                      </a:r>
                      <a:endParaRPr sz="1400" u="none" cap="none" strike="noStrike">
                        <a:latin typeface="Arial"/>
                        <a:ea typeface="Arial"/>
                        <a:cs typeface="Arial"/>
                        <a:sym typeface="Arial"/>
                      </a:endParaRPr>
                    </a:p>
                  </a:txBody>
                  <a:tcPr marT="1080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219710" marR="0" rtl="0" algn="l">
                        <a:lnSpc>
                          <a:spcPct val="100000"/>
                        </a:lnSpc>
                        <a:spcBef>
                          <a:spcPts val="0"/>
                        </a:spcBef>
                        <a:spcAft>
                          <a:spcPts val="0"/>
                        </a:spcAft>
                        <a:buClr>
                          <a:srgbClr val="000000"/>
                        </a:buClr>
                        <a:buSzPts val="1000"/>
                        <a:buFont typeface="Arial"/>
                        <a:buNone/>
                      </a:pPr>
                      <a:r>
                        <a:rPr b="1" lang="en-US" sz="1000" u="none" cap="none" strike="noStrike">
                          <a:solidFill>
                            <a:srgbClr val="FFFFFF"/>
                          </a:solidFill>
                          <a:latin typeface="Cambria"/>
                          <a:ea typeface="Cambria"/>
                          <a:cs typeface="Cambria"/>
                          <a:sym typeface="Cambria"/>
                        </a:rPr>
                        <a:t>Deep Learning based Dynamic Hand Gesture Recognition System 2022</a:t>
                      </a:r>
                      <a:endParaRPr sz="1000" u="none" cap="none" strike="noStrike">
                        <a:latin typeface="Cambria"/>
                        <a:ea typeface="Cambria"/>
                        <a:cs typeface="Cambria"/>
                        <a:sym typeface="Cambria"/>
                      </a:endParaRPr>
                    </a:p>
                  </a:txBody>
                  <a:tcPr marT="128275"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1" lang="en-US" sz="1000" u="none" cap="none" strike="noStrike">
                          <a:solidFill>
                            <a:schemeClr val="lt1"/>
                          </a:solidFill>
                          <a:latin typeface="Cambria"/>
                          <a:ea typeface="Cambria"/>
                          <a:cs typeface="Cambria"/>
                          <a:sym typeface="Cambria"/>
                        </a:rPr>
                        <a:t>C. Deep learning significantly improves accuracy and efficiency</a:t>
                      </a:r>
                      <a:endParaRPr b="1" sz="1000" u="none" cap="none" strike="noStrike">
                        <a:solidFill>
                          <a:schemeClr val="lt1"/>
                        </a:solidFill>
                        <a:latin typeface="Cambria"/>
                        <a:ea typeface="Cambria"/>
                        <a:cs typeface="Cambria"/>
                        <a:sym typeface="Cambria"/>
                      </a:endParaRPr>
                    </a:p>
                    <a:p>
                      <a:pPr indent="0" lvl="0" marL="0" marR="0" rtl="0" algn="l">
                        <a:lnSpc>
                          <a:spcPct val="100000"/>
                        </a:lnSpc>
                        <a:spcBef>
                          <a:spcPts val="0"/>
                        </a:spcBef>
                        <a:spcAft>
                          <a:spcPts val="0"/>
                        </a:spcAft>
                        <a:buClr>
                          <a:srgbClr val="000000"/>
                        </a:buClr>
                        <a:buSzPts val="1000"/>
                        <a:buFont typeface="Arial"/>
                        <a:buNone/>
                      </a:pPr>
                      <a:r>
                        <a:rPr b="1" lang="en-US" sz="1000" u="none" cap="none" strike="noStrike">
                          <a:solidFill>
                            <a:schemeClr val="lt1"/>
                          </a:solidFill>
                          <a:latin typeface="Cambria"/>
                          <a:ea typeface="Cambria"/>
                          <a:cs typeface="Cambria"/>
                          <a:sym typeface="Cambria"/>
                        </a:rPr>
                        <a:t>D. Complex multimodal fusion and depth data processing, increasing system complexity</a:t>
                      </a:r>
                      <a:endParaRPr b="1" sz="1000" u="none" cap="none" strike="noStrike">
                        <a:solidFill>
                          <a:schemeClr val="lt1"/>
                        </a:solidFill>
                        <a:latin typeface="Cambria"/>
                        <a:ea typeface="Cambria"/>
                        <a:cs typeface="Cambria"/>
                        <a:sym typeface="Cambria"/>
                      </a:endParaRPr>
                    </a:p>
                  </a:txBody>
                  <a:tcPr marT="0" marB="91425" marR="0"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1" lang="en-US" sz="1000" u="none" cap="none" strike="noStrike">
                          <a:solidFill>
                            <a:schemeClr val="lt1"/>
                          </a:solidFill>
                          <a:latin typeface="Cambria"/>
                          <a:ea typeface="Cambria"/>
                          <a:cs typeface="Cambria"/>
                          <a:sym typeface="Cambria"/>
                        </a:rPr>
                        <a:t> Combining multiple data modalities (depth + skeleton) enhances gesture understanding,</a:t>
                      </a:r>
                      <a:endParaRPr b="1" sz="1000" u="none" cap="none" strike="noStrike">
                        <a:solidFill>
                          <a:schemeClr val="lt1"/>
                        </a:solidFill>
                        <a:latin typeface="Cambria"/>
                        <a:ea typeface="Cambria"/>
                        <a:cs typeface="Cambria"/>
                        <a:sym typeface="Cambria"/>
                      </a:endParaRPr>
                    </a:p>
                  </a:txBody>
                  <a:tcPr marT="9715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300"/>
                        <a:buFont typeface="Arial"/>
                        <a:buNone/>
                      </a:pPr>
                      <a:r>
                        <a:rPr b="1" lang="en-US" sz="1300" u="none" cap="none" strike="noStrike">
                          <a:solidFill>
                            <a:schemeClr val="lt1"/>
                          </a:solidFill>
                          <a:latin typeface="Cambria"/>
                          <a:ea typeface="Cambria"/>
                          <a:cs typeface="Cambria"/>
                          <a:sym typeface="Cambria"/>
                        </a:rPr>
                        <a:t>ResearchGate</a:t>
                      </a:r>
                      <a:endParaRPr b="1" sz="1300" u="none" cap="none" strike="noStrike">
                        <a:solidFill>
                          <a:schemeClr val="lt1"/>
                        </a:solidFill>
                        <a:latin typeface="Cambria"/>
                        <a:ea typeface="Cambria"/>
                        <a:cs typeface="Cambria"/>
                        <a:sym typeface="Cambria"/>
                      </a:endParaRPr>
                    </a:p>
                  </a:txBody>
                  <a:tcPr marT="71125"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99440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latin typeface="Times New Roman"/>
                        <a:ea typeface="Times New Roman"/>
                        <a:cs typeface="Times New Roman"/>
                        <a:sym typeface="Times New Roman"/>
                      </a:endParaRPr>
                    </a:p>
                    <a:p>
                      <a:pPr indent="0" lvl="0" marL="0" marR="0" rtl="0" algn="ctr">
                        <a:lnSpc>
                          <a:spcPct val="100000"/>
                        </a:lnSpc>
                        <a:spcBef>
                          <a:spcPts val="5"/>
                        </a:spcBef>
                        <a:spcAft>
                          <a:spcPts val="0"/>
                        </a:spcAft>
                        <a:buClr>
                          <a:srgbClr val="000000"/>
                        </a:buClr>
                        <a:buSzPts val="1400"/>
                        <a:buFont typeface="Arial"/>
                        <a:buNone/>
                      </a:pPr>
                      <a:r>
                        <a:rPr lang="en-US" sz="1400" u="none" cap="none" strike="noStrike">
                          <a:solidFill>
                            <a:srgbClr val="FFFFFF"/>
                          </a:solidFill>
                          <a:latin typeface="Arial"/>
                          <a:ea typeface="Arial"/>
                          <a:cs typeface="Arial"/>
                          <a:sym typeface="Arial"/>
                        </a:rPr>
                        <a:t>6</a:t>
                      </a:r>
                      <a:endParaRPr sz="1400" u="none" cap="none" strike="noStrike">
                        <a:latin typeface="Arial"/>
                        <a:ea typeface="Arial"/>
                        <a:cs typeface="Arial"/>
                        <a:sym typeface="Arial"/>
                      </a:endParaRPr>
                    </a:p>
                  </a:txBody>
                  <a:tcPr marT="14415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latin typeface="Times New Roman"/>
                        <a:ea typeface="Times New Roman"/>
                        <a:cs typeface="Times New Roman"/>
                        <a:sym typeface="Times New Roman"/>
                      </a:endParaRPr>
                    </a:p>
                    <a:p>
                      <a:pPr indent="0" lvl="0" marL="193040" marR="177165" rtl="0" algn="ctr">
                        <a:lnSpc>
                          <a:spcPct val="100000"/>
                        </a:lnSpc>
                        <a:spcBef>
                          <a:spcPts val="0"/>
                        </a:spcBef>
                        <a:spcAft>
                          <a:spcPts val="0"/>
                        </a:spcAft>
                        <a:buClr>
                          <a:srgbClr val="000000"/>
                        </a:buClr>
                        <a:buSzPts val="1000"/>
                        <a:buFont typeface="Arial"/>
                        <a:buNone/>
                      </a:pPr>
                      <a:r>
                        <a:rPr b="1" lang="en-US" sz="1000" u="none" cap="none" strike="noStrike">
                          <a:solidFill>
                            <a:srgbClr val="FFFFFF"/>
                          </a:solidFill>
                          <a:latin typeface="Cambria"/>
                          <a:ea typeface="Cambria"/>
                          <a:cs typeface="Cambria"/>
                          <a:sym typeface="Cambria"/>
                        </a:rPr>
                        <a:t>Hand Gesture Recognition using Image Processing and Feature Extraction Techniques 2020</a:t>
                      </a:r>
                      <a:endParaRPr sz="1000" u="none" cap="none" strike="noStrike">
                        <a:latin typeface="Cambria"/>
                        <a:ea typeface="Cambria"/>
                        <a:cs typeface="Cambria"/>
                        <a:sym typeface="Cambria"/>
                      </a:endParaRPr>
                    </a:p>
                  </a:txBody>
                  <a:tcPr marT="7810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1" lang="en-US" sz="1000" u="none" cap="none" strike="noStrike">
                          <a:solidFill>
                            <a:schemeClr val="lt1"/>
                          </a:solidFill>
                          <a:latin typeface="Cambria"/>
                          <a:ea typeface="Cambria"/>
                          <a:cs typeface="Cambria"/>
                          <a:sym typeface="Cambria"/>
                        </a:rPr>
                        <a:t>C. Combining image preprocessing with feature extraction improves hand gesture recognition accuracy</a:t>
                      </a:r>
                      <a:endParaRPr b="1" sz="1000" u="none" cap="none" strike="noStrike">
                        <a:solidFill>
                          <a:schemeClr val="lt1"/>
                        </a:solidFill>
                        <a:latin typeface="Cambria"/>
                        <a:ea typeface="Cambria"/>
                        <a:cs typeface="Cambria"/>
                        <a:sym typeface="Cambria"/>
                      </a:endParaRPr>
                    </a:p>
                    <a:p>
                      <a:pPr indent="0" lvl="0" marL="0" marR="0" rtl="0" algn="l">
                        <a:lnSpc>
                          <a:spcPct val="100000"/>
                        </a:lnSpc>
                        <a:spcBef>
                          <a:spcPts val="0"/>
                        </a:spcBef>
                        <a:spcAft>
                          <a:spcPts val="0"/>
                        </a:spcAft>
                        <a:buClr>
                          <a:srgbClr val="000000"/>
                        </a:buClr>
                        <a:buSzPts val="1000"/>
                        <a:buFont typeface="Arial"/>
                        <a:buNone/>
                      </a:pPr>
                      <a:r>
                        <a:rPr b="1" lang="en-US" sz="1000" u="none" cap="none" strike="noStrike">
                          <a:solidFill>
                            <a:schemeClr val="lt1"/>
                          </a:solidFill>
                          <a:latin typeface="Cambria"/>
                          <a:ea typeface="Cambria"/>
                          <a:cs typeface="Cambria"/>
                          <a:sym typeface="Cambria"/>
                        </a:rPr>
                        <a:t>D. Complex feature extraction and multiple processing steps</a:t>
                      </a:r>
                      <a:endParaRPr b="1" sz="1000" u="none" cap="none" strike="noStrike">
                        <a:solidFill>
                          <a:schemeClr val="lt1"/>
                        </a:solidFill>
                        <a:latin typeface="Cambria"/>
                        <a:ea typeface="Cambria"/>
                        <a:cs typeface="Cambria"/>
                        <a:sym typeface="Cambria"/>
                      </a:endParaRPr>
                    </a:p>
                  </a:txBody>
                  <a:tcPr marT="0" marB="91425" marR="0"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1" lang="en-US" sz="1000" u="none" cap="none" strike="noStrike">
                          <a:solidFill>
                            <a:schemeClr val="lt1"/>
                          </a:solidFill>
                          <a:latin typeface="Cambria"/>
                          <a:ea typeface="Cambria"/>
                          <a:cs typeface="Cambria"/>
                          <a:sym typeface="Cambria"/>
                        </a:rPr>
                        <a:t> </a:t>
                      </a:r>
                      <a:endParaRPr b="1" sz="1000" u="none" cap="none" strike="noStrike">
                        <a:solidFill>
                          <a:schemeClr val="lt1"/>
                        </a:solidFill>
                        <a:latin typeface="Cambria"/>
                        <a:ea typeface="Cambria"/>
                        <a:cs typeface="Cambria"/>
                        <a:sym typeface="Cambria"/>
                      </a:endParaRPr>
                    </a:p>
                    <a:p>
                      <a:pPr indent="0" lvl="0" marL="0" marR="0" rtl="0" algn="l">
                        <a:lnSpc>
                          <a:spcPct val="100000"/>
                        </a:lnSpc>
                        <a:spcBef>
                          <a:spcPts val="0"/>
                        </a:spcBef>
                        <a:spcAft>
                          <a:spcPts val="0"/>
                        </a:spcAft>
                        <a:buClr>
                          <a:srgbClr val="000000"/>
                        </a:buClr>
                        <a:buSzPts val="1000"/>
                        <a:buFont typeface="Arial"/>
                        <a:buNone/>
                      </a:pPr>
                      <a:r>
                        <a:rPr b="1" lang="en-US" sz="1000" u="none" cap="none" strike="noStrike">
                          <a:solidFill>
                            <a:schemeClr val="lt1"/>
                          </a:solidFill>
                          <a:latin typeface="Cambria"/>
                          <a:ea typeface="Cambria"/>
                          <a:cs typeface="Cambria"/>
                          <a:sym typeface="Cambria"/>
                        </a:rPr>
                        <a:t>Effective preprocessing and feature extraction are crucial for improving recognition accuracy</a:t>
                      </a:r>
                      <a:endParaRPr b="1" sz="1000" u="none" cap="none" strike="noStrike">
                        <a:solidFill>
                          <a:schemeClr val="lt1"/>
                        </a:solidFill>
                        <a:latin typeface="Cambria"/>
                        <a:ea typeface="Cambria"/>
                        <a:cs typeface="Cambria"/>
                        <a:sym typeface="Cambria"/>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300"/>
                        <a:buFont typeface="Arial"/>
                        <a:buNone/>
                      </a:pPr>
                      <a:r>
                        <a:rPr b="1" lang="en-US" sz="1300" u="none" cap="none" strike="noStrike">
                          <a:solidFill>
                            <a:schemeClr val="lt1"/>
                          </a:solidFill>
                          <a:latin typeface="Cambria"/>
                          <a:ea typeface="Cambria"/>
                          <a:cs typeface="Cambria"/>
                          <a:sym typeface="Cambria"/>
                        </a:rPr>
                        <a:t>ResearchGate</a:t>
                      </a:r>
                      <a:endParaRPr b="1" sz="1300" u="none" cap="none" strike="noStrike">
                        <a:solidFill>
                          <a:schemeClr val="lt1"/>
                        </a:solidFill>
                        <a:latin typeface="Cambria"/>
                        <a:ea typeface="Cambria"/>
                        <a:cs typeface="Cambria"/>
                        <a:sym typeface="Cambria"/>
                      </a:endParaRPr>
                    </a:p>
                  </a:txBody>
                  <a:tcPr marT="71125"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852175">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latin typeface="Times New Roman"/>
                        <a:ea typeface="Times New Roman"/>
                        <a:cs typeface="Times New Roman"/>
                        <a:sym typeface="Times New Roman"/>
                      </a:endParaRPr>
                    </a:p>
                    <a:p>
                      <a:pPr indent="0" lvl="0" marL="0" marR="0" rtl="0" algn="ctr">
                        <a:lnSpc>
                          <a:spcPct val="100000"/>
                        </a:lnSpc>
                        <a:spcBef>
                          <a:spcPts val="5"/>
                        </a:spcBef>
                        <a:spcAft>
                          <a:spcPts val="0"/>
                        </a:spcAft>
                        <a:buClr>
                          <a:srgbClr val="000000"/>
                        </a:buClr>
                        <a:buSzPts val="1400"/>
                        <a:buFont typeface="Arial"/>
                        <a:buNone/>
                      </a:pPr>
                      <a:r>
                        <a:rPr lang="en-US" sz="1400" u="none" cap="none" strike="noStrike">
                          <a:solidFill>
                            <a:srgbClr val="FFFFFF"/>
                          </a:solidFill>
                          <a:latin typeface="Arial"/>
                          <a:ea typeface="Arial"/>
                          <a:cs typeface="Arial"/>
                          <a:sym typeface="Arial"/>
                        </a:rPr>
                        <a:t>7</a:t>
                      </a:r>
                      <a:endParaRPr sz="1400" u="none" cap="none" strike="noStrike">
                        <a:latin typeface="Arial"/>
                        <a:ea typeface="Arial"/>
                        <a:cs typeface="Arial"/>
                        <a:sym typeface="Arial"/>
                      </a:endParaRPr>
                    </a:p>
                  </a:txBody>
                  <a:tcPr marT="10605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latin typeface="Times New Roman"/>
                        <a:ea typeface="Times New Roman"/>
                        <a:cs typeface="Times New Roman"/>
                        <a:sym typeface="Times New Roman"/>
                      </a:endParaRPr>
                    </a:p>
                    <a:p>
                      <a:pPr indent="0" lvl="0" marL="0" marR="0" rtl="0" algn="ctr">
                        <a:lnSpc>
                          <a:spcPct val="115000"/>
                        </a:lnSpc>
                        <a:spcBef>
                          <a:spcPts val="0"/>
                        </a:spcBef>
                        <a:spcAft>
                          <a:spcPts val="0"/>
                        </a:spcAft>
                        <a:buClr>
                          <a:schemeClr val="dk1"/>
                        </a:buClr>
                        <a:buSzPts val="1100"/>
                        <a:buFont typeface="Arial"/>
                        <a:buNone/>
                      </a:pPr>
                      <a:r>
                        <a:rPr b="1" lang="en-US" sz="1000" u="none" cap="none" strike="noStrike">
                          <a:solidFill>
                            <a:srgbClr val="FFFFFF"/>
                          </a:solidFill>
                          <a:latin typeface="Cambria"/>
                          <a:ea typeface="Cambria"/>
                          <a:cs typeface="Cambria"/>
                          <a:sym typeface="Cambria"/>
                        </a:rPr>
                        <a:t> Computer vision-based hand gesture  recognition for human-robot</a:t>
                      </a:r>
                      <a:endParaRPr b="1" sz="1000" u="none" cap="none" strike="noStrike">
                        <a:solidFill>
                          <a:srgbClr val="FFFFFF"/>
                        </a:solidFill>
                        <a:latin typeface="Cambria"/>
                        <a:ea typeface="Cambria"/>
                        <a:cs typeface="Cambria"/>
                        <a:sym typeface="Cambria"/>
                      </a:endParaRPr>
                    </a:p>
                    <a:p>
                      <a:pPr indent="0" lvl="0" marL="0" marR="0" rtl="0" algn="ctr">
                        <a:lnSpc>
                          <a:spcPct val="115000"/>
                        </a:lnSpc>
                        <a:spcBef>
                          <a:spcPts val="0"/>
                        </a:spcBef>
                        <a:spcAft>
                          <a:spcPts val="0"/>
                        </a:spcAft>
                        <a:buClr>
                          <a:schemeClr val="dk1"/>
                        </a:buClr>
                        <a:buSzPts val="1100"/>
                        <a:buFont typeface="Arial"/>
                        <a:buNone/>
                      </a:pPr>
                      <a:r>
                        <a:rPr b="1" lang="en-US" sz="1000" u="none" cap="none" strike="noStrike">
                          <a:solidFill>
                            <a:srgbClr val="FFFFFF"/>
                          </a:solidFill>
                          <a:latin typeface="Cambria"/>
                          <a:ea typeface="Cambria"/>
                          <a:cs typeface="Cambria"/>
                          <a:sym typeface="Cambria"/>
                        </a:rPr>
                        <a:t>interaction: a review 2022</a:t>
                      </a:r>
                      <a:endParaRPr b="1" sz="1000" u="none" cap="none" strike="noStrike">
                        <a:solidFill>
                          <a:srgbClr val="FFFFFF"/>
                        </a:solidFill>
                        <a:latin typeface="Cambria"/>
                        <a:ea typeface="Cambria"/>
                        <a:cs typeface="Cambria"/>
                        <a:sym typeface="Cambria"/>
                      </a:endParaRPr>
                    </a:p>
                    <a:p>
                      <a:pPr indent="-1270" lvl="0" marL="470534" marR="454659" rtl="0" algn="ctr">
                        <a:lnSpc>
                          <a:spcPct val="100000"/>
                        </a:lnSpc>
                        <a:spcBef>
                          <a:spcPts val="0"/>
                        </a:spcBef>
                        <a:spcAft>
                          <a:spcPts val="0"/>
                        </a:spcAft>
                        <a:buClr>
                          <a:srgbClr val="000000"/>
                        </a:buClr>
                        <a:buSzPts val="1000"/>
                        <a:buFont typeface="Arial"/>
                        <a:buNone/>
                      </a:pPr>
                      <a:r>
                        <a:t/>
                      </a:r>
                      <a:endParaRPr b="1" sz="1000" u="none" cap="none" strike="noStrike">
                        <a:solidFill>
                          <a:srgbClr val="FFFFFF"/>
                        </a:solidFill>
                        <a:latin typeface="Cambria"/>
                        <a:ea typeface="Cambria"/>
                        <a:cs typeface="Cambria"/>
                        <a:sym typeface="Cambria"/>
                      </a:endParaRPr>
                    </a:p>
                  </a:txBody>
                  <a:tcPr marT="4000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1" lang="en-US" sz="1000" u="none" cap="none" strike="noStrike">
                          <a:solidFill>
                            <a:schemeClr val="lt1"/>
                          </a:solidFill>
                          <a:latin typeface="Cambria"/>
                          <a:ea typeface="Cambria"/>
                          <a:cs typeface="Cambria"/>
                          <a:sym typeface="Cambria"/>
                        </a:rPr>
                        <a:t>C. human–robot interaction stages like detection, segmentation, and classification.</a:t>
                      </a:r>
                      <a:endParaRPr b="1" sz="1000" u="none" cap="none" strike="noStrike">
                        <a:solidFill>
                          <a:schemeClr val="lt1"/>
                        </a:solidFill>
                        <a:latin typeface="Cambria"/>
                        <a:ea typeface="Cambria"/>
                        <a:cs typeface="Cambria"/>
                        <a:sym typeface="Cambria"/>
                      </a:endParaRPr>
                    </a:p>
                    <a:p>
                      <a:pPr indent="0" lvl="0" marL="0" marR="0" rtl="0" algn="l">
                        <a:lnSpc>
                          <a:spcPct val="100000"/>
                        </a:lnSpc>
                        <a:spcBef>
                          <a:spcPts val="0"/>
                        </a:spcBef>
                        <a:spcAft>
                          <a:spcPts val="0"/>
                        </a:spcAft>
                        <a:buClr>
                          <a:srgbClr val="000000"/>
                        </a:buClr>
                        <a:buSzPts val="1000"/>
                        <a:buFont typeface="Arial"/>
                        <a:buNone/>
                      </a:pPr>
                      <a:r>
                        <a:rPr b="1" lang="en-US" sz="1000" u="none" cap="none" strike="noStrike">
                          <a:solidFill>
                            <a:schemeClr val="lt1"/>
                          </a:solidFill>
                          <a:latin typeface="Cambria"/>
                          <a:ea typeface="Cambria"/>
                          <a:cs typeface="Cambria"/>
                          <a:sym typeface="Cambria"/>
                        </a:rPr>
                        <a:t>D. challenges such as gesture variability, environmental sensitivity, and high computational complexity.</a:t>
                      </a:r>
                      <a:endParaRPr b="1" sz="1000" u="none" cap="none" strike="noStrike">
                        <a:solidFill>
                          <a:schemeClr val="lt1"/>
                        </a:solidFill>
                        <a:latin typeface="Cambria"/>
                        <a:ea typeface="Cambria"/>
                        <a:cs typeface="Cambria"/>
                        <a:sym typeface="Cambria"/>
                      </a:endParaRPr>
                    </a:p>
                  </a:txBody>
                  <a:tcPr marT="0" marB="91425" marR="0"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b="1" sz="1000" u="none" cap="none" strike="noStrike">
                        <a:solidFill>
                          <a:schemeClr val="lt1"/>
                        </a:solidFill>
                        <a:latin typeface="Cambria"/>
                        <a:ea typeface="Cambria"/>
                        <a:cs typeface="Cambria"/>
                        <a:sym typeface="Cambria"/>
                      </a:endParaRPr>
                    </a:p>
                    <a:p>
                      <a:pPr indent="0" lvl="0" marL="0" marR="0" rtl="0" algn="l">
                        <a:lnSpc>
                          <a:spcPct val="100000"/>
                        </a:lnSpc>
                        <a:spcBef>
                          <a:spcPts val="0"/>
                        </a:spcBef>
                        <a:spcAft>
                          <a:spcPts val="0"/>
                        </a:spcAft>
                        <a:buClr>
                          <a:srgbClr val="000000"/>
                        </a:buClr>
                        <a:buSzPts val="1000"/>
                        <a:buFont typeface="Arial"/>
                        <a:buNone/>
                      </a:pPr>
                      <a:r>
                        <a:rPr b="1" lang="en-US" sz="1000" u="none" cap="none" strike="noStrike">
                          <a:solidFill>
                            <a:schemeClr val="lt1"/>
                          </a:solidFill>
                          <a:latin typeface="Cambria"/>
                          <a:ea typeface="Cambria"/>
                          <a:cs typeface="Cambria"/>
                          <a:sym typeface="Cambria"/>
                        </a:rPr>
                        <a:t> Complete pipeline (data acquisition → detection → feature extraction → classification).</a:t>
                      </a:r>
                      <a:endParaRPr b="1" sz="1000" u="none" cap="none" strike="noStrike">
                        <a:solidFill>
                          <a:schemeClr val="lt1"/>
                        </a:solidFill>
                        <a:latin typeface="Cambria"/>
                        <a:ea typeface="Cambria"/>
                        <a:cs typeface="Cambria"/>
                        <a:sym typeface="Cambria"/>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100"/>
                        <a:buFont typeface="Arial"/>
                        <a:buNone/>
                      </a:pPr>
                      <a:r>
                        <a:rPr b="1" lang="en-US" sz="1300" u="none" cap="none" strike="noStrike">
                          <a:solidFill>
                            <a:schemeClr val="lt1"/>
                          </a:solidFill>
                          <a:latin typeface="Cambria"/>
                          <a:ea typeface="Cambria"/>
                          <a:cs typeface="Cambria"/>
                          <a:sym typeface="Cambria"/>
                        </a:rPr>
                        <a:t>SpringerNature</a:t>
                      </a:r>
                      <a:endParaRPr b="1" sz="1300" u="none" cap="none" strike="noStrike">
                        <a:solidFill>
                          <a:schemeClr val="lt1"/>
                        </a:solidFill>
                        <a:latin typeface="Cambria"/>
                        <a:ea typeface="Cambria"/>
                        <a:cs typeface="Cambria"/>
                        <a:sym typeface="Cambria"/>
                      </a:endParaRPr>
                    </a:p>
                  </a:txBody>
                  <a:tcPr marT="71125"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788025">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latin typeface="Times New Roman"/>
                        <a:ea typeface="Times New Roman"/>
                        <a:cs typeface="Times New Roman"/>
                        <a:sym typeface="Times New Roman"/>
                      </a:endParaRPr>
                    </a:p>
                    <a:p>
                      <a:pPr indent="0" lvl="0" marL="0" marR="0" rtl="0" algn="ctr">
                        <a:lnSpc>
                          <a:spcPct val="100000"/>
                        </a:lnSpc>
                        <a:spcBef>
                          <a:spcPts val="5"/>
                        </a:spcBef>
                        <a:spcAft>
                          <a:spcPts val="0"/>
                        </a:spcAft>
                        <a:buClr>
                          <a:srgbClr val="000000"/>
                        </a:buClr>
                        <a:buSzPts val="1400"/>
                        <a:buFont typeface="Arial"/>
                        <a:buNone/>
                      </a:pPr>
                      <a:r>
                        <a:rPr lang="en-US" sz="1400" u="none" cap="none" strike="noStrike">
                          <a:solidFill>
                            <a:srgbClr val="FFFFFF"/>
                          </a:solidFill>
                          <a:latin typeface="Roboto"/>
                          <a:ea typeface="Roboto"/>
                          <a:cs typeface="Roboto"/>
                          <a:sym typeface="Roboto"/>
                        </a:rPr>
                        <a:t>8</a:t>
                      </a:r>
                      <a:endParaRPr sz="1400" u="none" cap="none" strike="noStrike">
                        <a:latin typeface="Roboto"/>
                        <a:ea typeface="Roboto"/>
                        <a:cs typeface="Roboto"/>
                        <a:sym typeface="Roboto"/>
                      </a:endParaRPr>
                    </a:p>
                  </a:txBody>
                  <a:tcPr marT="77475"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latin typeface="Times New Roman"/>
                        <a:ea typeface="Times New Roman"/>
                        <a:cs typeface="Times New Roman"/>
                        <a:sym typeface="Times New Roman"/>
                      </a:endParaRPr>
                    </a:p>
                    <a:p>
                      <a:pPr indent="0" lvl="0" marL="0" marR="0" rtl="0" algn="ctr">
                        <a:lnSpc>
                          <a:spcPct val="115000"/>
                        </a:lnSpc>
                        <a:spcBef>
                          <a:spcPts val="0"/>
                        </a:spcBef>
                        <a:spcAft>
                          <a:spcPts val="0"/>
                        </a:spcAft>
                        <a:buClr>
                          <a:srgbClr val="000000"/>
                        </a:buClr>
                        <a:buSzPts val="1100"/>
                        <a:buFont typeface="Arial"/>
                        <a:buNone/>
                      </a:pPr>
                      <a:r>
                        <a:rPr b="1" lang="en-US" sz="1000" u="none" cap="none" strike="noStrike">
                          <a:solidFill>
                            <a:srgbClr val="FFFFFF"/>
                          </a:solidFill>
                          <a:latin typeface="Roboto"/>
                          <a:ea typeface="Roboto"/>
                          <a:cs typeface="Roboto"/>
                          <a:sym typeface="Roboto"/>
                        </a:rPr>
                        <a:t>Hand gesture and voice-controlled mouse for physically challenged using computer vision 2023</a:t>
                      </a:r>
                      <a:endParaRPr b="1" sz="1000" u="none" cap="none" strike="noStrike">
                        <a:solidFill>
                          <a:srgbClr val="FFFFFF"/>
                        </a:solidFill>
                        <a:latin typeface="Roboto"/>
                        <a:ea typeface="Roboto"/>
                        <a:cs typeface="Roboto"/>
                        <a:sym typeface="Roboto"/>
                      </a:endParaRPr>
                    </a:p>
                  </a:txBody>
                  <a:tcPr marT="1270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1" lang="en-US" sz="1000" u="none" cap="none" strike="noStrike">
                          <a:solidFill>
                            <a:schemeClr val="lt1"/>
                          </a:solidFill>
                          <a:latin typeface="Cambria"/>
                          <a:ea typeface="Cambria"/>
                          <a:cs typeface="Cambria"/>
                          <a:sym typeface="Cambria"/>
                        </a:rPr>
                        <a:t>C. creates a multimodal system for hands-free and accessible computer control.</a:t>
                      </a:r>
                      <a:endParaRPr b="1" sz="1000" u="none" cap="none" strike="noStrike">
                        <a:solidFill>
                          <a:schemeClr val="lt1"/>
                        </a:solidFill>
                        <a:latin typeface="Cambria"/>
                        <a:ea typeface="Cambria"/>
                        <a:cs typeface="Cambria"/>
                        <a:sym typeface="Cambria"/>
                      </a:endParaRPr>
                    </a:p>
                    <a:p>
                      <a:pPr indent="0" lvl="0" marL="0" marR="0" rtl="0" algn="l">
                        <a:lnSpc>
                          <a:spcPct val="100000"/>
                        </a:lnSpc>
                        <a:spcBef>
                          <a:spcPts val="0"/>
                        </a:spcBef>
                        <a:spcAft>
                          <a:spcPts val="0"/>
                        </a:spcAft>
                        <a:buClr>
                          <a:srgbClr val="000000"/>
                        </a:buClr>
                        <a:buSzPts val="1000"/>
                        <a:buFont typeface="Arial"/>
                        <a:buNone/>
                      </a:pPr>
                      <a:r>
                        <a:rPr b="1" lang="en-US" sz="1000" u="none" cap="none" strike="noStrike">
                          <a:solidFill>
                            <a:schemeClr val="lt1"/>
                          </a:solidFill>
                          <a:latin typeface="Cambria"/>
                          <a:ea typeface="Cambria"/>
                          <a:cs typeface="Cambria"/>
                          <a:sym typeface="Cambria"/>
                        </a:rPr>
                        <a:t>D. Synchronizing gesture and voice inputs and may suffer from reduced accuracy due to noise, lighting conditions etc</a:t>
                      </a:r>
                      <a:endParaRPr b="1" sz="1000" u="none" cap="none" strike="noStrike">
                        <a:solidFill>
                          <a:schemeClr val="lt1"/>
                        </a:solidFill>
                        <a:latin typeface="Cambria"/>
                        <a:ea typeface="Cambria"/>
                        <a:cs typeface="Cambria"/>
                        <a:sym typeface="Cambria"/>
                      </a:endParaRPr>
                    </a:p>
                  </a:txBody>
                  <a:tcPr marT="0" marB="91425" marR="0"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b="1" sz="1000" u="none" cap="none" strike="noStrike">
                        <a:solidFill>
                          <a:schemeClr val="lt1"/>
                        </a:solidFill>
                        <a:latin typeface="Cambria"/>
                        <a:ea typeface="Cambria"/>
                        <a:cs typeface="Cambria"/>
                        <a:sym typeface="Cambria"/>
                      </a:endParaRPr>
                    </a:p>
                    <a:p>
                      <a:pPr indent="0" lvl="0" marL="0" marR="0" rtl="0" algn="l">
                        <a:lnSpc>
                          <a:spcPct val="100000"/>
                        </a:lnSpc>
                        <a:spcBef>
                          <a:spcPts val="0"/>
                        </a:spcBef>
                        <a:spcAft>
                          <a:spcPts val="0"/>
                        </a:spcAft>
                        <a:buClr>
                          <a:srgbClr val="000000"/>
                        </a:buClr>
                        <a:buSzPts val="1000"/>
                        <a:buFont typeface="Arial"/>
                        <a:buNone/>
                      </a:pPr>
                      <a:r>
                        <a:rPr b="1" lang="en-US" sz="1000" u="none" cap="none" strike="noStrike">
                          <a:solidFill>
                            <a:schemeClr val="lt1"/>
                          </a:solidFill>
                          <a:latin typeface="Cambria"/>
                          <a:ea typeface="Cambria"/>
                          <a:cs typeface="Cambria"/>
                          <a:sym typeface="Cambria"/>
                        </a:rPr>
                        <a:t> Integrating multiple input modalities (gesture + voice) improves usability and accessibility</a:t>
                      </a:r>
                      <a:endParaRPr b="1" sz="1000" u="none" cap="none" strike="noStrike">
                        <a:solidFill>
                          <a:schemeClr val="lt1"/>
                        </a:solidFill>
                        <a:latin typeface="Cambria"/>
                        <a:ea typeface="Cambria"/>
                        <a:cs typeface="Cambria"/>
                        <a:sym typeface="Cambria"/>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300"/>
                        <a:buFont typeface="Arial"/>
                        <a:buNone/>
                      </a:pPr>
                      <a:r>
                        <a:rPr b="1" lang="en-US" sz="1300" u="none" cap="none" strike="noStrike">
                          <a:solidFill>
                            <a:schemeClr val="lt1"/>
                          </a:solidFill>
                          <a:latin typeface="Cambria"/>
                          <a:ea typeface="Cambria"/>
                          <a:cs typeface="Cambria"/>
                          <a:sym typeface="Cambria"/>
                        </a:rPr>
                        <a:t>ResearchGate</a:t>
                      </a:r>
                      <a:endParaRPr b="1" sz="1300" u="none" cap="none" strike="noStrike">
                        <a:solidFill>
                          <a:schemeClr val="lt1"/>
                        </a:solidFill>
                        <a:latin typeface="Cambria"/>
                        <a:ea typeface="Cambria"/>
                        <a:cs typeface="Cambria"/>
                        <a:sym typeface="Cambria"/>
                      </a:endParaRPr>
                    </a:p>
                  </a:txBody>
                  <a:tcPr marT="71125"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graphicFrame>
        <p:nvGraphicFramePr>
          <p:cNvPr id="190" name="Google Shape;190;p18"/>
          <p:cNvGraphicFramePr/>
          <p:nvPr/>
        </p:nvGraphicFramePr>
        <p:xfrm>
          <a:off x="427650" y="674575"/>
          <a:ext cx="3000000" cy="3000000"/>
        </p:xfrm>
        <a:graphic>
          <a:graphicData uri="http://schemas.openxmlformats.org/drawingml/2006/table">
            <a:tbl>
              <a:tblPr>
                <a:noFill/>
                <a:tableStyleId>{2A2313B2-F0E6-47BE-ACA1-A836848726E2}</a:tableStyleId>
              </a:tblPr>
              <a:tblGrid>
                <a:gridCol w="689700"/>
                <a:gridCol w="2205900"/>
                <a:gridCol w="2118450"/>
                <a:gridCol w="2236875"/>
                <a:gridCol w="1329350"/>
              </a:tblGrid>
              <a:tr h="381000">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chemeClr val="lt1"/>
                          </a:solidFill>
                        </a:rPr>
                        <a:t>No.</a:t>
                      </a:r>
                      <a:endParaRPr sz="1400" u="none" cap="none" strike="noStrike">
                        <a:solidFill>
                          <a:schemeClr val="lt1"/>
                        </a:solidFill>
                      </a:endParaRPr>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chemeClr val="lt1"/>
                          </a:solidFill>
                        </a:rPr>
                        <a:t>Research Papers</a:t>
                      </a:r>
                      <a:endParaRPr sz="1400" u="none" cap="none" strike="noStrike">
                        <a:solidFill>
                          <a:schemeClr val="lt1"/>
                        </a:solidFill>
                      </a:endParaRPr>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chemeClr val="lt1"/>
                          </a:solidFill>
                        </a:rPr>
                        <a:t>Conclusion &amp; Drawback</a:t>
                      </a:r>
                      <a:endParaRPr sz="1400" u="none" cap="none" strike="noStrike">
                        <a:solidFill>
                          <a:schemeClr val="lt1"/>
                        </a:solidFill>
                      </a:endParaRPr>
                    </a:p>
                  </a:txBody>
                  <a:tcPr marT="91425" marB="91425" marR="91425" marL="91425" anchor="ctr"/>
                </a:tc>
                <a:tc>
                  <a:txBody>
                    <a:bodyPr/>
                    <a:lstStyle/>
                    <a:p>
                      <a:pPr indent="0" lvl="0" marL="0" marR="0" rtl="0" algn="l">
                        <a:lnSpc>
                          <a:spcPct val="100000"/>
                        </a:lnSpc>
                        <a:spcBef>
                          <a:spcPts val="0"/>
                        </a:spcBef>
                        <a:spcAft>
                          <a:spcPts val="0"/>
                        </a:spcAft>
                        <a:buClr>
                          <a:schemeClr val="dk1"/>
                        </a:buClr>
                        <a:buSzPts val="1100"/>
                        <a:buFont typeface="Arial"/>
                        <a:buNone/>
                      </a:pPr>
                      <a:r>
                        <a:rPr lang="en-US" sz="1400" u="none" cap="none" strike="noStrike">
                          <a:solidFill>
                            <a:schemeClr val="lt1"/>
                          </a:solidFill>
                        </a:rPr>
                        <a:t>Relevance for our system</a:t>
                      </a:r>
                      <a:endParaRPr sz="1400" u="none" cap="none" strike="noStrike">
                        <a:solidFill>
                          <a:schemeClr val="lt1"/>
                        </a:solidFill>
                      </a:endParaRPr>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chemeClr val="lt1"/>
                          </a:solidFill>
                        </a:rPr>
                        <a:t>Published By</a:t>
                      </a:r>
                      <a:endParaRPr sz="1400" u="none" cap="none" strike="noStrike">
                        <a:solidFill>
                          <a:schemeClr val="lt1"/>
                        </a:solidFill>
                      </a:endParaRPr>
                    </a:p>
                  </a:txBody>
                  <a:tcPr marT="91425" marB="91425" marR="91425" marL="91425" anchor="ctr"/>
                </a:tc>
              </a:tr>
              <a:tr h="381000">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solidFill>
                            <a:schemeClr val="lt1"/>
                          </a:solidFill>
                          <a:latin typeface="Cambria"/>
                          <a:ea typeface="Cambria"/>
                          <a:cs typeface="Cambria"/>
                          <a:sym typeface="Cambria"/>
                        </a:rPr>
                        <a:t>9</a:t>
                      </a:r>
                      <a:endParaRPr sz="1600" u="none" cap="none" strike="noStrike">
                        <a:solidFill>
                          <a:schemeClr val="lt1"/>
                        </a:solidFill>
                        <a:latin typeface="Cambria"/>
                        <a:ea typeface="Cambria"/>
                        <a:cs typeface="Cambria"/>
                        <a:sym typeface="Cambria"/>
                      </a:endParaRPr>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000"/>
                        <a:buFont typeface="Arial"/>
                        <a:buNone/>
                      </a:pPr>
                      <a:r>
                        <a:rPr b="1" lang="en-US" sz="1000" u="none" cap="none" strike="noStrike">
                          <a:solidFill>
                            <a:schemeClr val="lt1"/>
                          </a:solidFill>
                          <a:latin typeface="Cambria"/>
                          <a:ea typeface="Cambria"/>
                          <a:cs typeface="Cambria"/>
                          <a:sym typeface="Cambria"/>
                        </a:rPr>
                        <a:t>Enhanced Framework for Real-Time Dynamic Sign Language Recognition 2024</a:t>
                      </a:r>
                      <a:endParaRPr b="1" sz="1000" u="none" cap="none" strike="noStrike">
                        <a:solidFill>
                          <a:schemeClr val="lt1"/>
                        </a:solidFill>
                        <a:latin typeface="Cambria"/>
                        <a:ea typeface="Cambria"/>
                        <a:cs typeface="Cambria"/>
                        <a:sym typeface="Cambria"/>
                      </a:endParaRPr>
                    </a:p>
                  </a:txBody>
                  <a:tcPr marT="91425" marB="91425" marR="91425" marL="91425" anchor="ctr"/>
                </a:tc>
                <a:tc>
                  <a:txBody>
                    <a:bodyPr/>
                    <a:lstStyle/>
                    <a:p>
                      <a:pPr indent="0" lvl="0" marL="0" marR="0" rtl="0" algn="l">
                        <a:lnSpc>
                          <a:spcPct val="100000"/>
                        </a:lnSpc>
                        <a:spcBef>
                          <a:spcPts val="0"/>
                        </a:spcBef>
                        <a:spcAft>
                          <a:spcPts val="0"/>
                        </a:spcAft>
                        <a:buClr>
                          <a:srgbClr val="000000"/>
                        </a:buClr>
                        <a:buSzPts val="1000"/>
                        <a:buFont typeface="Arial"/>
                        <a:buNone/>
                      </a:pPr>
                      <a:r>
                        <a:rPr b="1" lang="en-US" sz="1000" u="none" cap="none" strike="noStrike">
                          <a:solidFill>
                            <a:schemeClr val="lt1"/>
                          </a:solidFill>
                          <a:latin typeface="Cambria"/>
                          <a:ea typeface="Cambria"/>
                          <a:cs typeface="Cambria"/>
                          <a:sym typeface="Cambria"/>
                        </a:rPr>
                        <a:t>C. Integrating Deep Learning with hand tracking enables more accurate recognition.</a:t>
                      </a:r>
                      <a:endParaRPr b="1" sz="1000" u="none" cap="none" strike="noStrike">
                        <a:solidFill>
                          <a:schemeClr val="lt1"/>
                        </a:solidFill>
                        <a:latin typeface="Cambria"/>
                        <a:ea typeface="Cambria"/>
                        <a:cs typeface="Cambria"/>
                        <a:sym typeface="Cambria"/>
                      </a:endParaRPr>
                    </a:p>
                    <a:p>
                      <a:pPr indent="0" lvl="0" marL="0" marR="0" rtl="0" algn="l">
                        <a:lnSpc>
                          <a:spcPct val="100000"/>
                        </a:lnSpc>
                        <a:spcBef>
                          <a:spcPts val="0"/>
                        </a:spcBef>
                        <a:spcAft>
                          <a:spcPts val="0"/>
                        </a:spcAft>
                        <a:buClr>
                          <a:srgbClr val="000000"/>
                        </a:buClr>
                        <a:buSzPts val="1000"/>
                        <a:buFont typeface="Arial"/>
                        <a:buNone/>
                      </a:pPr>
                      <a:r>
                        <a:rPr b="1" lang="en-US" sz="1000" u="none" cap="none" strike="noStrike">
                          <a:solidFill>
                            <a:schemeClr val="lt1"/>
                          </a:solidFill>
                          <a:latin typeface="Cambria"/>
                          <a:ea typeface="Cambria"/>
                          <a:cs typeface="Cambria"/>
                          <a:sym typeface="Cambria"/>
                        </a:rPr>
                        <a:t>D. Increases computational cost and makes real-time deployment on low-end devices challenging</a:t>
                      </a:r>
                      <a:endParaRPr b="1" sz="1000" u="none" cap="none" strike="noStrike">
                        <a:solidFill>
                          <a:schemeClr val="lt1"/>
                        </a:solidFill>
                        <a:latin typeface="Cambria"/>
                        <a:ea typeface="Cambria"/>
                        <a:cs typeface="Cambria"/>
                        <a:sym typeface="Cambria"/>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000"/>
                        <a:buFont typeface="Arial"/>
                        <a:buNone/>
                      </a:pPr>
                      <a:r>
                        <a:t/>
                      </a:r>
                      <a:endParaRPr b="1" sz="1000" u="none" cap="none" strike="noStrike">
                        <a:solidFill>
                          <a:schemeClr val="lt1"/>
                        </a:solidFill>
                        <a:latin typeface="Cambria"/>
                        <a:ea typeface="Cambria"/>
                        <a:cs typeface="Cambria"/>
                        <a:sym typeface="Cambria"/>
                      </a:endParaRPr>
                    </a:p>
                    <a:p>
                      <a:pPr indent="0" lvl="0" marL="0" marR="0" rtl="0" algn="l">
                        <a:lnSpc>
                          <a:spcPct val="100000"/>
                        </a:lnSpc>
                        <a:spcBef>
                          <a:spcPts val="0"/>
                        </a:spcBef>
                        <a:spcAft>
                          <a:spcPts val="0"/>
                        </a:spcAft>
                        <a:buClr>
                          <a:srgbClr val="000000"/>
                        </a:buClr>
                        <a:buSzPts val="1000"/>
                        <a:buFont typeface="Arial"/>
                        <a:buNone/>
                      </a:pPr>
                      <a:r>
                        <a:rPr b="1" lang="en-US" sz="1000" u="none" cap="none" strike="noStrike">
                          <a:solidFill>
                            <a:schemeClr val="lt1"/>
                          </a:solidFill>
                          <a:latin typeface="Cambria"/>
                          <a:ea typeface="Cambria"/>
                          <a:cs typeface="Cambria"/>
                          <a:sym typeface="Cambria"/>
                        </a:rPr>
                        <a:t>Temporal modeling of gestures improves recognition of dynamic movements</a:t>
                      </a:r>
                      <a:endParaRPr b="1" sz="1000" u="none" cap="none" strike="noStrike">
                        <a:solidFill>
                          <a:schemeClr val="lt1"/>
                        </a:solidFill>
                        <a:latin typeface="Cambria"/>
                        <a:ea typeface="Cambria"/>
                        <a:cs typeface="Cambria"/>
                        <a:sym typeface="Cambria"/>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300"/>
                        <a:buFont typeface="Arial"/>
                        <a:buNone/>
                      </a:pPr>
                      <a:r>
                        <a:rPr b="1" lang="en-US" sz="1300" u="none" cap="none" strike="noStrike">
                          <a:solidFill>
                            <a:schemeClr val="lt1"/>
                          </a:solidFill>
                          <a:latin typeface="Cambria"/>
                          <a:ea typeface="Cambria"/>
                          <a:cs typeface="Cambria"/>
                          <a:sym typeface="Cambria"/>
                        </a:rPr>
                        <a:t>WILEY</a:t>
                      </a:r>
                      <a:endParaRPr b="1" sz="1300" u="none" cap="none" strike="noStrike">
                        <a:solidFill>
                          <a:schemeClr val="lt1"/>
                        </a:solidFill>
                        <a:latin typeface="Cambria"/>
                        <a:ea typeface="Cambria"/>
                        <a:cs typeface="Cambria"/>
                        <a:sym typeface="Cambria"/>
                      </a:endParaRPr>
                    </a:p>
                  </a:txBody>
                  <a:tcPr marT="91425" marB="91425" marR="91425" marL="91425" anchor="ctr"/>
                </a:tc>
              </a:tr>
              <a:tr h="381000">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solidFill>
                            <a:schemeClr val="lt1"/>
                          </a:solidFill>
                          <a:latin typeface="Cambria"/>
                          <a:ea typeface="Cambria"/>
                          <a:cs typeface="Cambria"/>
                          <a:sym typeface="Cambria"/>
                        </a:rPr>
                        <a:t>10</a:t>
                      </a:r>
                      <a:endParaRPr sz="1600" u="none" cap="none" strike="noStrike">
                        <a:solidFill>
                          <a:schemeClr val="lt1"/>
                        </a:solidFill>
                        <a:latin typeface="Cambria"/>
                        <a:ea typeface="Cambria"/>
                        <a:cs typeface="Cambria"/>
                        <a:sym typeface="Cambria"/>
                      </a:endParaRPr>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000"/>
                        <a:buFont typeface="Arial"/>
                        <a:buNone/>
                      </a:pPr>
                      <a:r>
                        <a:rPr b="1" lang="en-US" sz="1000" u="none" cap="none" strike="noStrike">
                          <a:solidFill>
                            <a:schemeClr val="lt1"/>
                          </a:solidFill>
                          <a:latin typeface="Cambria"/>
                          <a:ea typeface="Cambria"/>
                          <a:cs typeface="Cambria"/>
                          <a:sym typeface="Cambria"/>
                        </a:rPr>
                        <a:t>Faults of JavaScript-Based Deep Learning Systems 2023</a:t>
                      </a:r>
                      <a:endParaRPr b="1" sz="1000" u="none" cap="none" strike="noStrike">
                        <a:solidFill>
                          <a:schemeClr val="lt1"/>
                        </a:solidFill>
                        <a:latin typeface="Cambria"/>
                        <a:ea typeface="Cambria"/>
                        <a:cs typeface="Cambria"/>
                        <a:sym typeface="Cambria"/>
                      </a:endParaRPr>
                    </a:p>
                  </a:txBody>
                  <a:tcPr marT="91425" marB="91425" marR="91425" marL="91425" anchor="ctr"/>
                </a:tc>
                <a:tc>
                  <a:txBody>
                    <a:bodyPr/>
                    <a:lstStyle/>
                    <a:p>
                      <a:pPr indent="0" lvl="0" marL="0" marR="0" rtl="0" algn="l">
                        <a:lnSpc>
                          <a:spcPct val="100000"/>
                        </a:lnSpc>
                        <a:spcBef>
                          <a:spcPts val="0"/>
                        </a:spcBef>
                        <a:spcAft>
                          <a:spcPts val="0"/>
                        </a:spcAft>
                        <a:buClr>
                          <a:srgbClr val="000000"/>
                        </a:buClr>
                        <a:buSzPts val="1000"/>
                        <a:buFont typeface="Arial"/>
                        <a:buNone/>
                      </a:pPr>
                      <a:r>
                        <a:rPr b="1" lang="en-US" sz="1000" u="none" cap="none" strike="noStrike">
                          <a:solidFill>
                            <a:schemeClr val="lt1"/>
                          </a:solidFill>
                          <a:latin typeface="Cambria"/>
                          <a:ea typeface="Cambria"/>
                          <a:cs typeface="Cambria"/>
                          <a:sym typeface="Cambria"/>
                        </a:rPr>
                        <a:t>C. Deep learning recognition models can effectively capture complex hand movements and improve interaction accuracy</a:t>
                      </a:r>
                      <a:endParaRPr b="1" sz="1000" u="none" cap="none" strike="noStrike">
                        <a:solidFill>
                          <a:schemeClr val="lt1"/>
                        </a:solidFill>
                        <a:latin typeface="Cambria"/>
                        <a:ea typeface="Cambria"/>
                        <a:cs typeface="Cambria"/>
                        <a:sym typeface="Cambria"/>
                      </a:endParaRPr>
                    </a:p>
                    <a:p>
                      <a:pPr indent="0" lvl="0" marL="0" marR="0" rtl="0" algn="l">
                        <a:lnSpc>
                          <a:spcPct val="100000"/>
                        </a:lnSpc>
                        <a:spcBef>
                          <a:spcPts val="0"/>
                        </a:spcBef>
                        <a:spcAft>
                          <a:spcPts val="0"/>
                        </a:spcAft>
                        <a:buClr>
                          <a:srgbClr val="000000"/>
                        </a:buClr>
                        <a:buSzPts val="1000"/>
                        <a:buFont typeface="Arial"/>
                        <a:buNone/>
                      </a:pPr>
                      <a:r>
                        <a:rPr b="1" lang="en-US" sz="1000" u="none" cap="none" strike="noStrike">
                          <a:solidFill>
                            <a:schemeClr val="lt1"/>
                          </a:solidFill>
                          <a:latin typeface="Cambria"/>
                          <a:ea typeface="Cambria"/>
                          <a:cs typeface="Cambria"/>
                          <a:sym typeface="Cambria"/>
                        </a:rPr>
                        <a:t>D. Requires large datasets and high computational resources</a:t>
                      </a:r>
                      <a:endParaRPr b="1" sz="1000" u="none" cap="none" strike="noStrike">
                        <a:solidFill>
                          <a:schemeClr val="lt1"/>
                        </a:solidFill>
                        <a:latin typeface="Cambria"/>
                        <a:ea typeface="Cambria"/>
                        <a:cs typeface="Cambria"/>
                        <a:sym typeface="Cambria"/>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000"/>
                        <a:buFont typeface="Arial"/>
                        <a:buNone/>
                      </a:pPr>
                      <a:r>
                        <a:rPr b="1" lang="en-US" sz="1000" u="none" cap="none" strike="noStrike">
                          <a:solidFill>
                            <a:schemeClr val="lt1"/>
                          </a:solidFill>
                          <a:latin typeface="Cambria"/>
                          <a:ea typeface="Cambria"/>
                          <a:cs typeface="Cambria"/>
                          <a:sym typeface="Cambria"/>
                        </a:rPr>
                        <a:t>Advanced deep learning improves gesture understanding and motivates us to design a lightweight and efficient system </a:t>
                      </a:r>
                      <a:endParaRPr b="1" sz="1000" u="none" cap="none" strike="noStrike">
                        <a:solidFill>
                          <a:schemeClr val="lt1"/>
                        </a:solidFill>
                        <a:latin typeface="Cambria"/>
                        <a:ea typeface="Cambria"/>
                        <a:cs typeface="Cambria"/>
                        <a:sym typeface="Cambria"/>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300"/>
                        <a:buFont typeface="Arial"/>
                        <a:buNone/>
                      </a:pPr>
                      <a:r>
                        <a:rPr b="1" lang="en-US" sz="1300" u="none" cap="none" strike="noStrike">
                          <a:solidFill>
                            <a:schemeClr val="lt1"/>
                          </a:solidFill>
                          <a:latin typeface="Cambria"/>
                          <a:ea typeface="Cambria"/>
                          <a:cs typeface="Cambria"/>
                          <a:sym typeface="Cambria"/>
                        </a:rPr>
                        <a:t>Cornell University</a:t>
                      </a:r>
                      <a:endParaRPr b="1" sz="1300" u="none" cap="none" strike="noStrike">
                        <a:solidFill>
                          <a:schemeClr val="lt1"/>
                        </a:solidFill>
                        <a:latin typeface="Cambria"/>
                        <a:ea typeface="Cambria"/>
                        <a:cs typeface="Cambria"/>
                        <a:sym typeface="Cambria"/>
                      </a:endParaRPr>
                    </a:p>
                  </a:txBody>
                  <a:tcPr marT="91425" marB="91425" marR="91425" marL="91425" anchor="ct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pic>
        <p:nvPicPr>
          <p:cNvPr id="195" name="Google Shape;195;p19"/>
          <p:cNvPicPr preferRelativeResize="0"/>
          <p:nvPr/>
        </p:nvPicPr>
        <p:blipFill rotWithShape="1">
          <a:blip r:embed="rId3">
            <a:alphaModFix/>
          </a:blip>
          <a:srcRect b="0" l="0" r="0" t="0"/>
          <a:stretch/>
        </p:blipFill>
        <p:spPr>
          <a:xfrm>
            <a:off x="653325" y="454275"/>
            <a:ext cx="7875449" cy="744149"/>
          </a:xfrm>
          <a:prstGeom prst="rect">
            <a:avLst/>
          </a:prstGeom>
          <a:noFill/>
          <a:ln>
            <a:noFill/>
          </a:ln>
        </p:spPr>
      </p:pic>
      <p:sp>
        <p:nvSpPr>
          <p:cNvPr id="196" name="Google Shape;196;p19"/>
          <p:cNvSpPr txBox="1"/>
          <p:nvPr>
            <p:ph type="title"/>
          </p:nvPr>
        </p:nvSpPr>
        <p:spPr>
          <a:xfrm>
            <a:off x="2270730" y="522820"/>
            <a:ext cx="4678045" cy="528319"/>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a:t>PROBLEM STATEMENT</a:t>
            </a:r>
            <a:endParaRPr/>
          </a:p>
        </p:txBody>
      </p:sp>
      <p:sp>
        <p:nvSpPr>
          <p:cNvPr id="197" name="Google Shape;197;p19"/>
          <p:cNvSpPr txBox="1"/>
          <p:nvPr/>
        </p:nvSpPr>
        <p:spPr>
          <a:xfrm>
            <a:off x="674300" y="1304552"/>
            <a:ext cx="7787700" cy="2614200"/>
          </a:xfrm>
          <a:prstGeom prst="rect">
            <a:avLst/>
          </a:prstGeom>
          <a:noFill/>
          <a:ln>
            <a:noFill/>
          </a:ln>
        </p:spPr>
        <p:txBody>
          <a:bodyPr anchorCtr="0" anchor="t" bIns="0" lIns="0" spcFirstLastPara="1" rIns="0" wrap="square" tIns="12700">
            <a:spAutoFit/>
          </a:bodyPr>
          <a:lstStyle/>
          <a:p>
            <a:pPr indent="0" lvl="0" marL="12700" marR="119380" rtl="0" algn="l">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Cambria"/>
                <a:ea typeface="Cambria"/>
                <a:cs typeface="Cambria"/>
                <a:sym typeface="Cambria"/>
              </a:rPr>
              <a:t>Traditional digital drawing systems rely heavily on physical input devices such as a mouse, stylus, or touchscreen. These methods require direct physical interaction, which may not always be intuitive.</a:t>
            </a:r>
            <a:endParaRPr b="0" i="0" sz="1400" u="none" cap="none" strike="noStrike">
              <a:solidFill>
                <a:srgbClr val="000000"/>
              </a:solidFill>
              <a:latin typeface="Cambria"/>
              <a:ea typeface="Cambria"/>
              <a:cs typeface="Cambria"/>
              <a:sym typeface="Cambria"/>
            </a:endParaRPr>
          </a:p>
          <a:p>
            <a:pPr indent="0" lvl="0" marL="0" marR="0" rtl="0" algn="l">
              <a:lnSpc>
                <a:spcPct val="100000"/>
              </a:lnSpc>
              <a:spcBef>
                <a:spcPts val="55"/>
              </a:spcBef>
              <a:spcAft>
                <a:spcPts val="0"/>
              </a:spcAft>
              <a:buClr>
                <a:srgbClr val="000000"/>
              </a:buClr>
              <a:buSzPts val="1400"/>
              <a:buFont typeface="Arial"/>
              <a:buNone/>
            </a:pPr>
            <a:r>
              <a:t/>
            </a:r>
            <a:endParaRPr b="0" i="0" sz="1400" u="none" cap="none" strike="noStrike">
              <a:solidFill>
                <a:srgbClr val="000000"/>
              </a:solidFill>
              <a:latin typeface="Cambria"/>
              <a:ea typeface="Cambria"/>
              <a:cs typeface="Cambria"/>
              <a:sym typeface="Cambria"/>
            </a:endParaRPr>
          </a:p>
          <a:p>
            <a:pPr indent="0" lvl="0" marL="12700" marR="268605" rtl="0" algn="just">
              <a:lnSpc>
                <a:spcPct val="100000"/>
              </a:lnSpc>
              <a:spcBef>
                <a:spcPts val="5"/>
              </a:spcBef>
              <a:spcAft>
                <a:spcPts val="0"/>
              </a:spcAft>
              <a:buClr>
                <a:srgbClr val="000000"/>
              </a:buClr>
              <a:buSzPts val="1400"/>
              <a:buFont typeface="Arial"/>
              <a:buNone/>
            </a:pPr>
            <a:r>
              <a:rPr b="1" i="0" lang="en-US" sz="1400" u="none" cap="none" strike="noStrike">
                <a:solidFill>
                  <a:srgbClr val="FFFFFF"/>
                </a:solidFill>
                <a:latin typeface="Cambria"/>
                <a:ea typeface="Cambria"/>
                <a:cs typeface="Cambria"/>
                <a:sym typeface="Cambria"/>
              </a:rPr>
              <a:t>Existing gesture-based systems often focus only on basic functionalities, lacking a complete and interactive drawing experience suitable for</a:t>
            </a:r>
            <a:endParaRPr b="0" i="0" sz="1400" u="none" cap="none" strike="noStrike">
              <a:solidFill>
                <a:srgbClr val="000000"/>
              </a:solidFill>
              <a:latin typeface="Cambria"/>
              <a:ea typeface="Cambria"/>
              <a:cs typeface="Cambria"/>
              <a:sym typeface="Cambria"/>
            </a:endParaRPr>
          </a:p>
          <a:p>
            <a:pPr indent="0" lvl="0" marL="12700" marR="5080" rtl="0" algn="just">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Cambria"/>
                <a:ea typeface="Cambria"/>
                <a:cs typeface="Cambria"/>
                <a:sym typeface="Cambria"/>
              </a:rPr>
              <a:t>real-world applications. Additionally, individuals with physical disabilities or hand movement limitations face challenges in using conventional input devices.</a:t>
            </a:r>
            <a:endParaRPr b="0" i="0" sz="1400" u="none" cap="none" strike="noStrike">
              <a:solidFill>
                <a:srgbClr val="000000"/>
              </a:solidFill>
              <a:latin typeface="Cambria"/>
              <a:ea typeface="Cambria"/>
              <a:cs typeface="Cambria"/>
              <a:sym typeface="Cambria"/>
            </a:endParaRPr>
          </a:p>
          <a:p>
            <a:pPr indent="0" lvl="0" marL="0" marR="0" rtl="0" algn="l">
              <a:lnSpc>
                <a:spcPct val="100000"/>
              </a:lnSpc>
              <a:spcBef>
                <a:spcPts val="55"/>
              </a:spcBef>
              <a:spcAft>
                <a:spcPts val="0"/>
              </a:spcAft>
              <a:buClr>
                <a:srgbClr val="000000"/>
              </a:buClr>
              <a:buSzPts val="1400"/>
              <a:buFont typeface="Arial"/>
              <a:buNone/>
            </a:pPr>
            <a:r>
              <a:t/>
            </a:r>
            <a:endParaRPr b="0" i="0" sz="1400" u="none" cap="none" strike="noStrike">
              <a:solidFill>
                <a:srgbClr val="000000"/>
              </a:solidFill>
              <a:latin typeface="Cambria"/>
              <a:ea typeface="Cambria"/>
              <a:cs typeface="Cambria"/>
              <a:sym typeface="Cambria"/>
            </a:endParaRPr>
          </a:p>
          <a:p>
            <a:pPr indent="0" lvl="0" marL="12700" marR="590550" rtl="0" algn="just">
              <a:lnSpc>
                <a:spcPct val="100000"/>
              </a:lnSpc>
              <a:spcBef>
                <a:spcPts val="5"/>
              </a:spcBef>
              <a:spcAft>
                <a:spcPts val="0"/>
              </a:spcAft>
              <a:buClr>
                <a:srgbClr val="000000"/>
              </a:buClr>
              <a:buSzPts val="1400"/>
              <a:buFont typeface="Arial"/>
              <a:buNone/>
            </a:pPr>
            <a:r>
              <a:rPr b="1" i="0" lang="en-US" sz="1400" u="none" cap="none" strike="noStrike">
                <a:solidFill>
                  <a:srgbClr val="FFFFFF"/>
                </a:solidFill>
                <a:latin typeface="Cambria"/>
                <a:ea typeface="Cambria"/>
                <a:cs typeface="Cambria"/>
                <a:sym typeface="Cambria"/>
              </a:rPr>
              <a:t>There is a need for an intuitive, touchless, and accessible system that leverages computer vision and hand gesture recognition to provide a natural and inclusive digital drawing experience.</a:t>
            </a:r>
            <a:endParaRPr b="0" i="0" sz="1400" u="none" cap="none" strike="noStrike">
              <a:solidFill>
                <a:srgbClr val="000000"/>
              </a:solidFill>
              <a:latin typeface="Cambria"/>
              <a:ea typeface="Cambria"/>
              <a:cs typeface="Cambria"/>
              <a:sym typeface="Cambria"/>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pic>
        <p:nvPicPr>
          <p:cNvPr id="202" name="Google Shape;202;p20"/>
          <p:cNvPicPr preferRelativeResize="0"/>
          <p:nvPr/>
        </p:nvPicPr>
        <p:blipFill rotWithShape="1">
          <a:blip r:embed="rId3">
            <a:alphaModFix/>
          </a:blip>
          <a:srcRect b="0" l="0" r="0" t="0"/>
          <a:stretch/>
        </p:blipFill>
        <p:spPr>
          <a:xfrm>
            <a:off x="653325" y="454275"/>
            <a:ext cx="7875449" cy="744149"/>
          </a:xfrm>
          <a:prstGeom prst="rect">
            <a:avLst/>
          </a:prstGeom>
          <a:noFill/>
          <a:ln>
            <a:noFill/>
          </a:ln>
        </p:spPr>
      </p:pic>
      <p:sp>
        <p:nvSpPr>
          <p:cNvPr id="203" name="Google Shape;203;p20"/>
          <p:cNvSpPr txBox="1"/>
          <p:nvPr>
            <p:ph type="title"/>
          </p:nvPr>
        </p:nvSpPr>
        <p:spPr>
          <a:xfrm>
            <a:off x="2270730" y="522820"/>
            <a:ext cx="4678045" cy="528319"/>
          </a:xfrm>
          <a:prstGeom prst="rect">
            <a:avLst/>
          </a:prstGeom>
          <a:noFill/>
          <a:ln>
            <a:noFill/>
          </a:ln>
        </p:spPr>
        <p:txBody>
          <a:bodyPr anchorCtr="0" anchor="t" bIns="0" lIns="0" spcFirstLastPara="1" rIns="0" wrap="square" tIns="12700">
            <a:spAutoFit/>
          </a:bodyPr>
          <a:lstStyle/>
          <a:p>
            <a:pPr indent="0" lvl="0" marL="400050" rtl="0" algn="l">
              <a:lnSpc>
                <a:spcPct val="100000"/>
              </a:lnSpc>
              <a:spcBef>
                <a:spcPts val="0"/>
              </a:spcBef>
              <a:spcAft>
                <a:spcPts val="0"/>
              </a:spcAft>
              <a:buSzPts val="1400"/>
              <a:buNone/>
            </a:pPr>
            <a:r>
              <a:rPr lang="en-US"/>
              <a:t>EXISTING SYSTEMS</a:t>
            </a:r>
            <a:endParaRPr/>
          </a:p>
        </p:txBody>
      </p:sp>
      <p:sp>
        <p:nvSpPr>
          <p:cNvPr id="204" name="Google Shape;204;p20"/>
          <p:cNvSpPr txBox="1"/>
          <p:nvPr/>
        </p:nvSpPr>
        <p:spPr>
          <a:xfrm>
            <a:off x="208074" y="1212932"/>
            <a:ext cx="4896000" cy="16587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000"/>
              <a:buFont typeface="Arial"/>
              <a:buNone/>
            </a:pPr>
            <a:r>
              <a:rPr b="1" i="0" lang="en-US" sz="2000" u="none" cap="none" strike="noStrike">
                <a:solidFill>
                  <a:srgbClr val="FFFFFF"/>
                </a:solidFill>
                <a:latin typeface="Cambria"/>
                <a:ea typeface="Cambria"/>
                <a:cs typeface="Cambria"/>
                <a:sym typeface="Cambria"/>
              </a:rPr>
              <a:t>Microsoft Kinect:</a:t>
            </a:r>
            <a:endParaRPr b="0" i="0" sz="2000" u="none" cap="none" strike="noStrike">
              <a:solidFill>
                <a:srgbClr val="000000"/>
              </a:solidFill>
              <a:latin typeface="Cambria"/>
              <a:ea typeface="Cambria"/>
              <a:cs typeface="Cambria"/>
              <a:sym typeface="Cambria"/>
            </a:endParaRPr>
          </a:p>
          <a:p>
            <a:pPr indent="0" lvl="0" marL="12700" marR="5080" rtl="0" algn="l">
              <a:lnSpc>
                <a:spcPct val="101099"/>
              </a:lnSpc>
              <a:spcBef>
                <a:spcPts val="985"/>
              </a:spcBef>
              <a:spcAft>
                <a:spcPts val="0"/>
              </a:spcAft>
              <a:buClr>
                <a:srgbClr val="000000"/>
              </a:buClr>
              <a:buSzPts val="1300"/>
              <a:buFont typeface="Arial"/>
              <a:buNone/>
            </a:pPr>
            <a:r>
              <a:rPr b="1" i="0" lang="en-US" sz="1300" u="none" cap="none" strike="noStrike">
                <a:solidFill>
                  <a:srgbClr val="FFFFFF"/>
                </a:solidFill>
                <a:latin typeface="Cambria"/>
                <a:ea typeface="Cambria"/>
                <a:cs typeface="Cambria"/>
                <a:sym typeface="Cambria"/>
              </a:rPr>
              <a:t>A motion-sensing system developed by Microsoft that uses a combination of RGB cameras, depth sensors, and infrared technology to track full-body movements, including hand gestures. It enables users to interact with systems without physical controllers and is widely used in gaming, virtual reality, rehabilitation, and interactive installations.</a:t>
            </a:r>
            <a:endParaRPr b="0" i="0" sz="1300" u="none" cap="none" strike="noStrike">
              <a:solidFill>
                <a:srgbClr val="000000"/>
              </a:solidFill>
              <a:latin typeface="Cambria"/>
              <a:ea typeface="Cambria"/>
              <a:cs typeface="Cambria"/>
              <a:sym typeface="Cambria"/>
            </a:endParaRPr>
          </a:p>
        </p:txBody>
      </p:sp>
      <p:sp>
        <p:nvSpPr>
          <p:cNvPr id="205" name="Google Shape;205;p20"/>
          <p:cNvSpPr txBox="1"/>
          <p:nvPr/>
        </p:nvSpPr>
        <p:spPr>
          <a:xfrm>
            <a:off x="283004" y="3514045"/>
            <a:ext cx="7757700" cy="613200"/>
          </a:xfrm>
          <a:prstGeom prst="rect">
            <a:avLst/>
          </a:prstGeom>
          <a:noFill/>
          <a:ln>
            <a:noFill/>
          </a:ln>
        </p:spPr>
        <p:txBody>
          <a:bodyPr anchorCtr="0" anchor="t" bIns="0" lIns="0" spcFirstLastPara="1" rIns="0" wrap="square" tIns="12700">
            <a:spAutoFit/>
          </a:bodyPr>
          <a:lstStyle/>
          <a:p>
            <a:pPr indent="0" lvl="0" marL="12700" marR="5080" rtl="0" algn="l">
              <a:lnSpc>
                <a:spcPct val="100000"/>
              </a:lnSpc>
              <a:spcBef>
                <a:spcPts val="0"/>
              </a:spcBef>
              <a:spcAft>
                <a:spcPts val="0"/>
              </a:spcAft>
              <a:buClr>
                <a:srgbClr val="000000"/>
              </a:buClr>
              <a:buSzPts val="1300"/>
              <a:buFont typeface="Arial"/>
              <a:buNone/>
            </a:pPr>
            <a:r>
              <a:rPr b="1" i="0" lang="en-US" sz="1300" u="none" cap="none" strike="noStrike">
                <a:solidFill>
                  <a:srgbClr val="FFFFFF"/>
                </a:solidFill>
                <a:latin typeface="Cambria"/>
                <a:ea typeface="Cambria"/>
                <a:cs typeface="Cambria"/>
                <a:sym typeface="Cambria"/>
              </a:rPr>
              <a:t>However, it requires specialized and costly hardware, has limited portability, and is not suitable for lightweight or web-based applications. Additionally, its setup can be complex and may not perform efficiently in all environments.</a:t>
            </a:r>
            <a:endParaRPr b="0" i="0" sz="1300" u="none" cap="none" strike="noStrike">
              <a:solidFill>
                <a:srgbClr val="000000"/>
              </a:solidFill>
              <a:latin typeface="Cambria"/>
              <a:ea typeface="Cambria"/>
              <a:cs typeface="Cambria"/>
              <a:sym typeface="Cambria"/>
            </a:endParaRPr>
          </a:p>
        </p:txBody>
      </p:sp>
      <p:pic>
        <p:nvPicPr>
          <p:cNvPr id="206" name="Google Shape;206;p20"/>
          <p:cNvPicPr preferRelativeResize="0"/>
          <p:nvPr/>
        </p:nvPicPr>
        <p:blipFill rotWithShape="1">
          <a:blip r:embed="rId4">
            <a:alphaModFix/>
          </a:blip>
          <a:srcRect b="0" l="0" r="0" t="0"/>
          <a:stretch/>
        </p:blipFill>
        <p:spPr>
          <a:xfrm>
            <a:off x="5497700" y="1162325"/>
            <a:ext cx="3241252" cy="2291148"/>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1"/>
          <p:cNvSpPr txBox="1"/>
          <p:nvPr>
            <p:ph type="title"/>
          </p:nvPr>
        </p:nvSpPr>
        <p:spPr>
          <a:xfrm>
            <a:off x="364549" y="1115890"/>
            <a:ext cx="2773045" cy="3302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b="1" lang="en-US" sz="2000">
                <a:latin typeface="Cambria"/>
                <a:ea typeface="Cambria"/>
                <a:cs typeface="Cambria"/>
                <a:sym typeface="Cambria"/>
              </a:rPr>
              <a:t>Leap Motion controller:</a:t>
            </a:r>
            <a:endParaRPr sz="2000">
              <a:latin typeface="Cambria"/>
              <a:ea typeface="Cambria"/>
              <a:cs typeface="Cambria"/>
              <a:sym typeface="Cambria"/>
            </a:endParaRPr>
          </a:p>
        </p:txBody>
      </p:sp>
      <p:sp>
        <p:nvSpPr>
          <p:cNvPr id="212" name="Google Shape;212;p21"/>
          <p:cNvSpPr txBox="1"/>
          <p:nvPr/>
        </p:nvSpPr>
        <p:spPr>
          <a:xfrm>
            <a:off x="364549" y="1578662"/>
            <a:ext cx="5892300" cy="2418600"/>
          </a:xfrm>
          <a:prstGeom prst="rect">
            <a:avLst/>
          </a:prstGeom>
          <a:noFill/>
          <a:ln>
            <a:noFill/>
          </a:ln>
        </p:spPr>
        <p:txBody>
          <a:bodyPr anchorCtr="0" anchor="t" bIns="0" lIns="0" spcFirstLastPara="1" rIns="0" wrap="square" tIns="12700">
            <a:spAutoFit/>
          </a:bodyPr>
          <a:lstStyle/>
          <a:p>
            <a:pPr indent="0" lvl="0" marL="12700" marR="191770" rtl="0" algn="l">
              <a:lnSpc>
                <a:spcPct val="100000"/>
              </a:lnSpc>
              <a:spcBef>
                <a:spcPts val="0"/>
              </a:spcBef>
              <a:spcAft>
                <a:spcPts val="0"/>
              </a:spcAft>
              <a:buClr>
                <a:srgbClr val="000000"/>
              </a:buClr>
              <a:buSzPts val="1300"/>
              <a:buFont typeface="Arial"/>
              <a:buNone/>
            </a:pPr>
            <a:r>
              <a:rPr b="1" i="0" lang="en-US" sz="1300" u="none" cap="none" strike="noStrike">
                <a:solidFill>
                  <a:srgbClr val="FFFFFF"/>
                </a:solidFill>
                <a:latin typeface="Cambria"/>
                <a:ea typeface="Cambria"/>
                <a:cs typeface="Cambria"/>
                <a:sym typeface="Cambria"/>
              </a:rPr>
              <a:t>A hardware-based gesture recognition system that uses infrared cameras and optical sensors to capture highly precise hand and finger movements in real time. It can track individual fingers, hand orientation, and complex gestures with high accuracy, making it suitable for applications in virtual reality, augmented reality, 3D modeling, medical training, and interactive simulations</a:t>
            </a:r>
            <a:endParaRPr b="0" i="0" sz="1300" u="none" cap="none" strike="noStrike">
              <a:solidFill>
                <a:srgbClr val="000000"/>
              </a:solidFill>
              <a:latin typeface="Cambria"/>
              <a:ea typeface="Cambria"/>
              <a:cs typeface="Cambria"/>
              <a:sym typeface="Cambria"/>
            </a:endParaRPr>
          </a:p>
          <a:p>
            <a:pPr indent="0" lvl="0" marL="0" marR="0" rtl="0" algn="l">
              <a:lnSpc>
                <a:spcPct val="100000"/>
              </a:lnSpc>
              <a:spcBef>
                <a:spcPts val="35"/>
              </a:spcBef>
              <a:spcAft>
                <a:spcPts val="0"/>
              </a:spcAft>
              <a:buClr>
                <a:srgbClr val="000000"/>
              </a:buClr>
              <a:buSzPts val="1300"/>
              <a:buFont typeface="Arial"/>
              <a:buNone/>
            </a:pPr>
            <a:r>
              <a:t/>
            </a:r>
            <a:endParaRPr b="0" i="0" sz="1300" u="none" cap="none" strike="noStrike">
              <a:solidFill>
                <a:srgbClr val="000000"/>
              </a:solidFill>
              <a:latin typeface="Cambria"/>
              <a:ea typeface="Cambria"/>
              <a:cs typeface="Cambria"/>
              <a:sym typeface="Cambria"/>
            </a:endParaRPr>
          </a:p>
          <a:p>
            <a:pPr indent="0" lvl="0" marL="12700" marR="5080" rtl="0" algn="l">
              <a:lnSpc>
                <a:spcPct val="100000"/>
              </a:lnSpc>
              <a:spcBef>
                <a:spcPts val="0"/>
              </a:spcBef>
              <a:spcAft>
                <a:spcPts val="0"/>
              </a:spcAft>
              <a:buClr>
                <a:srgbClr val="000000"/>
              </a:buClr>
              <a:buSzPts val="1300"/>
              <a:buFont typeface="Arial"/>
              <a:buNone/>
            </a:pPr>
            <a:r>
              <a:rPr b="1" i="0" lang="en-US" sz="1300" u="none" cap="none" strike="noStrike">
                <a:solidFill>
                  <a:srgbClr val="FFFFFF"/>
                </a:solidFill>
                <a:latin typeface="Cambria"/>
                <a:ea typeface="Cambria"/>
                <a:cs typeface="Cambria"/>
                <a:sym typeface="Cambria"/>
              </a:rPr>
              <a:t>However, it requires dedicated external hardware, increasing the  overall cost and limiting accessibility for general users. Additionally, it needs proper setup and positioning, has a limited interaction range, and is not easily scalable for web-based or lightweight applications compared to webcam-based solutions.</a:t>
            </a:r>
            <a:endParaRPr b="0" i="0" sz="1300" u="none" cap="none" strike="noStrike">
              <a:solidFill>
                <a:srgbClr val="000000"/>
              </a:solidFill>
              <a:latin typeface="Cambria"/>
              <a:ea typeface="Cambria"/>
              <a:cs typeface="Cambria"/>
              <a:sym typeface="Cambria"/>
            </a:endParaRPr>
          </a:p>
        </p:txBody>
      </p:sp>
      <p:pic>
        <p:nvPicPr>
          <p:cNvPr id="213" name="Google Shape;213;p21"/>
          <p:cNvPicPr preferRelativeResize="0"/>
          <p:nvPr/>
        </p:nvPicPr>
        <p:blipFill rotWithShape="1">
          <a:blip r:embed="rId3">
            <a:alphaModFix/>
          </a:blip>
          <a:srcRect b="0" l="0" r="0" t="0"/>
          <a:stretch/>
        </p:blipFill>
        <p:spPr>
          <a:xfrm>
            <a:off x="6389925" y="1588950"/>
            <a:ext cx="2585349" cy="226218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pic>
        <p:nvPicPr>
          <p:cNvPr id="218" name="Google Shape;218;p22"/>
          <p:cNvPicPr preferRelativeResize="0"/>
          <p:nvPr/>
        </p:nvPicPr>
        <p:blipFill rotWithShape="1">
          <a:blip r:embed="rId3">
            <a:alphaModFix/>
          </a:blip>
          <a:srcRect b="0" l="0" r="0" t="0"/>
          <a:stretch/>
        </p:blipFill>
        <p:spPr>
          <a:xfrm>
            <a:off x="634275" y="358050"/>
            <a:ext cx="7875449" cy="744149"/>
          </a:xfrm>
          <a:prstGeom prst="rect">
            <a:avLst/>
          </a:prstGeom>
          <a:noFill/>
          <a:ln>
            <a:noFill/>
          </a:ln>
        </p:spPr>
      </p:pic>
      <p:sp>
        <p:nvSpPr>
          <p:cNvPr id="219" name="Google Shape;219;p22"/>
          <p:cNvSpPr txBox="1"/>
          <p:nvPr>
            <p:ph type="title"/>
          </p:nvPr>
        </p:nvSpPr>
        <p:spPr>
          <a:xfrm>
            <a:off x="2494627" y="433320"/>
            <a:ext cx="4460875" cy="558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sz="3500"/>
              <a:t>PROPOSED SYSTEM</a:t>
            </a:r>
            <a:endParaRPr sz="3500"/>
          </a:p>
        </p:txBody>
      </p:sp>
      <p:sp>
        <p:nvSpPr>
          <p:cNvPr id="220" name="Google Shape;220;p22"/>
          <p:cNvSpPr txBox="1"/>
          <p:nvPr/>
        </p:nvSpPr>
        <p:spPr>
          <a:xfrm>
            <a:off x="1661935" y="1065515"/>
            <a:ext cx="5835650" cy="3911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400"/>
              <a:buFont typeface="Arial"/>
              <a:buNone/>
            </a:pPr>
            <a:r>
              <a:rPr b="1" i="0" lang="en-US" sz="2400" u="sng" cap="none" strike="noStrike">
                <a:solidFill>
                  <a:srgbClr val="FFFFFF"/>
                </a:solidFill>
                <a:latin typeface="Cambria"/>
                <a:ea typeface="Cambria"/>
                <a:cs typeface="Cambria"/>
                <a:sym typeface="Cambria"/>
              </a:rPr>
              <a:t>AirSketch: Gesture Based Virtual Drawing</a:t>
            </a:r>
            <a:endParaRPr b="0" i="0" sz="2400" u="none" cap="none" strike="noStrike">
              <a:solidFill>
                <a:srgbClr val="000000"/>
              </a:solidFill>
              <a:latin typeface="Cambria"/>
              <a:ea typeface="Cambria"/>
              <a:cs typeface="Cambria"/>
              <a:sym typeface="Cambria"/>
            </a:endParaRPr>
          </a:p>
        </p:txBody>
      </p:sp>
      <p:sp>
        <p:nvSpPr>
          <p:cNvPr id="221" name="Google Shape;221;p22"/>
          <p:cNvSpPr txBox="1"/>
          <p:nvPr/>
        </p:nvSpPr>
        <p:spPr>
          <a:xfrm>
            <a:off x="411748" y="1666988"/>
            <a:ext cx="8156700" cy="2650800"/>
          </a:xfrm>
          <a:prstGeom prst="rect">
            <a:avLst/>
          </a:prstGeom>
          <a:noFill/>
          <a:ln>
            <a:noFill/>
          </a:ln>
        </p:spPr>
        <p:txBody>
          <a:bodyPr anchorCtr="0" anchor="t" bIns="0" lIns="0" spcFirstLastPara="1" rIns="0" wrap="square" tIns="12700">
            <a:spAutoFit/>
          </a:bodyPr>
          <a:lstStyle/>
          <a:p>
            <a:pPr indent="-353060" lvl="0" marL="377825" marR="306070" rtl="0" algn="l">
              <a:lnSpc>
                <a:spcPct val="100000"/>
              </a:lnSpc>
              <a:spcBef>
                <a:spcPts val="0"/>
              </a:spcBef>
              <a:spcAft>
                <a:spcPts val="0"/>
              </a:spcAft>
              <a:buClr>
                <a:srgbClr val="FFFFFF"/>
              </a:buClr>
              <a:buSzPts val="1300"/>
              <a:buFont typeface="Arial"/>
              <a:buChar char="●"/>
            </a:pPr>
            <a:r>
              <a:rPr b="1" i="0" lang="en-US" sz="1300" u="none" cap="none" strike="noStrike">
                <a:solidFill>
                  <a:srgbClr val="FFFFFF"/>
                </a:solidFill>
                <a:latin typeface="Cambria"/>
                <a:ea typeface="Cambria"/>
                <a:cs typeface="Cambria"/>
                <a:sym typeface="Cambria"/>
              </a:rPr>
              <a:t>AirSketch is a web-based application that enables users to draw on a digital canvas using real-time hand gestures captured through a webcam. By tracking the position of the user’s fingertip, the system converts gestures into drawing actions like creating lines and shapes on the canvas.</a:t>
            </a:r>
            <a:endParaRPr b="0" i="0" sz="1300" u="none" cap="none" strike="noStrike">
              <a:solidFill>
                <a:srgbClr val="000000"/>
              </a:solidFill>
              <a:latin typeface="Cambria"/>
              <a:ea typeface="Cambria"/>
              <a:cs typeface="Cambria"/>
              <a:sym typeface="Cambria"/>
            </a:endParaRPr>
          </a:p>
          <a:p>
            <a:pPr indent="0" lvl="0" marL="0" marR="0" rtl="0" algn="l">
              <a:lnSpc>
                <a:spcPct val="100000"/>
              </a:lnSpc>
              <a:spcBef>
                <a:spcPts val="85"/>
              </a:spcBef>
              <a:spcAft>
                <a:spcPts val="0"/>
              </a:spcAft>
              <a:buClr>
                <a:srgbClr val="FFFFFF"/>
              </a:buClr>
              <a:buSzPts val="1500"/>
              <a:buFont typeface="Arial"/>
              <a:buNone/>
            </a:pPr>
            <a:r>
              <a:t/>
            </a:r>
            <a:endParaRPr b="0" i="0" sz="1300" u="none" cap="none" strike="noStrike">
              <a:solidFill>
                <a:srgbClr val="000000"/>
              </a:solidFill>
              <a:latin typeface="Cambria"/>
              <a:ea typeface="Cambria"/>
              <a:cs typeface="Cambria"/>
              <a:sym typeface="Cambria"/>
            </a:endParaRPr>
          </a:p>
          <a:p>
            <a:pPr indent="-353060" lvl="0" marL="377825" marR="308610" rtl="0" algn="l">
              <a:lnSpc>
                <a:spcPct val="100000"/>
              </a:lnSpc>
              <a:spcBef>
                <a:spcPts val="0"/>
              </a:spcBef>
              <a:spcAft>
                <a:spcPts val="0"/>
              </a:spcAft>
              <a:buClr>
                <a:srgbClr val="FFFFFF"/>
              </a:buClr>
              <a:buSzPts val="1300"/>
              <a:buFont typeface="Arial"/>
              <a:buChar char="●"/>
            </a:pPr>
            <a:r>
              <a:rPr b="1" i="0" lang="en-US" sz="1300" u="none" cap="none" strike="noStrike">
                <a:solidFill>
                  <a:srgbClr val="FFFFFF"/>
                </a:solidFill>
                <a:latin typeface="Cambria"/>
                <a:ea typeface="Cambria"/>
                <a:cs typeface="Cambria"/>
                <a:sym typeface="Cambria"/>
              </a:rPr>
              <a:t>The platform provides an interactive and user-friendly interface with features such as color selection, brush size adjustment, eraser mode, and canvas clearing through predefined gestures. Real-time processing ensures that user movements are instantly reflected on the screen, creating a smooth and natural drawing experience.</a:t>
            </a:r>
            <a:endParaRPr b="0" i="0" sz="1300" u="none" cap="none" strike="noStrike">
              <a:solidFill>
                <a:srgbClr val="000000"/>
              </a:solidFill>
              <a:latin typeface="Cambria"/>
              <a:ea typeface="Cambria"/>
              <a:cs typeface="Cambria"/>
              <a:sym typeface="Cambria"/>
            </a:endParaRPr>
          </a:p>
          <a:p>
            <a:pPr indent="0" lvl="0" marL="0" marR="0" rtl="0" algn="l">
              <a:lnSpc>
                <a:spcPct val="100000"/>
              </a:lnSpc>
              <a:spcBef>
                <a:spcPts val="200"/>
              </a:spcBef>
              <a:spcAft>
                <a:spcPts val="0"/>
              </a:spcAft>
              <a:buClr>
                <a:srgbClr val="FFFFFF"/>
              </a:buClr>
              <a:buSzPts val="1500"/>
              <a:buFont typeface="Arial"/>
              <a:buNone/>
            </a:pPr>
            <a:r>
              <a:t/>
            </a:r>
            <a:endParaRPr b="0" i="0" sz="1300" u="none" cap="none" strike="noStrike">
              <a:solidFill>
                <a:srgbClr val="000000"/>
              </a:solidFill>
              <a:latin typeface="Cambria"/>
              <a:ea typeface="Cambria"/>
              <a:cs typeface="Cambria"/>
              <a:sym typeface="Cambria"/>
            </a:endParaRPr>
          </a:p>
          <a:p>
            <a:pPr indent="-353060" lvl="0" marL="377825" marR="5080" rtl="0" algn="l">
              <a:lnSpc>
                <a:spcPct val="100000"/>
              </a:lnSpc>
              <a:spcBef>
                <a:spcPts val="0"/>
              </a:spcBef>
              <a:spcAft>
                <a:spcPts val="0"/>
              </a:spcAft>
              <a:buClr>
                <a:srgbClr val="FFFFFF"/>
              </a:buClr>
              <a:buSzPts val="1300"/>
              <a:buFont typeface="Arial"/>
              <a:buChar char="●"/>
            </a:pPr>
            <a:r>
              <a:rPr b="1" i="0" lang="en-US" sz="1300" u="none" cap="none" strike="noStrike">
                <a:solidFill>
                  <a:srgbClr val="FFFFFF"/>
                </a:solidFill>
                <a:latin typeface="Cambria"/>
                <a:ea typeface="Cambria"/>
                <a:cs typeface="Cambria"/>
                <a:sym typeface="Cambria"/>
              </a:rPr>
              <a:t>Additionally, the system promotes accessibility by enabling touchless interaction, making it especially useful for individuals with physical disabilities or hand mobility limitations. Overall, AirSketch offers a cost-effective, accessible, and intuitive solution that enhances human–computer interaction through gesture-based control.</a:t>
            </a:r>
            <a:endParaRPr b="0" i="0" sz="1300" u="none" cap="none" strike="noStrike">
              <a:solidFill>
                <a:srgbClr val="000000"/>
              </a:solidFill>
              <a:latin typeface="Cambria"/>
              <a:ea typeface="Cambria"/>
              <a:cs typeface="Cambria"/>
              <a:sym typeface="Cambria"/>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pic>
        <p:nvPicPr>
          <p:cNvPr id="226" name="Google Shape;226;p23"/>
          <p:cNvPicPr preferRelativeResize="0"/>
          <p:nvPr/>
        </p:nvPicPr>
        <p:blipFill rotWithShape="1">
          <a:blip r:embed="rId3">
            <a:alphaModFix/>
          </a:blip>
          <a:srcRect b="0" l="0" r="0" t="0"/>
          <a:stretch/>
        </p:blipFill>
        <p:spPr>
          <a:xfrm>
            <a:off x="653325" y="454275"/>
            <a:ext cx="7875449" cy="744149"/>
          </a:xfrm>
          <a:prstGeom prst="rect">
            <a:avLst/>
          </a:prstGeom>
          <a:noFill/>
          <a:ln>
            <a:noFill/>
          </a:ln>
        </p:spPr>
      </p:pic>
      <p:sp>
        <p:nvSpPr>
          <p:cNvPr id="227" name="Google Shape;227;p23"/>
          <p:cNvSpPr txBox="1"/>
          <p:nvPr>
            <p:ph type="title"/>
          </p:nvPr>
        </p:nvSpPr>
        <p:spPr>
          <a:xfrm>
            <a:off x="2270730" y="522820"/>
            <a:ext cx="4678045" cy="528319"/>
          </a:xfrm>
          <a:prstGeom prst="rect">
            <a:avLst/>
          </a:prstGeom>
          <a:noFill/>
          <a:ln>
            <a:noFill/>
          </a:ln>
        </p:spPr>
        <p:txBody>
          <a:bodyPr anchorCtr="0" anchor="t" bIns="0" lIns="0" spcFirstLastPara="1" rIns="0" wrap="square" tIns="12700">
            <a:spAutoFit/>
          </a:bodyPr>
          <a:lstStyle/>
          <a:p>
            <a:pPr indent="0" lvl="0" marL="1035050" rtl="0" algn="l">
              <a:lnSpc>
                <a:spcPct val="100000"/>
              </a:lnSpc>
              <a:spcBef>
                <a:spcPts val="0"/>
              </a:spcBef>
              <a:spcAft>
                <a:spcPts val="0"/>
              </a:spcAft>
              <a:buSzPts val="1400"/>
              <a:buNone/>
            </a:pPr>
            <a:r>
              <a:rPr lang="en-US"/>
              <a:t>OBJECTIVES</a:t>
            </a:r>
            <a:endParaRPr/>
          </a:p>
        </p:txBody>
      </p:sp>
      <p:grpSp>
        <p:nvGrpSpPr>
          <p:cNvPr id="228" name="Google Shape;228;p23"/>
          <p:cNvGrpSpPr/>
          <p:nvPr/>
        </p:nvGrpSpPr>
        <p:grpSpPr>
          <a:xfrm>
            <a:off x="856537" y="1152612"/>
            <a:ext cx="7430924" cy="3888899"/>
            <a:chOff x="856537" y="1152612"/>
            <a:chExt cx="7430924" cy="3888899"/>
          </a:xfrm>
        </p:grpSpPr>
        <p:pic>
          <p:nvPicPr>
            <p:cNvPr id="229" name="Google Shape;229;p23"/>
            <p:cNvPicPr preferRelativeResize="0"/>
            <p:nvPr/>
          </p:nvPicPr>
          <p:blipFill rotWithShape="1">
            <a:blip r:embed="rId4">
              <a:alphaModFix/>
            </a:blip>
            <a:srcRect b="0" l="0" r="0" t="0"/>
            <a:stretch/>
          </p:blipFill>
          <p:spPr>
            <a:xfrm>
              <a:off x="856537" y="1152612"/>
              <a:ext cx="7430924" cy="1202624"/>
            </a:xfrm>
            <a:prstGeom prst="rect">
              <a:avLst/>
            </a:prstGeom>
            <a:noFill/>
            <a:ln>
              <a:noFill/>
            </a:ln>
          </p:spPr>
        </p:pic>
        <p:sp>
          <p:nvSpPr>
            <p:cNvPr id="230" name="Google Shape;230;p23"/>
            <p:cNvSpPr/>
            <p:nvPr/>
          </p:nvSpPr>
          <p:spPr>
            <a:xfrm>
              <a:off x="1070850" y="1366924"/>
              <a:ext cx="7002780" cy="650240"/>
            </a:xfrm>
            <a:custGeom>
              <a:rect b="b" l="l" r="r" t="t"/>
              <a:pathLst>
                <a:path extrusionOk="0" h="650239" w="7002780">
                  <a:moveTo>
                    <a:pt x="6808799" y="650159"/>
                  </a:moveTo>
                  <a:lnTo>
                    <a:pt x="193498" y="650159"/>
                  </a:lnTo>
                  <a:lnTo>
                    <a:pt x="0" y="325079"/>
                  </a:lnTo>
                  <a:lnTo>
                    <a:pt x="193498" y="0"/>
                  </a:lnTo>
                  <a:lnTo>
                    <a:pt x="6808799" y="0"/>
                  </a:lnTo>
                  <a:lnTo>
                    <a:pt x="7002299" y="325079"/>
                  </a:lnTo>
                  <a:lnTo>
                    <a:pt x="6808799" y="650159"/>
                  </a:lnTo>
                  <a:close/>
                </a:path>
              </a:pathLst>
            </a:custGeom>
            <a:solidFill>
              <a:srgbClr val="1B1B2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31" name="Google Shape;231;p23"/>
            <p:cNvPicPr preferRelativeResize="0"/>
            <p:nvPr/>
          </p:nvPicPr>
          <p:blipFill rotWithShape="1">
            <a:blip r:embed="rId5">
              <a:alphaModFix/>
            </a:blip>
            <a:srcRect b="0" l="0" r="0" t="0"/>
            <a:stretch/>
          </p:blipFill>
          <p:spPr>
            <a:xfrm>
              <a:off x="856537" y="3026562"/>
              <a:ext cx="7430924" cy="1078424"/>
            </a:xfrm>
            <a:prstGeom prst="rect">
              <a:avLst/>
            </a:prstGeom>
            <a:noFill/>
            <a:ln>
              <a:noFill/>
            </a:ln>
          </p:spPr>
        </p:pic>
        <p:sp>
          <p:nvSpPr>
            <p:cNvPr id="232" name="Google Shape;232;p23"/>
            <p:cNvSpPr/>
            <p:nvPr/>
          </p:nvSpPr>
          <p:spPr>
            <a:xfrm>
              <a:off x="1070850" y="3240875"/>
              <a:ext cx="7002780" cy="559435"/>
            </a:xfrm>
            <a:custGeom>
              <a:rect b="b" l="l" r="r" t="t"/>
              <a:pathLst>
                <a:path extrusionOk="0" h="559435" w="7002780">
                  <a:moveTo>
                    <a:pt x="6839849" y="558826"/>
                  </a:moveTo>
                  <a:lnTo>
                    <a:pt x="162448" y="558826"/>
                  </a:lnTo>
                  <a:lnTo>
                    <a:pt x="0" y="279413"/>
                  </a:lnTo>
                  <a:lnTo>
                    <a:pt x="162448" y="0"/>
                  </a:lnTo>
                  <a:lnTo>
                    <a:pt x="6839849" y="0"/>
                  </a:lnTo>
                  <a:lnTo>
                    <a:pt x="7002299" y="279413"/>
                  </a:lnTo>
                  <a:lnTo>
                    <a:pt x="6839849" y="558826"/>
                  </a:lnTo>
                  <a:close/>
                </a:path>
              </a:pathLst>
            </a:custGeom>
            <a:solidFill>
              <a:srgbClr val="1B1B2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33" name="Google Shape;233;p23"/>
            <p:cNvPicPr preferRelativeResize="0"/>
            <p:nvPr/>
          </p:nvPicPr>
          <p:blipFill rotWithShape="1">
            <a:blip r:embed="rId6">
              <a:alphaModFix/>
            </a:blip>
            <a:srcRect b="0" l="0" r="0" t="0"/>
            <a:stretch/>
          </p:blipFill>
          <p:spPr>
            <a:xfrm>
              <a:off x="856537" y="2102487"/>
              <a:ext cx="7430924" cy="1176824"/>
            </a:xfrm>
            <a:prstGeom prst="rect">
              <a:avLst/>
            </a:prstGeom>
            <a:noFill/>
            <a:ln>
              <a:noFill/>
            </a:ln>
          </p:spPr>
        </p:pic>
        <p:sp>
          <p:nvSpPr>
            <p:cNvPr id="234" name="Google Shape;234;p23"/>
            <p:cNvSpPr/>
            <p:nvPr/>
          </p:nvSpPr>
          <p:spPr>
            <a:xfrm>
              <a:off x="1070850" y="2316799"/>
              <a:ext cx="7002780" cy="649605"/>
            </a:xfrm>
            <a:custGeom>
              <a:rect b="b" l="l" r="r" t="t"/>
              <a:pathLst>
                <a:path extrusionOk="0" h="649605" w="7002780">
                  <a:moveTo>
                    <a:pt x="6815249" y="649062"/>
                  </a:moveTo>
                  <a:lnTo>
                    <a:pt x="187048" y="649062"/>
                  </a:lnTo>
                  <a:lnTo>
                    <a:pt x="0" y="324530"/>
                  </a:lnTo>
                  <a:lnTo>
                    <a:pt x="187048" y="0"/>
                  </a:lnTo>
                  <a:lnTo>
                    <a:pt x="6815249" y="0"/>
                  </a:lnTo>
                  <a:lnTo>
                    <a:pt x="7002299" y="324530"/>
                  </a:lnTo>
                  <a:lnTo>
                    <a:pt x="6815249" y="649062"/>
                  </a:lnTo>
                  <a:close/>
                </a:path>
              </a:pathLst>
            </a:custGeom>
            <a:solidFill>
              <a:srgbClr val="1B1B2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35" name="Google Shape;235;p23"/>
            <p:cNvPicPr preferRelativeResize="0"/>
            <p:nvPr/>
          </p:nvPicPr>
          <p:blipFill rotWithShape="1">
            <a:blip r:embed="rId6">
              <a:alphaModFix/>
            </a:blip>
            <a:srcRect b="0" l="0" r="0" t="0"/>
            <a:stretch/>
          </p:blipFill>
          <p:spPr>
            <a:xfrm>
              <a:off x="856537" y="3864687"/>
              <a:ext cx="7430924" cy="1176824"/>
            </a:xfrm>
            <a:prstGeom prst="rect">
              <a:avLst/>
            </a:prstGeom>
            <a:noFill/>
            <a:ln>
              <a:noFill/>
            </a:ln>
          </p:spPr>
        </p:pic>
        <p:sp>
          <p:nvSpPr>
            <p:cNvPr id="236" name="Google Shape;236;p23"/>
            <p:cNvSpPr/>
            <p:nvPr/>
          </p:nvSpPr>
          <p:spPr>
            <a:xfrm>
              <a:off x="1070850" y="4079000"/>
              <a:ext cx="7002780" cy="748665"/>
            </a:xfrm>
            <a:custGeom>
              <a:rect b="b" l="l" r="r" t="t"/>
              <a:pathLst>
                <a:path extrusionOk="0" h="748664" w="7002780">
                  <a:moveTo>
                    <a:pt x="6815249" y="748198"/>
                  </a:moveTo>
                  <a:lnTo>
                    <a:pt x="187048" y="748198"/>
                  </a:lnTo>
                  <a:lnTo>
                    <a:pt x="0" y="374098"/>
                  </a:lnTo>
                  <a:lnTo>
                    <a:pt x="187048" y="0"/>
                  </a:lnTo>
                  <a:lnTo>
                    <a:pt x="6815249" y="0"/>
                  </a:lnTo>
                  <a:lnTo>
                    <a:pt x="7002299" y="374098"/>
                  </a:lnTo>
                  <a:lnTo>
                    <a:pt x="6815249" y="748198"/>
                  </a:lnTo>
                  <a:close/>
                </a:path>
              </a:pathLst>
            </a:custGeom>
            <a:solidFill>
              <a:srgbClr val="1B1B2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37" name="Google Shape;237;p23"/>
          <p:cNvSpPr txBox="1"/>
          <p:nvPr/>
        </p:nvSpPr>
        <p:spPr>
          <a:xfrm>
            <a:off x="1486526" y="1422551"/>
            <a:ext cx="6068060" cy="1406525"/>
          </a:xfrm>
          <a:prstGeom prst="rect">
            <a:avLst/>
          </a:prstGeom>
          <a:noFill/>
          <a:ln>
            <a:noFill/>
          </a:ln>
        </p:spPr>
        <p:txBody>
          <a:bodyPr anchorCtr="0" anchor="t" bIns="0" lIns="0" spcFirstLastPara="1" rIns="0" wrap="square" tIns="12700">
            <a:spAutoFit/>
          </a:bodyPr>
          <a:lstStyle/>
          <a:p>
            <a:pPr indent="-355600" lvl="0" marL="367665" marR="75565" rtl="0" algn="l">
              <a:lnSpc>
                <a:spcPct val="100000"/>
              </a:lnSpc>
              <a:spcBef>
                <a:spcPts val="0"/>
              </a:spcBef>
              <a:spcAft>
                <a:spcPts val="0"/>
              </a:spcAft>
              <a:buClr>
                <a:srgbClr val="FFFFFF"/>
              </a:buClr>
              <a:buSzPts val="1400"/>
              <a:buFont typeface="Arial"/>
              <a:buChar char="●"/>
            </a:pPr>
            <a:r>
              <a:rPr b="1" i="0" lang="en-US" sz="1400" u="none" cap="none" strike="noStrike">
                <a:solidFill>
                  <a:srgbClr val="FFFFFF"/>
                </a:solidFill>
                <a:latin typeface="Cambria"/>
                <a:ea typeface="Cambria"/>
                <a:cs typeface="Cambria"/>
                <a:sym typeface="Cambria"/>
              </a:rPr>
              <a:t>To develop a gesture-based virtual drawing platform that detects and interprets hand gestures in real time for touchless interaction</a:t>
            </a:r>
            <a:endParaRPr b="0" i="0" sz="1400" u="none" cap="none" strike="noStrike">
              <a:solidFill>
                <a:srgbClr val="000000"/>
              </a:solidFill>
              <a:latin typeface="Cambria"/>
              <a:ea typeface="Cambria"/>
              <a:cs typeface="Cambria"/>
              <a:sym typeface="Cambria"/>
            </a:endParaRPr>
          </a:p>
          <a:p>
            <a:pPr indent="0" lvl="0" marL="0" marR="0" rtl="0" algn="l">
              <a:lnSpc>
                <a:spcPct val="100000"/>
              </a:lnSpc>
              <a:spcBef>
                <a:spcPts val="0"/>
              </a:spcBef>
              <a:spcAft>
                <a:spcPts val="0"/>
              </a:spcAft>
              <a:buClr>
                <a:srgbClr val="FFFFFF"/>
              </a:buClr>
              <a:buSzPts val="1400"/>
              <a:buFont typeface="Arial"/>
              <a:buNone/>
            </a:pPr>
            <a:r>
              <a:t/>
            </a:r>
            <a:endParaRPr b="0" i="0" sz="1400" u="none" cap="none" strike="noStrike">
              <a:solidFill>
                <a:srgbClr val="000000"/>
              </a:solidFill>
              <a:latin typeface="Cambria"/>
              <a:ea typeface="Cambria"/>
              <a:cs typeface="Cambria"/>
              <a:sym typeface="Cambria"/>
            </a:endParaRPr>
          </a:p>
          <a:p>
            <a:pPr indent="0" lvl="0" marL="0" marR="0" rtl="0" algn="l">
              <a:lnSpc>
                <a:spcPct val="100000"/>
              </a:lnSpc>
              <a:spcBef>
                <a:spcPts val="869"/>
              </a:spcBef>
              <a:spcAft>
                <a:spcPts val="0"/>
              </a:spcAft>
              <a:buClr>
                <a:srgbClr val="FFFFFF"/>
              </a:buClr>
              <a:buSzPts val="1400"/>
              <a:buFont typeface="Arial"/>
              <a:buNone/>
            </a:pPr>
            <a:r>
              <a:t/>
            </a:r>
            <a:endParaRPr b="0" i="0" sz="1400" u="none" cap="none" strike="noStrike">
              <a:solidFill>
                <a:srgbClr val="000000"/>
              </a:solidFill>
              <a:latin typeface="Cambria"/>
              <a:ea typeface="Cambria"/>
              <a:cs typeface="Cambria"/>
              <a:sym typeface="Cambria"/>
            </a:endParaRPr>
          </a:p>
          <a:p>
            <a:pPr indent="-355600" lvl="0" marL="367665" marR="5080" rtl="0" algn="l">
              <a:lnSpc>
                <a:spcPct val="100000"/>
              </a:lnSpc>
              <a:spcBef>
                <a:spcPts val="0"/>
              </a:spcBef>
              <a:spcAft>
                <a:spcPts val="0"/>
              </a:spcAft>
              <a:buClr>
                <a:srgbClr val="FFFFFF"/>
              </a:buClr>
              <a:buSzPts val="1400"/>
              <a:buFont typeface="Arial"/>
              <a:buChar char="●"/>
            </a:pPr>
            <a:r>
              <a:rPr b="1" i="0" lang="en-US" sz="1400" u="none" cap="none" strike="noStrike">
                <a:solidFill>
                  <a:srgbClr val="FFFFFF"/>
                </a:solidFill>
                <a:latin typeface="Cambria"/>
                <a:ea typeface="Cambria"/>
                <a:cs typeface="Cambria"/>
                <a:sym typeface="Cambria"/>
              </a:rPr>
              <a:t>To enhance accessibility by enabling users with physical limitations to interact without traditional input devices</a:t>
            </a:r>
            <a:endParaRPr b="0" i="0" sz="1400" u="none" cap="none" strike="noStrike">
              <a:solidFill>
                <a:srgbClr val="000000"/>
              </a:solidFill>
              <a:latin typeface="Cambria"/>
              <a:ea typeface="Cambria"/>
              <a:cs typeface="Cambria"/>
              <a:sym typeface="Cambria"/>
            </a:endParaRPr>
          </a:p>
        </p:txBody>
      </p:sp>
      <p:sp>
        <p:nvSpPr>
          <p:cNvPr id="238" name="Google Shape;238;p23"/>
          <p:cNvSpPr txBox="1"/>
          <p:nvPr/>
        </p:nvSpPr>
        <p:spPr>
          <a:xfrm>
            <a:off x="1486526" y="3326153"/>
            <a:ext cx="6052185" cy="1493520"/>
          </a:xfrm>
          <a:prstGeom prst="rect">
            <a:avLst/>
          </a:prstGeom>
          <a:noFill/>
          <a:ln>
            <a:noFill/>
          </a:ln>
        </p:spPr>
        <p:txBody>
          <a:bodyPr anchorCtr="0" anchor="t" bIns="0" lIns="0" spcFirstLastPara="1" rIns="0" wrap="square" tIns="12700">
            <a:spAutoFit/>
          </a:bodyPr>
          <a:lstStyle/>
          <a:p>
            <a:pPr indent="-345440" lvl="0" marL="367665" marR="5080" rtl="0" algn="l">
              <a:lnSpc>
                <a:spcPct val="100000"/>
              </a:lnSpc>
              <a:spcBef>
                <a:spcPts val="0"/>
              </a:spcBef>
              <a:spcAft>
                <a:spcPts val="0"/>
              </a:spcAft>
              <a:buClr>
                <a:srgbClr val="FFFFFF"/>
              </a:buClr>
              <a:buSzPts val="1300"/>
              <a:buFont typeface="Arial"/>
              <a:buChar char="●"/>
            </a:pPr>
            <a:r>
              <a:rPr b="1" i="0" lang="en-US" sz="1300" u="none" cap="none" strike="noStrike">
                <a:solidFill>
                  <a:srgbClr val="FFFFFF"/>
                </a:solidFill>
                <a:latin typeface="Cambria"/>
                <a:ea typeface="Cambria"/>
                <a:cs typeface="Cambria"/>
                <a:sym typeface="Cambria"/>
              </a:rPr>
              <a:t>To demonstrate the practical use of AI-driven human–computer interaction systems</a:t>
            </a:r>
            <a:endParaRPr b="0" i="0" sz="1300" u="none" cap="none" strike="noStrike">
              <a:solidFill>
                <a:srgbClr val="000000"/>
              </a:solidFill>
              <a:latin typeface="Cambria"/>
              <a:ea typeface="Cambria"/>
              <a:cs typeface="Cambria"/>
              <a:sym typeface="Cambria"/>
            </a:endParaRPr>
          </a:p>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Cambria"/>
              <a:ea typeface="Cambria"/>
              <a:cs typeface="Cambria"/>
              <a:sym typeface="Cambria"/>
            </a:endParaRPr>
          </a:p>
          <a:p>
            <a:pPr indent="0" lvl="0" marL="0" marR="0" rtl="0" algn="l">
              <a:lnSpc>
                <a:spcPct val="100000"/>
              </a:lnSpc>
              <a:spcBef>
                <a:spcPts val="345"/>
              </a:spcBef>
              <a:spcAft>
                <a:spcPts val="0"/>
              </a:spcAft>
              <a:buClr>
                <a:srgbClr val="000000"/>
              </a:buClr>
              <a:buSzPts val="1300"/>
              <a:buFont typeface="Arial"/>
              <a:buNone/>
            </a:pPr>
            <a:r>
              <a:t/>
            </a:r>
            <a:endParaRPr b="0" i="0" sz="1300" u="none" cap="none" strike="noStrike">
              <a:solidFill>
                <a:srgbClr val="000000"/>
              </a:solidFill>
              <a:latin typeface="Cambria"/>
              <a:ea typeface="Cambria"/>
              <a:cs typeface="Cambria"/>
              <a:sym typeface="Cambria"/>
            </a:endParaRPr>
          </a:p>
          <a:p>
            <a:pPr indent="-355600" lvl="0" marL="367665" marR="717550" rtl="0" algn="l">
              <a:lnSpc>
                <a:spcPct val="100000"/>
              </a:lnSpc>
              <a:spcBef>
                <a:spcPts val="0"/>
              </a:spcBef>
              <a:spcAft>
                <a:spcPts val="0"/>
              </a:spcAft>
              <a:buClr>
                <a:srgbClr val="FFFFFF"/>
              </a:buClr>
              <a:buSzPts val="1400"/>
              <a:buFont typeface="Arial"/>
              <a:buChar char="●"/>
            </a:pPr>
            <a:r>
              <a:rPr b="1" i="0" lang="en-US" sz="1400" u="none" cap="none" strike="noStrike">
                <a:solidFill>
                  <a:srgbClr val="FFFFFF"/>
                </a:solidFill>
                <a:latin typeface="Cambria"/>
                <a:ea typeface="Cambria"/>
                <a:cs typeface="Cambria"/>
                <a:sym typeface="Cambria"/>
              </a:rPr>
              <a:t>To provide an interactive and user-friendly interface with features such as drawing, color selection, erasing, and canvas clearing</a:t>
            </a:r>
            <a:endParaRPr b="0" i="0" sz="1400" u="none" cap="none" strike="noStrike">
              <a:solidFill>
                <a:srgbClr val="000000"/>
              </a:solidFill>
              <a:latin typeface="Cambria"/>
              <a:ea typeface="Cambria"/>
              <a:cs typeface="Cambria"/>
              <a:sym typeface="Cambria"/>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24"/>
          <p:cNvSpPr txBox="1"/>
          <p:nvPr>
            <p:ph type="title"/>
          </p:nvPr>
        </p:nvSpPr>
        <p:spPr>
          <a:xfrm>
            <a:off x="1479318" y="177466"/>
            <a:ext cx="6179185" cy="3759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sz="2300"/>
              <a:t>Process Implementation and Methodology</a:t>
            </a:r>
            <a:endParaRPr sz="2300"/>
          </a:p>
        </p:txBody>
      </p:sp>
      <p:pic>
        <p:nvPicPr>
          <p:cNvPr id="244" name="Google Shape;244;p24"/>
          <p:cNvPicPr preferRelativeResize="0"/>
          <p:nvPr/>
        </p:nvPicPr>
        <p:blipFill rotWithShape="1">
          <a:blip r:embed="rId3">
            <a:alphaModFix/>
          </a:blip>
          <a:srcRect b="0" l="0" r="0" t="0"/>
          <a:stretch/>
        </p:blipFill>
        <p:spPr>
          <a:xfrm>
            <a:off x="3339200" y="553350"/>
            <a:ext cx="2360201" cy="4315827"/>
          </a:xfrm>
          <a:prstGeom prst="rect">
            <a:avLst/>
          </a:prstGeom>
          <a:noFill/>
          <a:ln>
            <a:noFill/>
          </a:ln>
        </p:spPr>
      </p:pic>
      <p:sp>
        <p:nvSpPr>
          <p:cNvPr id="245" name="Google Shape;245;p24"/>
          <p:cNvSpPr txBox="1"/>
          <p:nvPr/>
        </p:nvSpPr>
        <p:spPr>
          <a:xfrm>
            <a:off x="3722899" y="4785206"/>
            <a:ext cx="56433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Times New Roman"/>
                <a:ea typeface="Times New Roman"/>
                <a:cs typeface="Times New Roman"/>
                <a:sym typeface="Times New Roman"/>
              </a:rPr>
              <a:t>Fig: Process Of Implementaion</a:t>
            </a:r>
            <a:endParaRPr b="0" i="0" sz="1000" u="none" cap="none" strike="noStrike">
              <a:solidFill>
                <a:schemeClr val="lt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pic>
        <p:nvPicPr>
          <p:cNvPr id="250" name="Google Shape;250;p25"/>
          <p:cNvPicPr preferRelativeResize="0"/>
          <p:nvPr/>
        </p:nvPicPr>
        <p:blipFill rotWithShape="1">
          <a:blip r:embed="rId3">
            <a:alphaModFix/>
          </a:blip>
          <a:srcRect b="0" l="0" r="0" t="0"/>
          <a:stretch/>
        </p:blipFill>
        <p:spPr>
          <a:xfrm>
            <a:off x="653325" y="454275"/>
            <a:ext cx="7875449" cy="744149"/>
          </a:xfrm>
          <a:prstGeom prst="rect">
            <a:avLst/>
          </a:prstGeom>
          <a:noFill/>
          <a:ln>
            <a:noFill/>
          </a:ln>
        </p:spPr>
      </p:pic>
      <p:sp>
        <p:nvSpPr>
          <p:cNvPr id="251" name="Google Shape;251;p25"/>
          <p:cNvSpPr txBox="1"/>
          <p:nvPr>
            <p:ph type="title"/>
          </p:nvPr>
        </p:nvSpPr>
        <p:spPr>
          <a:xfrm>
            <a:off x="2270730" y="522820"/>
            <a:ext cx="4678045" cy="528319"/>
          </a:xfrm>
          <a:prstGeom prst="rect">
            <a:avLst/>
          </a:prstGeom>
          <a:noFill/>
          <a:ln>
            <a:noFill/>
          </a:ln>
        </p:spPr>
        <p:txBody>
          <a:bodyPr anchorCtr="0" anchor="t" bIns="0" lIns="0" spcFirstLastPara="1" rIns="0" wrap="square" tIns="12700">
            <a:spAutoFit/>
          </a:bodyPr>
          <a:lstStyle/>
          <a:p>
            <a:pPr indent="0" lvl="0" marL="678180" rtl="0" algn="l">
              <a:lnSpc>
                <a:spcPct val="100000"/>
              </a:lnSpc>
              <a:spcBef>
                <a:spcPts val="0"/>
              </a:spcBef>
              <a:spcAft>
                <a:spcPts val="0"/>
              </a:spcAft>
              <a:buSzPts val="1400"/>
              <a:buNone/>
            </a:pPr>
            <a:r>
              <a:rPr lang="en-US"/>
              <a:t>METHODOLOGY</a:t>
            </a:r>
            <a:endParaRPr/>
          </a:p>
        </p:txBody>
      </p:sp>
      <p:sp>
        <p:nvSpPr>
          <p:cNvPr id="252" name="Google Shape;252;p25"/>
          <p:cNvSpPr txBox="1"/>
          <p:nvPr/>
        </p:nvSpPr>
        <p:spPr>
          <a:xfrm>
            <a:off x="214823" y="1648305"/>
            <a:ext cx="8580900" cy="10788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000"/>
              <a:buFont typeface="Arial"/>
              <a:buNone/>
            </a:pPr>
            <a:r>
              <a:rPr b="0" i="0" lang="en-US" sz="2000" u="none" cap="none" strike="noStrike">
                <a:solidFill>
                  <a:srgbClr val="FFFFFF"/>
                </a:solidFill>
                <a:latin typeface="SimSun-ExtB"/>
                <a:ea typeface="SimSun-ExtB"/>
                <a:cs typeface="SimSun-ExtB"/>
                <a:sym typeface="SimSun-ExtB"/>
              </a:rPr>
              <a:t>❏	</a:t>
            </a:r>
            <a:r>
              <a:rPr b="1" i="0" lang="en-US" sz="2000" u="none" cap="none" strike="noStrike">
                <a:solidFill>
                  <a:srgbClr val="FFFFFF"/>
                </a:solidFill>
                <a:latin typeface="SimSun-ExtB"/>
                <a:ea typeface="SimSun-ExtB"/>
                <a:cs typeface="SimSun-ExtB"/>
                <a:sym typeface="SimSun-ExtB"/>
              </a:rPr>
              <a:t>Live </a:t>
            </a:r>
            <a:r>
              <a:rPr b="1" i="0" lang="en-US" sz="2000" u="none" cap="none" strike="noStrike">
                <a:solidFill>
                  <a:srgbClr val="FFFFFF"/>
                </a:solidFill>
                <a:latin typeface="Cambria"/>
                <a:ea typeface="Cambria"/>
                <a:cs typeface="Cambria"/>
                <a:sym typeface="Cambria"/>
              </a:rPr>
              <a:t>Video Input and Data Capture:</a:t>
            </a:r>
            <a:endParaRPr b="0" i="0" sz="2000" u="none" cap="none" strike="noStrike">
              <a:solidFill>
                <a:srgbClr val="000000"/>
              </a:solidFill>
              <a:latin typeface="Cambria"/>
              <a:ea typeface="Cambria"/>
              <a:cs typeface="Cambria"/>
              <a:sym typeface="Cambria"/>
            </a:endParaRPr>
          </a:p>
          <a:p>
            <a:pPr indent="0" lvl="0" marL="494665" marR="5080" rtl="0" algn="l">
              <a:lnSpc>
                <a:spcPct val="100000"/>
              </a:lnSpc>
              <a:spcBef>
                <a:spcPts val="1230"/>
              </a:spcBef>
              <a:spcAft>
                <a:spcPts val="0"/>
              </a:spcAft>
              <a:buClr>
                <a:srgbClr val="000000"/>
              </a:buClr>
              <a:buSzPts val="1300"/>
              <a:buFont typeface="Arial"/>
              <a:buNone/>
            </a:pPr>
            <a:r>
              <a:rPr b="1" i="0" lang="en-US" sz="1300" u="none" cap="none" strike="noStrike">
                <a:solidFill>
                  <a:srgbClr val="FFFFFF"/>
                </a:solidFill>
                <a:latin typeface="Cambria"/>
                <a:ea typeface="Cambria"/>
                <a:cs typeface="Cambria"/>
                <a:sym typeface="Cambria"/>
              </a:rPr>
              <a:t>The system begins by capturing real-time video input through the user’s webcam. The continuous video stream is divided into frames. Each frame is analyzed using computer vision techniques to detect the presence of a hand and extract relevant visual information.</a:t>
            </a:r>
            <a:endParaRPr b="0" i="0" sz="1300" u="none" cap="none" strike="noStrike">
              <a:solidFill>
                <a:srgbClr val="000000"/>
              </a:solidFill>
              <a:latin typeface="Cambria"/>
              <a:ea typeface="Cambria"/>
              <a:cs typeface="Cambria"/>
              <a:sym typeface="Cambria"/>
            </a:endParaRPr>
          </a:p>
        </p:txBody>
      </p:sp>
      <p:sp>
        <p:nvSpPr>
          <p:cNvPr id="253" name="Google Shape;253;p25"/>
          <p:cNvSpPr txBox="1"/>
          <p:nvPr/>
        </p:nvSpPr>
        <p:spPr>
          <a:xfrm>
            <a:off x="202124" y="3327879"/>
            <a:ext cx="279400" cy="3302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000"/>
              <a:buFont typeface="Arial"/>
              <a:buNone/>
            </a:pPr>
            <a:r>
              <a:rPr b="0" i="0" lang="en-US" sz="2000" u="none" cap="none" strike="noStrike">
                <a:solidFill>
                  <a:srgbClr val="FFFFFF"/>
                </a:solidFill>
                <a:latin typeface="SimSun-ExtB"/>
                <a:ea typeface="SimSun-ExtB"/>
                <a:cs typeface="SimSun-ExtB"/>
                <a:sym typeface="SimSun-ExtB"/>
              </a:rPr>
              <a:t>❏</a:t>
            </a:r>
            <a:endParaRPr b="0" i="0" sz="2000" u="none" cap="none" strike="noStrike">
              <a:solidFill>
                <a:srgbClr val="000000"/>
              </a:solidFill>
              <a:latin typeface="SimSun-ExtB"/>
              <a:ea typeface="SimSun-ExtB"/>
              <a:cs typeface="SimSun-ExtB"/>
              <a:sym typeface="SimSun-ExtB"/>
            </a:endParaRPr>
          </a:p>
        </p:txBody>
      </p:sp>
      <p:sp>
        <p:nvSpPr>
          <p:cNvPr id="254" name="Google Shape;254;p25"/>
          <p:cNvSpPr txBox="1"/>
          <p:nvPr/>
        </p:nvSpPr>
        <p:spPr>
          <a:xfrm>
            <a:off x="696789" y="3327879"/>
            <a:ext cx="7989600" cy="1078800"/>
          </a:xfrm>
          <a:prstGeom prst="rect">
            <a:avLst/>
          </a:prstGeom>
          <a:noFill/>
          <a:ln>
            <a:noFill/>
          </a:ln>
        </p:spPr>
        <p:txBody>
          <a:bodyPr anchorCtr="0" anchor="t" bIns="0" lIns="0" spcFirstLastPara="1" rIns="0" wrap="square" tIns="12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FFFFFF"/>
                </a:solidFill>
                <a:latin typeface="Cambria"/>
                <a:ea typeface="Cambria"/>
                <a:cs typeface="Cambria"/>
                <a:sym typeface="Cambria"/>
              </a:rPr>
              <a:t>Hand Detection and Gesture Recognition</a:t>
            </a:r>
            <a:endParaRPr b="0" i="0" sz="2000" u="none" cap="none" strike="noStrike">
              <a:solidFill>
                <a:srgbClr val="000000"/>
              </a:solidFill>
              <a:latin typeface="Cambria"/>
              <a:ea typeface="Cambria"/>
              <a:cs typeface="Cambria"/>
              <a:sym typeface="Cambria"/>
            </a:endParaRPr>
          </a:p>
          <a:p>
            <a:pPr indent="0" lvl="0" marL="12700" marR="5080" rtl="0" algn="l">
              <a:lnSpc>
                <a:spcPct val="100000"/>
              </a:lnSpc>
              <a:spcBef>
                <a:spcPts val="1230"/>
              </a:spcBef>
              <a:spcAft>
                <a:spcPts val="0"/>
              </a:spcAft>
              <a:buClr>
                <a:srgbClr val="000000"/>
              </a:buClr>
              <a:buSzPts val="1300"/>
              <a:buFont typeface="Arial"/>
              <a:buNone/>
            </a:pPr>
            <a:r>
              <a:rPr b="1" i="0" lang="en-US" sz="1300" u="none" cap="none" strike="noStrike">
                <a:solidFill>
                  <a:srgbClr val="FFFFFF"/>
                </a:solidFill>
                <a:latin typeface="Cambria"/>
                <a:ea typeface="Cambria"/>
                <a:cs typeface="Cambria"/>
                <a:sym typeface="Cambria"/>
              </a:rPr>
              <a:t>Once the hand is detected, frameworks like MediaPipe are used to identify key hand landmarks such as fingertips and joints. Based on the position and movement of these landmarks, the system recognizes specific gestures by interpreting finger configurations as commands for different actions.</a:t>
            </a:r>
            <a:endParaRPr b="0" i="0" sz="1300" u="none" cap="none" strike="noStrike">
              <a:solidFill>
                <a:srgbClr val="000000"/>
              </a:solidFill>
              <a:latin typeface="Cambria"/>
              <a:ea typeface="Cambria"/>
              <a:cs typeface="Cambria"/>
              <a:sym typeface="Cambria"/>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26"/>
          <p:cNvSpPr txBox="1"/>
          <p:nvPr>
            <p:ph type="title"/>
          </p:nvPr>
        </p:nvSpPr>
        <p:spPr>
          <a:xfrm>
            <a:off x="246874" y="882725"/>
            <a:ext cx="4780915" cy="3302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sz="2000">
                <a:latin typeface="SimSun-ExtB"/>
                <a:ea typeface="SimSun-ExtB"/>
                <a:cs typeface="SimSun-ExtB"/>
                <a:sym typeface="SimSun-ExtB"/>
              </a:rPr>
              <a:t>❏	</a:t>
            </a:r>
            <a:r>
              <a:rPr b="1" lang="en-US" sz="2000">
                <a:latin typeface="Cambria"/>
                <a:ea typeface="Cambria"/>
                <a:cs typeface="Cambria"/>
                <a:sym typeface="Cambria"/>
              </a:rPr>
              <a:t>Drawing and System Implementation</a:t>
            </a:r>
            <a:endParaRPr sz="2000">
              <a:latin typeface="Cambria"/>
              <a:ea typeface="Cambria"/>
              <a:cs typeface="Cambria"/>
              <a:sym typeface="Cambria"/>
            </a:endParaRPr>
          </a:p>
        </p:txBody>
      </p:sp>
      <p:sp>
        <p:nvSpPr>
          <p:cNvPr id="260" name="Google Shape;260;p26"/>
          <p:cNvSpPr txBox="1"/>
          <p:nvPr/>
        </p:nvSpPr>
        <p:spPr>
          <a:xfrm>
            <a:off x="246874" y="1343988"/>
            <a:ext cx="8117100" cy="2777100"/>
          </a:xfrm>
          <a:prstGeom prst="rect">
            <a:avLst/>
          </a:prstGeom>
          <a:noFill/>
          <a:ln>
            <a:noFill/>
          </a:ln>
        </p:spPr>
        <p:txBody>
          <a:bodyPr anchorCtr="0" anchor="t" bIns="0" lIns="0" spcFirstLastPara="1" rIns="0" wrap="square" tIns="12700">
            <a:spAutoFit/>
          </a:bodyPr>
          <a:lstStyle/>
          <a:p>
            <a:pPr indent="0" lvl="0" marL="494665" marR="5080" rtl="0" algn="l">
              <a:lnSpc>
                <a:spcPct val="100000"/>
              </a:lnSpc>
              <a:spcBef>
                <a:spcPts val="0"/>
              </a:spcBef>
              <a:spcAft>
                <a:spcPts val="0"/>
              </a:spcAft>
              <a:buClr>
                <a:srgbClr val="000000"/>
              </a:buClr>
              <a:buSzPts val="1300"/>
              <a:buFont typeface="Arial"/>
              <a:buNone/>
            </a:pPr>
            <a:r>
              <a:rPr b="1" i="0" lang="en-US" sz="1300" u="none" cap="none" strike="noStrike">
                <a:solidFill>
                  <a:srgbClr val="FFFFFF"/>
                </a:solidFill>
                <a:latin typeface="Cambria"/>
                <a:ea typeface="Cambria"/>
                <a:cs typeface="Cambria"/>
                <a:sym typeface="Cambria"/>
              </a:rPr>
              <a:t>The detected fingertip coordinates are mapped onto the digital canvas to generate drawing strokes in real time. The system also provides a user interface for tool interaction such as color selection, brush size adjustment, and erasing through gestures.</a:t>
            </a:r>
            <a:endParaRPr b="0" i="0" sz="1300" u="none" cap="none" strike="noStrike">
              <a:solidFill>
                <a:srgbClr val="000000"/>
              </a:solidFill>
              <a:latin typeface="Cambria"/>
              <a:ea typeface="Cambria"/>
              <a:cs typeface="Cambria"/>
              <a:sym typeface="Cambria"/>
            </a:endParaRPr>
          </a:p>
          <a:p>
            <a:pPr indent="0" lvl="0" marL="0" marR="0" rtl="0" algn="l">
              <a:lnSpc>
                <a:spcPct val="100000"/>
              </a:lnSpc>
              <a:spcBef>
                <a:spcPts val="50"/>
              </a:spcBef>
              <a:spcAft>
                <a:spcPts val="0"/>
              </a:spcAft>
              <a:buClr>
                <a:srgbClr val="000000"/>
              </a:buClr>
              <a:buSzPts val="1600"/>
              <a:buFont typeface="Arial"/>
              <a:buNone/>
            </a:pPr>
            <a:r>
              <a:t/>
            </a:r>
            <a:endParaRPr b="0" i="0" sz="1600" u="none" cap="none" strike="noStrike">
              <a:solidFill>
                <a:srgbClr val="000000"/>
              </a:solidFill>
              <a:latin typeface="Cambria"/>
              <a:ea typeface="Cambria"/>
              <a:cs typeface="Cambria"/>
              <a:sym typeface="Cambria"/>
            </a:endParaRPr>
          </a:p>
          <a:p>
            <a:pPr indent="0" lvl="0" marL="12700" marR="0" rtl="0" algn="l">
              <a:lnSpc>
                <a:spcPct val="100000"/>
              </a:lnSpc>
              <a:spcBef>
                <a:spcPts val="0"/>
              </a:spcBef>
              <a:spcAft>
                <a:spcPts val="0"/>
              </a:spcAft>
              <a:buClr>
                <a:srgbClr val="000000"/>
              </a:buClr>
              <a:buSzPts val="2000"/>
              <a:buFont typeface="Arial"/>
              <a:buNone/>
            </a:pPr>
            <a:r>
              <a:rPr b="0" i="0" lang="en-US" sz="2000" u="none" cap="none" strike="noStrike">
                <a:solidFill>
                  <a:srgbClr val="FFFFFF"/>
                </a:solidFill>
                <a:latin typeface="SimSun-ExtB"/>
                <a:ea typeface="SimSun-ExtB"/>
                <a:cs typeface="SimSun-ExtB"/>
                <a:sym typeface="SimSun-ExtB"/>
              </a:rPr>
              <a:t>❏	</a:t>
            </a:r>
            <a:r>
              <a:rPr b="1" i="0" lang="en-US" sz="2000" u="none" cap="none" strike="noStrike">
                <a:solidFill>
                  <a:srgbClr val="FFFFFF"/>
                </a:solidFill>
                <a:latin typeface="Cambria"/>
                <a:ea typeface="Cambria"/>
                <a:cs typeface="Cambria"/>
                <a:sym typeface="Cambria"/>
              </a:rPr>
              <a:t>Technical Stack:</a:t>
            </a:r>
            <a:endParaRPr b="0" i="0" sz="2000" u="none" cap="none" strike="noStrike">
              <a:solidFill>
                <a:srgbClr val="000000"/>
              </a:solidFill>
              <a:latin typeface="Cambria"/>
              <a:ea typeface="Cambria"/>
              <a:cs typeface="Cambria"/>
              <a:sym typeface="Cambria"/>
            </a:endParaRPr>
          </a:p>
          <a:p>
            <a:pPr indent="-513715" lvl="0" marL="951230" marR="0" rtl="0" algn="l">
              <a:lnSpc>
                <a:spcPct val="100000"/>
              </a:lnSpc>
              <a:spcBef>
                <a:spcPts val="20"/>
              </a:spcBef>
              <a:spcAft>
                <a:spcPts val="0"/>
              </a:spcAft>
              <a:buClr>
                <a:srgbClr val="FFFFFF"/>
              </a:buClr>
              <a:buSzPts val="1300"/>
              <a:buFont typeface="Arial"/>
              <a:buChar char="❖"/>
            </a:pPr>
            <a:r>
              <a:rPr b="1" i="0" lang="en-US" sz="1300" u="none" cap="none" strike="noStrike">
                <a:solidFill>
                  <a:srgbClr val="FFFFFF"/>
                </a:solidFill>
                <a:latin typeface="Cambria"/>
                <a:ea typeface="Cambria"/>
                <a:cs typeface="Cambria"/>
                <a:sym typeface="Cambria"/>
              </a:rPr>
              <a:t>Frontend: React + Typescript</a:t>
            </a:r>
            <a:endParaRPr b="0" i="0" sz="1300" u="none" cap="none" strike="noStrike">
              <a:solidFill>
                <a:srgbClr val="000000"/>
              </a:solidFill>
              <a:latin typeface="Cambria"/>
              <a:ea typeface="Cambria"/>
              <a:cs typeface="Cambria"/>
              <a:sym typeface="Cambria"/>
            </a:endParaRPr>
          </a:p>
          <a:p>
            <a:pPr indent="-513715" lvl="0" marL="951230" marR="0" rtl="0" algn="l">
              <a:lnSpc>
                <a:spcPct val="100000"/>
              </a:lnSpc>
              <a:spcBef>
                <a:spcPts val="0"/>
              </a:spcBef>
              <a:spcAft>
                <a:spcPts val="0"/>
              </a:spcAft>
              <a:buClr>
                <a:srgbClr val="FFFFFF"/>
              </a:buClr>
              <a:buSzPts val="1300"/>
              <a:buFont typeface="Arial"/>
              <a:buChar char="❖"/>
            </a:pPr>
            <a:r>
              <a:rPr b="1" i="0" lang="en-US" sz="1300" u="none" cap="none" strike="noStrike">
                <a:solidFill>
                  <a:srgbClr val="FFFFFF"/>
                </a:solidFill>
                <a:latin typeface="Cambria"/>
                <a:ea typeface="Cambria"/>
                <a:cs typeface="Cambria"/>
                <a:sym typeface="Cambria"/>
              </a:rPr>
              <a:t>Computer Vision: MediaPipe</a:t>
            </a:r>
            <a:endParaRPr b="0" i="0" sz="1300" u="none" cap="none" strike="noStrike">
              <a:solidFill>
                <a:srgbClr val="000000"/>
              </a:solidFill>
              <a:latin typeface="Cambria"/>
              <a:ea typeface="Cambria"/>
              <a:cs typeface="Cambria"/>
              <a:sym typeface="Cambria"/>
            </a:endParaRPr>
          </a:p>
          <a:p>
            <a:pPr indent="-513715" lvl="0" marL="951230" marR="0" rtl="0" algn="l">
              <a:lnSpc>
                <a:spcPct val="100000"/>
              </a:lnSpc>
              <a:spcBef>
                <a:spcPts val="0"/>
              </a:spcBef>
              <a:spcAft>
                <a:spcPts val="0"/>
              </a:spcAft>
              <a:buClr>
                <a:srgbClr val="FFFFFF"/>
              </a:buClr>
              <a:buSzPts val="1300"/>
              <a:buFont typeface="Arial"/>
              <a:buChar char="❖"/>
            </a:pPr>
            <a:r>
              <a:rPr b="1" i="0" lang="en-US" sz="1300" u="none" cap="none" strike="noStrike">
                <a:solidFill>
                  <a:srgbClr val="FFFFFF"/>
                </a:solidFill>
                <a:latin typeface="Cambria"/>
                <a:ea typeface="Cambria"/>
                <a:cs typeface="Cambria"/>
                <a:sym typeface="Cambria"/>
              </a:rPr>
              <a:t>AI Processing: TensorFlow.js</a:t>
            </a:r>
            <a:endParaRPr b="0" i="0" sz="1300" u="none" cap="none" strike="noStrike">
              <a:solidFill>
                <a:srgbClr val="000000"/>
              </a:solidFill>
              <a:latin typeface="Cambria"/>
              <a:ea typeface="Cambria"/>
              <a:cs typeface="Cambria"/>
              <a:sym typeface="Cambria"/>
            </a:endParaRPr>
          </a:p>
          <a:p>
            <a:pPr indent="-513715" lvl="0" marL="951230" marR="0" rtl="0" algn="l">
              <a:lnSpc>
                <a:spcPct val="100000"/>
              </a:lnSpc>
              <a:spcBef>
                <a:spcPts val="0"/>
              </a:spcBef>
              <a:spcAft>
                <a:spcPts val="0"/>
              </a:spcAft>
              <a:buClr>
                <a:srgbClr val="FFFFFF"/>
              </a:buClr>
              <a:buSzPts val="1300"/>
              <a:buFont typeface="Arial"/>
              <a:buChar char="❖"/>
            </a:pPr>
            <a:r>
              <a:rPr b="1" i="0" lang="en-US" sz="1300" u="none" cap="none" strike="noStrike">
                <a:solidFill>
                  <a:srgbClr val="FFFFFF"/>
                </a:solidFill>
                <a:latin typeface="Cambria"/>
                <a:ea typeface="Cambria"/>
                <a:cs typeface="Cambria"/>
                <a:sym typeface="Cambria"/>
              </a:rPr>
              <a:t>Build Tool: Vite</a:t>
            </a:r>
            <a:endParaRPr b="0" i="0" sz="1300" u="none" cap="none" strike="noStrike">
              <a:solidFill>
                <a:srgbClr val="000000"/>
              </a:solidFill>
              <a:latin typeface="Cambria"/>
              <a:ea typeface="Cambria"/>
              <a:cs typeface="Cambria"/>
              <a:sym typeface="Cambria"/>
            </a:endParaRPr>
          </a:p>
          <a:p>
            <a:pPr indent="-513715" lvl="0" marL="951230" marR="0" rtl="0" algn="l">
              <a:lnSpc>
                <a:spcPct val="100000"/>
              </a:lnSpc>
              <a:spcBef>
                <a:spcPts val="0"/>
              </a:spcBef>
              <a:spcAft>
                <a:spcPts val="0"/>
              </a:spcAft>
              <a:buClr>
                <a:srgbClr val="FFFFFF"/>
              </a:buClr>
              <a:buSzPts val="1300"/>
              <a:buFont typeface="Arial"/>
              <a:buChar char="❖"/>
            </a:pPr>
            <a:r>
              <a:rPr b="1" i="0" lang="en-US" sz="1300" u="none" cap="none" strike="noStrike">
                <a:solidFill>
                  <a:srgbClr val="FFFFFF"/>
                </a:solidFill>
                <a:latin typeface="Cambria"/>
                <a:ea typeface="Cambria"/>
                <a:cs typeface="Cambria"/>
                <a:sym typeface="Cambria"/>
              </a:rPr>
              <a:t>Runtime Environment: Node.js</a:t>
            </a:r>
            <a:endParaRPr b="0" i="0" sz="1300" u="none" cap="none" strike="noStrike">
              <a:solidFill>
                <a:srgbClr val="000000"/>
              </a:solidFill>
              <a:latin typeface="Cambria"/>
              <a:ea typeface="Cambria"/>
              <a:cs typeface="Cambria"/>
              <a:sym typeface="Cambria"/>
            </a:endParaRPr>
          </a:p>
          <a:p>
            <a:pPr indent="-513715" lvl="0" marL="951230" marR="0" rtl="0" algn="l">
              <a:lnSpc>
                <a:spcPct val="100000"/>
              </a:lnSpc>
              <a:spcBef>
                <a:spcPts val="0"/>
              </a:spcBef>
              <a:spcAft>
                <a:spcPts val="0"/>
              </a:spcAft>
              <a:buClr>
                <a:srgbClr val="FFFFFF"/>
              </a:buClr>
              <a:buSzPts val="1300"/>
              <a:buFont typeface="Arial"/>
              <a:buChar char="❖"/>
            </a:pPr>
            <a:r>
              <a:rPr b="1" i="0" lang="en-US" sz="1300" u="none" cap="none" strike="noStrike">
                <a:solidFill>
                  <a:srgbClr val="FFFFFF"/>
                </a:solidFill>
                <a:latin typeface="Cambria"/>
                <a:ea typeface="Cambria"/>
                <a:cs typeface="Cambria"/>
                <a:sym typeface="Cambria"/>
              </a:rPr>
              <a:t>Input Device: Webcam</a:t>
            </a:r>
            <a:endParaRPr b="0" i="0" sz="1300" u="none" cap="none" strike="noStrike">
              <a:solidFill>
                <a:srgbClr val="000000"/>
              </a:solidFill>
              <a:latin typeface="Cambria"/>
              <a:ea typeface="Cambria"/>
              <a:cs typeface="Cambria"/>
              <a:sym typeface="Cambria"/>
            </a:endParaRPr>
          </a:p>
          <a:p>
            <a:pPr indent="-513715" lvl="0" marL="951230" marR="0" rtl="0" algn="l">
              <a:lnSpc>
                <a:spcPct val="100000"/>
              </a:lnSpc>
              <a:spcBef>
                <a:spcPts val="0"/>
              </a:spcBef>
              <a:spcAft>
                <a:spcPts val="0"/>
              </a:spcAft>
              <a:buClr>
                <a:srgbClr val="FFFFFF"/>
              </a:buClr>
              <a:buSzPts val="1300"/>
              <a:buFont typeface="Arial"/>
              <a:buChar char="❖"/>
            </a:pPr>
            <a:r>
              <a:rPr b="1" i="0" lang="en-US" sz="1300" u="none" cap="none" strike="noStrike">
                <a:solidFill>
                  <a:srgbClr val="FFFFFF"/>
                </a:solidFill>
                <a:latin typeface="Cambria"/>
                <a:ea typeface="Cambria"/>
                <a:cs typeface="Cambria"/>
                <a:sym typeface="Cambria"/>
              </a:rPr>
              <a:t>Platform:Web Browser (Chrome,Firefox)</a:t>
            </a:r>
            <a:endParaRPr b="0" i="0" sz="1300" u="none" cap="none" strike="noStrike">
              <a:solidFill>
                <a:srgbClr val="000000"/>
              </a:solidFill>
              <a:latin typeface="Cambria"/>
              <a:ea typeface="Cambria"/>
              <a:cs typeface="Cambria"/>
              <a:sym typeface="Cambria"/>
            </a:endParaRPr>
          </a:p>
          <a:p>
            <a:pPr indent="-513715" lvl="0" marL="951230" marR="0" rtl="0" algn="l">
              <a:lnSpc>
                <a:spcPct val="100000"/>
              </a:lnSpc>
              <a:spcBef>
                <a:spcPts val="0"/>
              </a:spcBef>
              <a:spcAft>
                <a:spcPts val="0"/>
              </a:spcAft>
              <a:buClr>
                <a:srgbClr val="FFFFFF"/>
              </a:buClr>
              <a:buSzPts val="1300"/>
              <a:buFont typeface="Arial"/>
              <a:buChar char="❖"/>
            </a:pPr>
            <a:r>
              <a:rPr b="1" i="0" lang="en-US" sz="1300" u="none" cap="none" strike="noStrike">
                <a:solidFill>
                  <a:srgbClr val="FFFFFF"/>
                </a:solidFill>
                <a:latin typeface="Cambria"/>
                <a:ea typeface="Cambria"/>
                <a:cs typeface="Cambria"/>
                <a:sym typeface="Cambria"/>
              </a:rPr>
              <a:t>Styling: Tailwind CSS</a:t>
            </a:r>
            <a:endParaRPr b="0" i="0" sz="1300" u="none" cap="none" strike="noStrike">
              <a:solidFill>
                <a:srgbClr val="000000"/>
              </a:solidFill>
              <a:latin typeface="Cambria"/>
              <a:ea typeface="Cambria"/>
              <a:cs typeface="Cambria"/>
              <a:sym typeface="Cambria"/>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27"/>
          <p:cNvSpPr txBox="1"/>
          <p:nvPr>
            <p:ph type="title"/>
          </p:nvPr>
        </p:nvSpPr>
        <p:spPr>
          <a:xfrm>
            <a:off x="2064984" y="522825"/>
            <a:ext cx="5292600" cy="507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n-US"/>
              <a:t>RESULTS &amp; DISCUSSION</a:t>
            </a:r>
            <a:endParaRPr/>
          </a:p>
        </p:txBody>
      </p:sp>
      <p:pic>
        <p:nvPicPr>
          <p:cNvPr id="266" name="Google Shape;266;p27" title="image sketch 1.jpeg"/>
          <p:cNvPicPr preferRelativeResize="0"/>
          <p:nvPr/>
        </p:nvPicPr>
        <p:blipFill rotWithShape="1">
          <a:blip r:embed="rId3">
            <a:alphaModFix/>
          </a:blip>
          <a:srcRect b="0" l="0" r="0" t="0"/>
          <a:stretch/>
        </p:blipFill>
        <p:spPr>
          <a:xfrm>
            <a:off x="2141200" y="1163525"/>
            <a:ext cx="2404650" cy="1991801"/>
          </a:xfrm>
          <a:prstGeom prst="rect">
            <a:avLst/>
          </a:prstGeom>
          <a:noFill/>
          <a:ln>
            <a:noFill/>
          </a:ln>
        </p:spPr>
      </p:pic>
      <p:pic>
        <p:nvPicPr>
          <p:cNvPr id="267" name="Google Shape;267;p27" title="image sketch 2.jpeg"/>
          <p:cNvPicPr preferRelativeResize="0"/>
          <p:nvPr/>
        </p:nvPicPr>
        <p:blipFill rotWithShape="1">
          <a:blip r:embed="rId4">
            <a:alphaModFix/>
          </a:blip>
          <a:srcRect b="0" l="0" r="0" t="0"/>
          <a:stretch/>
        </p:blipFill>
        <p:spPr>
          <a:xfrm>
            <a:off x="4864825" y="1163525"/>
            <a:ext cx="2171026" cy="1991801"/>
          </a:xfrm>
          <a:prstGeom prst="rect">
            <a:avLst/>
          </a:prstGeom>
          <a:noFill/>
          <a:ln>
            <a:noFill/>
          </a:ln>
        </p:spPr>
      </p:pic>
      <p:sp>
        <p:nvSpPr>
          <p:cNvPr id="268" name="Google Shape;268;p27"/>
          <p:cNvSpPr txBox="1"/>
          <p:nvPr/>
        </p:nvSpPr>
        <p:spPr>
          <a:xfrm>
            <a:off x="1470975" y="3446475"/>
            <a:ext cx="6735000" cy="1293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lt1"/>
                </a:solidFill>
                <a:latin typeface="Cambria"/>
                <a:ea typeface="Cambria"/>
                <a:cs typeface="Cambria"/>
                <a:sym typeface="Cambria"/>
              </a:rPr>
              <a:t>The output demonstrates the successful implementation of the AirSketch system using hand gesture tracking and virtual drawing techniques. The system accurately detects finger movements in real time and allows users to draw characters and shapes in the air without physical contact. Different drawing tools and color options were also integrated, showing smooth interaction, responsive performance, and an intuitive user experience through computer vision and gesture recognition.</a:t>
            </a:r>
            <a:endParaRPr b="1" i="0" sz="1200" u="none" cap="none" strike="noStrike">
              <a:solidFill>
                <a:schemeClr val="lt1"/>
              </a:solidFill>
              <a:latin typeface="Cambria"/>
              <a:ea typeface="Cambria"/>
              <a:cs typeface="Cambria"/>
              <a:sym typeface="Cambria"/>
            </a:endParaRPr>
          </a:p>
        </p:txBody>
      </p:sp>
      <p:sp>
        <p:nvSpPr>
          <p:cNvPr id="269" name="Google Shape;269;p27"/>
          <p:cNvSpPr txBox="1"/>
          <p:nvPr/>
        </p:nvSpPr>
        <p:spPr>
          <a:xfrm>
            <a:off x="2766550" y="3155325"/>
            <a:ext cx="17793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Times New Roman"/>
                <a:ea typeface="Times New Roman"/>
                <a:cs typeface="Times New Roman"/>
                <a:sym typeface="Times New Roman"/>
              </a:rPr>
              <a:t>Fig1:Hand Detection</a:t>
            </a:r>
            <a:endParaRPr b="0" i="0" sz="1000" u="none" cap="none" strike="noStrike">
              <a:solidFill>
                <a:schemeClr val="lt1"/>
              </a:solidFill>
              <a:latin typeface="Times New Roman"/>
              <a:ea typeface="Times New Roman"/>
              <a:cs typeface="Times New Roman"/>
              <a:sym typeface="Times New Roman"/>
            </a:endParaRPr>
          </a:p>
        </p:txBody>
      </p:sp>
      <p:sp>
        <p:nvSpPr>
          <p:cNvPr id="270" name="Google Shape;270;p27"/>
          <p:cNvSpPr txBox="1"/>
          <p:nvPr/>
        </p:nvSpPr>
        <p:spPr>
          <a:xfrm>
            <a:off x="5204950" y="3156763"/>
            <a:ext cx="17793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Times New Roman"/>
                <a:ea typeface="Times New Roman"/>
                <a:cs typeface="Times New Roman"/>
                <a:sym typeface="Times New Roman"/>
              </a:rPr>
              <a:t>Fig2:AirSketch Canvas</a:t>
            </a:r>
            <a:endParaRPr b="0" i="0" sz="1000" u="none" cap="none" strike="noStrike">
              <a:solidFill>
                <a:schemeClr val="lt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28"/>
          <p:cNvSpPr txBox="1"/>
          <p:nvPr>
            <p:ph idx="1" type="body"/>
          </p:nvPr>
        </p:nvSpPr>
        <p:spPr>
          <a:xfrm>
            <a:off x="420299" y="1303687"/>
            <a:ext cx="8377500" cy="3208200"/>
          </a:xfrm>
          <a:prstGeom prst="rect">
            <a:avLst/>
          </a:prstGeom>
          <a:noFill/>
          <a:ln>
            <a:noFill/>
          </a:ln>
        </p:spPr>
        <p:txBody>
          <a:bodyPr anchorCtr="0" anchor="t" bIns="0" lIns="0" spcFirstLastPara="1" rIns="0" wrap="square" tIns="12700">
            <a:spAutoFit/>
          </a:bodyPr>
          <a:lstStyle/>
          <a:p>
            <a:pPr indent="0" lvl="0" marL="0" rtl="0" algn="l">
              <a:lnSpc>
                <a:spcPct val="115000"/>
              </a:lnSpc>
              <a:spcBef>
                <a:spcPts val="1200"/>
              </a:spcBef>
              <a:spcAft>
                <a:spcPts val="0"/>
              </a:spcAft>
              <a:buClr>
                <a:schemeClr val="dk1"/>
              </a:buClr>
              <a:buSzPts val="1100"/>
              <a:buFont typeface="Arial"/>
              <a:buNone/>
            </a:pPr>
            <a:r>
              <a:rPr lang="en-US" sz="1200"/>
              <a:t>The literature survey shows that various techniques such as image processing, feature extraction, deep learning, and real-time hand tracking using MediaPipe and OpenCV have been widely used for hand gesture recognition systems. While deep learning and multimodal approaches improve accuracy, they often increase computational complexity and reduce real-time performance. On the other hand, simpler methods provide faster responses but may lack robustness and precision.</a:t>
            </a:r>
            <a:endParaRPr sz="1200"/>
          </a:p>
          <a:p>
            <a:pPr indent="0" lvl="0" marL="0" rtl="0" algn="l">
              <a:lnSpc>
                <a:spcPct val="115000"/>
              </a:lnSpc>
              <a:spcBef>
                <a:spcPts val="1200"/>
              </a:spcBef>
              <a:spcAft>
                <a:spcPts val="0"/>
              </a:spcAft>
              <a:buClr>
                <a:schemeClr val="dk1"/>
              </a:buClr>
              <a:buSzPts val="1100"/>
              <a:buFont typeface="Arial"/>
              <a:buNone/>
            </a:pPr>
            <a:r>
              <a:rPr lang="en-US" sz="1200"/>
              <a:t>From these research works and our project development, we learned that selecting the right combination of technologies is essential. In our AirSketch system, we adopted efficient hand tracking and gesture detection, focusing on real-time interaction and ease of use rather than heavy computation. We also understood the importance of handling practical challenges such as lighting variations and smooth stroke rendering.</a:t>
            </a:r>
            <a:endParaRPr sz="1200"/>
          </a:p>
          <a:p>
            <a:pPr indent="0" lvl="0" marL="0" rtl="0" algn="l">
              <a:lnSpc>
                <a:spcPct val="115000"/>
              </a:lnSpc>
              <a:spcBef>
                <a:spcPts val="1200"/>
              </a:spcBef>
              <a:spcAft>
                <a:spcPts val="0"/>
              </a:spcAft>
              <a:buClr>
                <a:schemeClr val="dk1"/>
              </a:buClr>
              <a:buSzPts val="1100"/>
              <a:buFont typeface="Arial"/>
              <a:buNone/>
            </a:pPr>
            <a:r>
              <a:rPr lang="en-US" sz="1200"/>
              <a:t>Finally, the AirSketch project successfully combines computer vision, gesture recognition, and real-time interaction to create a touchless virtual drawing system. It demonstrates how AI-based hand tracking can enhance creativity, accessibility, and human-computer interaction in an interactive and user-friendly way.</a:t>
            </a:r>
            <a:endParaRPr sz="1200"/>
          </a:p>
          <a:p>
            <a:pPr indent="0" lvl="0" marL="12700" marR="50800" rtl="0" algn="l">
              <a:lnSpc>
                <a:spcPct val="100000"/>
              </a:lnSpc>
              <a:spcBef>
                <a:spcPts val="1200"/>
              </a:spcBef>
              <a:spcAft>
                <a:spcPts val="0"/>
              </a:spcAft>
              <a:buSzPts val="1400"/>
              <a:buNone/>
            </a:pPr>
            <a:r>
              <a:t/>
            </a:r>
            <a:endParaRPr sz="1200"/>
          </a:p>
        </p:txBody>
      </p:sp>
      <p:pic>
        <p:nvPicPr>
          <p:cNvPr id="276" name="Google Shape;276;p28"/>
          <p:cNvPicPr preferRelativeResize="0"/>
          <p:nvPr/>
        </p:nvPicPr>
        <p:blipFill rotWithShape="1">
          <a:blip r:embed="rId3">
            <a:alphaModFix/>
          </a:blip>
          <a:srcRect b="0" l="0" r="0" t="0"/>
          <a:stretch/>
        </p:blipFill>
        <p:spPr>
          <a:xfrm>
            <a:off x="553250" y="595923"/>
            <a:ext cx="7875450" cy="744149"/>
          </a:xfrm>
          <a:prstGeom prst="rect">
            <a:avLst/>
          </a:prstGeom>
          <a:noFill/>
          <a:ln>
            <a:noFill/>
          </a:ln>
        </p:spPr>
      </p:pic>
      <p:sp>
        <p:nvSpPr>
          <p:cNvPr id="277" name="Google Shape;277;p28"/>
          <p:cNvSpPr txBox="1"/>
          <p:nvPr>
            <p:ph type="title"/>
          </p:nvPr>
        </p:nvSpPr>
        <p:spPr>
          <a:xfrm>
            <a:off x="3127198" y="707611"/>
            <a:ext cx="29007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a:t>CONCLUSION</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29"/>
          <p:cNvSpPr txBox="1"/>
          <p:nvPr/>
        </p:nvSpPr>
        <p:spPr>
          <a:xfrm>
            <a:off x="330300" y="790500"/>
            <a:ext cx="8483400" cy="3707100"/>
          </a:xfrm>
          <a:prstGeom prst="rect">
            <a:avLst/>
          </a:prstGeom>
          <a:noFill/>
          <a:ln>
            <a:noFill/>
          </a:ln>
        </p:spPr>
        <p:txBody>
          <a:bodyPr anchorCtr="0" anchor="t" bIns="0" lIns="0" spcFirstLastPara="1" rIns="0" wrap="square" tIns="12700">
            <a:spAutoFit/>
          </a:bodyPr>
          <a:lstStyle/>
          <a:p>
            <a:pPr indent="0" lvl="0" marL="0" marR="5080" rtl="0" algn="l">
              <a:lnSpc>
                <a:spcPct val="100000"/>
              </a:lnSpc>
              <a:spcBef>
                <a:spcPts val="0"/>
              </a:spcBef>
              <a:spcAft>
                <a:spcPts val="0"/>
              </a:spcAft>
              <a:buNone/>
            </a:pPr>
            <a:r>
              <a:rPr lang="en-US" sz="1000">
                <a:solidFill>
                  <a:schemeClr val="lt1"/>
                </a:solidFill>
                <a:latin typeface="Cambria"/>
                <a:ea typeface="Cambria"/>
                <a:cs typeface="Cambria"/>
                <a:sym typeface="Cambria"/>
              </a:rPr>
              <a:t>[1] </a:t>
            </a:r>
            <a:r>
              <a:rPr b="0" i="0" lang="en-US" sz="1000" u="none" cap="none" strike="noStrike">
                <a:solidFill>
                  <a:schemeClr val="lt1"/>
                </a:solidFill>
                <a:latin typeface="Cambria"/>
                <a:ea typeface="Cambria"/>
                <a:cs typeface="Cambria"/>
                <a:sym typeface="Cambria"/>
              </a:rPr>
              <a:t>OMG-Bench: A New Challenging Benchmark for Skeleton-based Online Micro Hand Gesture Recognition Authors:Haochen Chang, Pengfei Ren, Buyuan Zhang, Da Li, Tianhao Han, Haoyang Zhang, Liang Xie, Hongbo Chen, Erwei Yin, Published on 2026</a:t>
            </a:r>
            <a:endParaRPr b="0" i="0" sz="1000" u="none" cap="none" strike="noStrike">
              <a:solidFill>
                <a:schemeClr val="lt1"/>
              </a:solidFill>
              <a:latin typeface="Cambria"/>
              <a:ea typeface="Cambria"/>
              <a:cs typeface="Cambria"/>
              <a:sym typeface="Cambria"/>
            </a:endParaRPr>
          </a:p>
          <a:p>
            <a:pPr indent="0" lvl="0" marL="0" marR="5080" rtl="0" algn="l">
              <a:lnSpc>
                <a:spcPct val="100000"/>
              </a:lnSpc>
              <a:spcBef>
                <a:spcPts val="0"/>
              </a:spcBef>
              <a:spcAft>
                <a:spcPts val="0"/>
              </a:spcAft>
              <a:buNone/>
            </a:pPr>
            <a:r>
              <a:t/>
            </a:r>
            <a:endParaRPr sz="1000">
              <a:solidFill>
                <a:schemeClr val="lt1"/>
              </a:solidFill>
              <a:latin typeface="Cambria"/>
              <a:ea typeface="Cambria"/>
              <a:cs typeface="Cambria"/>
              <a:sym typeface="Cambria"/>
            </a:endParaRPr>
          </a:p>
          <a:p>
            <a:pPr indent="0" lvl="0" marL="0" marR="5080" rtl="0" algn="l">
              <a:lnSpc>
                <a:spcPct val="100000"/>
              </a:lnSpc>
              <a:spcBef>
                <a:spcPts val="0"/>
              </a:spcBef>
              <a:spcAft>
                <a:spcPts val="0"/>
              </a:spcAft>
              <a:buNone/>
            </a:pPr>
            <a:r>
              <a:rPr lang="en-US" sz="1000">
                <a:solidFill>
                  <a:schemeClr val="lt1"/>
                </a:solidFill>
                <a:latin typeface="Cambria"/>
                <a:ea typeface="Cambria"/>
                <a:cs typeface="Cambria"/>
                <a:sym typeface="Cambria"/>
              </a:rPr>
              <a:t>[2]</a:t>
            </a:r>
            <a:r>
              <a:rPr b="0" i="0" lang="en-US" sz="1000" u="none" cap="none" strike="noStrike">
                <a:solidFill>
                  <a:schemeClr val="lt1"/>
                </a:solidFill>
                <a:latin typeface="Cambria"/>
                <a:ea typeface="Cambria"/>
                <a:cs typeface="Cambria"/>
                <a:sym typeface="Cambria"/>
              </a:rPr>
              <a:t>Dynamic LIBRAS Gesture Recognition via CNN over Spatiotemporal Matrix Representation Authors: Jasmine Moreira, Published on 2026</a:t>
            </a:r>
            <a:endParaRPr b="0" i="0" sz="1000" u="none" cap="none" strike="noStrike">
              <a:solidFill>
                <a:schemeClr val="lt1"/>
              </a:solidFill>
              <a:latin typeface="Cambria"/>
              <a:ea typeface="Cambria"/>
              <a:cs typeface="Cambria"/>
              <a:sym typeface="Cambria"/>
            </a:endParaRPr>
          </a:p>
          <a:p>
            <a:pPr indent="0" lvl="0" marL="0" marR="5080" rtl="0" algn="l">
              <a:lnSpc>
                <a:spcPct val="100000"/>
              </a:lnSpc>
              <a:spcBef>
                <a:spcPts val="0"/>
              </a:spcBef>
              <a:spcAft>
                <a:spcPts val="0"/>
              </a:spcAft>
              <a:buNone/>
            </a:pPr>
            <a:r>
              <a:t/>
            </a:r>
            <a:endParaRPr sz="1000">
              <a:solidFill>
                <a:schemeClr val="lt1"/>
              </a:solidFill>
              <a:latin typeface="Cambria"/>
              <a:ea typeface="Cambria"/>
              <a:cs typeface="Cambria"/>
              <a:sym typeface="Cambria"/>
            </a:endParaRPr>
          </a:p>
          <a:p>
            <a:pPr indent="0" lvl="0" marL="0" marR="5080" rtl="0" algn="l">
              <a:lnSpc>
                <a:spcPct val="100000"/>
              </a:lnSpc>
              <a:spcBef>
                <a:spcPts val="0"/>
              </a:spcBef>
              <a:spcAft>
                <a:spcPts val="0"/>
              </a:spcAft>
              <a:buNone/>
            </a:pPr>
            <a:r>
              <a:rPr lang="en-US" sz="1000">
                <a:solidFill>
                  <a:schemeClr val="lt1"/>
                </a:solidFill>
                <a:latin typeface="Cambria"/>
                <a:ea typeface="Cambria"/>
                <a:cs typeface="Cambria"/>
                <a:sym typeface="Cambria"/>
              </a:rPr>
              <a:t>[3]</a:t>
            </a:r>
            <a:r>
              <a:rPr b="0" i="0" lang="en-US" sz="1000" u="none" cap="none" strike="noStrike">
                <a:solidFill>
                  <a:schemeClr val="lt1"/>
                </a:solidFill>
                <a:latin typeface="Cambria"/>
                <a:ea typeface="Cambria"/>
                <a:cs typeface="Cambria"/>
                <a:sym typeface="Cambria"/>
              </a:rPr>
              <a:t>Painting with Hand Gestures using MediaPipe Authors: R.Vasavi, Nenavath Rahul, A Snigdha, K. Jeffery Moses, S.Vishal Simha, Published on 2022</a:t>
            </a:r>
            <a:endParaRPr b="0" i="0" sz="1000" u="none" cap="none" strike="noStrike">
              <a:solidFill>
                <a:schemeClr val="lt1"/>
              </a:solidFill>
              <a:latin typeface="Cambria"/>
              <a:ea typeface="Cambria"/>
              <a:cs typeface="Cambria"/>
              <a:sym typeface="Cambria"/>
            </a:endParaRPr>
          </a:p>
          <a:p>
            <a:pPr indent="0" lvl="0" marL="0" marR="5080" rtl="0" algn="l">
              <a:lnSpc>
                <a:spcPct val="100000"/>
              </a:lnSpc>
              <a:spcBef>
                <a:spcPts val="0"/>
              </a:spcBef>
              <a:spcAft>
                <a:spcPts val="0"/>
              </a:spcAft>
              <a:buNone/>
            </a:pPr>
            <a:r>
              <a:t/>
            </a:r>
            <a:endParaRPr sz="1000">
              <a:solidFill>
                <a:schemeClr val="lt1"/>
              </a:solidFill>
              <a:latin typeface="Cambria"/>
              <a:ea typeface="Cambria"/>
              <a:cs typeface="Cambria"/>
              <a:sym typeface="Cambria"/>
            </a:endParaRPr>
          </a:p>
          <a:p>
            <a:pPr indent="0" lvl="0" marL="0" marR="5080" rtl="0" algn="l">
              <a:lnSpc>
                <a:spcPct val="100000"/>
              </a:lnSpc>
              <a:spcBef>
                <a:spcPts val="0"/>
              </a:spcBef>
              <a:spcAft>
                <a:spcPts val="0"/>
              </a:spcAft>
              <a:buNone/>
            </a:pPr>
            <a:r>
              <a:rPr lang="en-US" sz="1000">
                <a:solidFill>
                  <a:schemeClr val="lt1"/>
                </a:solidFill>
                <a:latin typeface="Cambria"/>
                <a:ea typeface="Cambria"/>
                <a:cs typeface="Cambria"/>
                <a:sym typeface="Cambria"/>
              </a:rPr>
              <a:t>[4]</a:t>
            </a:r>
            <a:r>
              <a:rPr b="0" i="0" lang="en-US" sz="1000" u="none" cap="none" strike="noStrike">
                <a:solidFill>
                  <a:schemeClr val="lt1"/>
                </a:solidFill>
                <a:latin typeface="Cambria"/>
                <a:ea typeface="Cambria"/>
                <a:cs typeface="Cambria"/>
                <a:sym typeface="Cambria"/>
              </a:rPr>
              <a:t>AIR CANVAS HAND TRACKING Authors: SWATHI. A, Published on 2024</a:t>
            </a:r>
            <a:endParaRPr b="0" i="0" sz="1000" u="none" cap="none" strike="noStrike">
              <a:solidFill>
                <a:schemeClr val="lt1"/>
              </a:solidFill>
              <a:latin typeface="Cambria"/>
              <a:ea typeface="Cambria"/>
              <a:cs typeface="Cambria"/>
              <a:sym typeface="Cambria"/>
            </a:endParaRPr>
          </a:p>
          <a:p>
            <a:pPr indent="0" lvl="0" marL="0" marR="5080" rtl="0" algn="l">
              <a:lnSpc>
                <a:spcPct val="100000"/>
              </a:lnSpc>
              <a:spcBef>
                <a:spcPts val="0"/>
              </a:spcBef>
              <a:spcAft>
                <a:spcPts val="0"/>
              </a:spcAft>
              <a:buNone/>
            </a:pPr>
            <a:r>
              <a:t/>
            </a:r>
            <a:endParaRPr sz="1000">
              <a:solidFill>
                <a:schemeClr val="lt1"/>
              </a:solidFill>
              <a:latin typeface="Cambria"/>
              <a:ea typeface="Cambria"/>
              <a:cs typeface="Cambria"/>
              <a:sym typeface="Cambria"/>
            </a:endParaRPr>
          </a:p>
          <a:p>
            <a:pPr indent="0" lvl="0" marL="0" marR="5080" rtl="0" algn="l">
              <a:lnSpc>
                <a:spcPct val="100000"/>
              </a:lnSpc>
              <a:spcBef>
                <a:spcPts val="0"/>
              </a:spcBef>
              <a:spcAft>
                <a:spcPts val="0"/>
              </a:spcAft>
              <a:buNone/>
            </a:pPr>
            <a:r>
              <a:rPr lang="en-US" sz="1000">
                <a:solidFill>
                  <a:schemeClr val="lt1"/>
                </a:solidFill>
                <a:latin typeface="Cambria"/>
                <a:ea typeface="Cambria"/>
                <a:cs typeface="Cambria"/>
                <a:sym typeface="Cambria"/>
              </a:rPr>
              <a:t>[5]</a:t>
            </a:r>
            <a:r>
              <a:rPr b="0" i="0" lang="en-US" sz="1000" u="none" cap="none" strike="noStrike">
                <a:solidFill>
                  <a:schemeClr val="lt1"/>
                </a:solidFill>
                <a:latin typeface="Cambria"/>
                <a:ea typeface="Cambria"/>
                <a:cs typeface="Cambria"/>
                <a:sym typeface="Cambria"/>
              </a:rPr>
              <a:t>A Deep Learning-based Multimodal Depth-Aware Dynamic Hand Gesture Recognition System Authors:Hasan Mahmud,Mashrur Mahmud Morshed,Md</a:t>
            </a:r>
            <a:endParaRPr b="0" i="0" sz="1000" u="none" cap="none" strike="noStrike">
              <a:solidFill>
                <a:schemeClr val="lt1"/>
              </a:solidFill>
              <a:latin typeface="Cambria"/>
              <a:ea typeface="Cambria"/>
              <a:cs typeface="Cambria"/>
              <a:sym typeface="Cambria"/>
            </a:endParaRPr>
          </a:p>
          <a:p>
            <a:pPr indent="0" lvl="0" marL="0" marR="5080" rtl="0" algn="l">
              <a:lnSpc>
                <a:spcPct val="100000"/>
              </a:lnSpc>
              <a:spcBef>
                <a:spcPts val="0"/>
              </a:spcBef>
              <a:spcAft>
                <a:spcPts val="0"/>
              </a:spcAft>
              <a:buNone/>
            </a:pPr>
            <a:r>
              <a:t/>
            </a:r>
            <a:endParaRPr sz="1000">
              <a:solidFill>
                <a:schemeClr val="lt1"/>
              </a:solidFill>
              <a:latin typeface="Cambria"/>
              <a:ea typeface="Cambria"/>
              <a:cs typeface="Cambria"/>
              <a:sym typeface="Cambria"/>
            </a:endParaRPr>
          </a:p>
          <a:p>
            <a:pPr indent="0" lvl="0" marL="0" marR="5080" rtl="0" algn="l">
              <a:lnSpc>
                <a:spcPct val="100000"/>
              </a:lnSpc>
              <a:spcBef>
                <a:spcPts val="0"/>
              </a:spcBef>
              <a:spcAft>
                <a:spcPts val="0"/>
              </a:spcAft>
              <a:buNone/>
            </a:pPr>
            <a:r>
              <a:rPr lang="en-US" sz="1000">
                <a:solidFill>
                  <a:schemeClr val="lt1"/>
                </a:solidFill>
                <a:latin typeface="Cambria"/>
                <a:ea typeface="Cambria"/>
                <a:cs typeface="Cambria"/>
                <a:sym typeface="Cambria"/>
              </a:rPr>
              <a:t> [6]</a:t>
            </a:r>
            <a:r>
              <a:rPr b="0" i="0" lang="en-US" sz="1000" u="none" cap="none" strike="noStrike">
                <a:solidFill>
                  <a:schemeClr val="lt1"/>
                </a:solidFill>
                <a:latin typeface="Cambria"/>
                <a:ea typeface="Cambria"/>
                <a:cs typeface="Cambria"/>
                <a:sym typeface="Cambria"/>
              </a:rPr>
              <a:t>Hand Gesture Recognition using Image Processing and Feature Extraction Techniques Authors: Ashish Sharma, Anmol Mittal, Savitoj Singh, Vasudev Awatramani, Published on 2020</a:t>
            </a:r>
            <a:endParaRPr b="0" i="0" sz="1000" u="none" cap="none" strike="noStrike">
              <a:solidFill>
                <a:schemeClr val="lt1"/>
              </a:solidFill>
              <a:latin typeface="Cambria"/>
              <a:ea typeface="Cambria"/>
              <a:cs typeface="Cambria"/>
              <a:sym typeface="Cambria"/>
            </a:endParaRPr>
          </a:p>
          <a:p>
            <a:pPr indent="0" lvl="0" marL="0" marR="5080" rtl="0" algn="l">
              <a:lnSpc>
                <a:spcPct val="100000"/>
              </a:lnSpc>
              <a:spcBef>
                <a:spcPts val="0"/>
              </a:spcBef>
              <a:spcAft>
                <a:spcPts val="0"/>
              </a:spcAft>
              <a:buNone/>
            </a:pPr>
            <a:r>
              <a:t/>
            </a:r>
            <a:endParaRPr sz="1000">
              <a:solidFill>
                <a:schemeClr val="lt1"/>
              </a:solidFill>
              <a:latin typeface="Cambria"/>
              <a:ea typeface="Cambria"/>
              <a:cs typeface="Cambria"/>
              <a:sym typeface="Cambria"/>
            </a:endParaRPr>
          </a:p>
          <a:p>
            <a:pPr indent="0" lvl="0" marL="0" marR="5080" rtl="0" algn="l">
              <a:lnSpc>
                <a:spcPct val="100000"/>
              </a:lnSpc>
              <a:spcBef>
                <a:spcPts val="0"/>
              </a:spcBef>
              <a:spcAft>
                <a:spcPts val="0"/>
              </a:spcAft>
              <a:buNone/>
            </a:pPr>
            <a:r>
              <a:rPr lang="en-US" sz="1000">
                <a:solidFill>
                  <a:schemeClr val="lt1"/>
                </a:solidFill>
                <a:latin typeface="Cambria"/>
                <a:ea typeface="Cambria"/>
                <a:cs typeface="Cambria"/>
                <a:sym typeface="Cambria"/>
              </a:rPr>
              <a:t>[7]</a:t>
            </a:r>
            <a:r>
              <a:rPr b="0" i="0" lang="en-US" sz="1000" u="none" cap="none" strike="noStrike">
                <a:solidFill>
                  <a:schemeClr val="lt1"/>
                </a:solidFill>
                <a:latin typeface="Cambria"/>
                <a:ea typeface="Cambria"/>
                <a:cs typeface="Cambria"/>
                <a:sym typeface="Cambria"/>
              </a:rPr>
              <a:t>Computer vision-based hand gesture recognition for human-robot interaction Authors: Jing Qi, Li Ma, Zhenchao Cui &amp; Yushu Yu</a:t>
            </a:r>
            <a:endParaRPr b="0" i="0" sz="1000" u="none" cap="none" strike="noStrike">
              <a:solidFill>
                <a:schemeClr val="lt1"/>
              </a:solidFill>
              <a:latin typeface="Cambria"/>
              <a:ea typeface="Cambria"/>
              <a:cs typeface="Cambria"/>
              <a:sym typeface="Cambria"/>
            </a:endParaRPr>
          </a:p>
          <a:p>
            <a:pPr indent="0" lvl="0" marL="0" marR="5080" rtl="0" algn="l">
              <a:lnSpc>
                <a:spcPct val="100000"/>
              </a:lnSpc>
              <a:spcBef>
                <a:spcPts val="0"/>
              </a:spcBef>
              <a:spcAft>
                <a:spcPts val="0"/>
              </a:spcAft>
              <a:buNone/>
            </a:pPr>
            <a:r>
              <a:t/>
            </a:r>
            <a:endParaRPr sz="1000">
              <a:solidFill>
                <a:schemeClr val="lt1"/>
              </a:solidFill>
              <a:latin typeface="Cambria"/>
              <a:ea typeface="Cambria"/>
              <a:cs typeface="Cambria"/>
              <a:sym typeface="Cambria"/>
            </a:endParaRPr>
          </a:p>
          <a:p>
            <a:pPr indent="0" lvl="0" marL="0" marR="5080" rtl="0" algn="l">
              <a:lnSpc>
                <a:spcPct val="100000"/>
              </a:lnSpc>
              <a:spcBef>
                <a:spcPts val="0"/>
              </a:spcBef>
              <a:spcAft>
                <a:spcPts val="0"/>
              </a:spcAft>
              <a:buNone/>
            </a:pPr>
            <a:r>
              <a:rPr lang="en-US" sz="1000">
                <a:solidFill>
                  <a:schemeClr val="lt1"/>
                </a:solidFill>
                <a:latin typeface="Cambria"/>
                <a:ea typeface="Cambria"/>
                <a:cs typeface="Cambria"/>
                <a:sym typeface="Cambria"/>
              </a:rPr>
              <a:t>[8]</a:t>
            </a:r>
            <a:r>
              <a:rPr b="0" i="0" lang="en-US" sz="1000" u="none" cap="none" strike="noStrike">
                <a:solidFill>
                  <a:schemeClr val="lt1"/>
                </a:solidFill>
                <a:latin typeface="Cambria"/>
                <a:ea typeface="Cambria"/>
                <a:cs typeface="Cambria"/>
                <a:sym typeface="Cambria"/>
              </a:rPr>
              <a:t>Hand gesture and voice-controlled mouse for physically challenged using computer vision Authors: Aarti Morajkar Atheena Mariyam James, Minoli Bagwe, Aleena Sara James</a:t>
            </a:r>
            <a:endParaRPr b="0" i="0" sz="1000" u="none" cap="none" strike="noStrike">
              <a:solidFill>
                <a:schemeClr val="lt1"/>
              </a:solidFill>
              <a:latin typeface="Cambria"/>
              <a:ea typeface="Cambria"/>
              <a:cs typeface="Cambria"/>
              <a:sym typeface="Cambria"/>
            </a:endParaRPr>
          </a:p>
          <a:p>
            <a:pPr indent="0" lvl="0" marL="0" marR="5080" rtl="0" algn="l">
              <a:lnSpc>
                <a:spcPct val="100000"/>
              </a:lnSpc>
              <a:spcBef>
                <a:spcPts val="0"/>
              </a:spcBef>
              <a:spcAft>
                <a:spcPts val="0"/>
              </a:spcAft>
              <a:buNone/>
            </a:pPr>
            <a:r>
              <a:t/>
            </a:r>
            <a:endParaRPr sz="1000">
              <a:solidFill>
                <a:schemeClr val="lt1"/>
              </a:solidFill>
              <a:latin typeface="Cambria"/>
              <a:ea typeface="Cambria"/>
              <a:cs typeface="Cambria"/>
              <a:sym typeface="Cambria"/>
            </a:endParaRPr>
          </a:p>
          <a:p>
            <a:pPr indent="0" lvl="0" marL="0" marR="5080" rtl="0" algn="l">
              <a:lnSpc>
                <a:spcPct val="100000"/>
              </a:lnSpc>
              <a:spcBef>
                <a:spcPts val="0"/>
              </a:spcBef>
              <a:spcAft>
                <a:spcPts val="0"/>
              </a:spcAft>
              <a:buNone/>
            </a:pPr>
            <a:r>
              <a:rPr lang="en-US" sz="1000">
                <a:solidFill>
                  <a:schemeClr val="lt1"/>
                </a:solidFill>
                <a:latin typeface="Cambria"/>
                <a:ea typeface="Cambria"/>
                <a:cs typeface="Cambria"/>
                <a:sym typeface="Cambria"/>
              </a:rPr>
              <a:t>[9]</a:t>
            </a:r>
            <a:r>
              <a:rPr b="0" i="0" lang="en-US" sz="1000" u="none" cap="none" strike="noStrike">
                <a:solidFill>
                  <a:schemeClr val="lt1"/>
                </a:solidFill>
                <a:latin typeface="Cambria"/>
                <a:ea typeface="Cambria"/>
                <a:cs typeface="Cambria"/>
                <a:sym typeface="Cambria"/>
              </a:rPr>
              <a:t>MediaPipe-LSTM-Enhanced Framework for Real-Time Dynamic Sign Language Recognition in Inclusive Communication Systems Authors: N. Anithadevi, SatheeshKumar Palanisamy, S. Saranya Rubini, Sachin Shrestha</a:t>
            </a:r>
            <a:endParaRPr b="0" i="0" sz="1000" u="none" cap="none" strike="noStrike">
              <a:solidFill>
                <a:schemeClr val="lt1"/>
              </a:solidFill>
              <a:latin typeface="Cambria"/>
              <a:ea typeface="Cambria"/>
              <a:cs typeface="Cambria"/>
              <a:sym typeface="Cambria"/>
            </a:endParaRPr>
          </a:p>
          <a:p>
            <a:pPr indent="0" lvl="0" marL="0" marR="5080" rtl="0" algn="l">
              <a:lnSpc>
                <a:spcPct val="100000"/>
              </a:lnSpc>
              <a:spcBef>
                <a:spcPts val="0"/>
              </a:spcBef>
              <a:spcAft>
                <a:spcPts val="0"/>
              </a:spcAft>
              <a:buNone/>
            </a:pPr>
            <a:r>
              <a:t/>
            </a:r>
            <a:endParaRPr sz="1000">
              <a:solidFill>
                <a:schemeClr val="lt1"/>
              </a:solidFill>
              <a:latin typeface="Cambria"/>
              <a:ea typeface="Cambria"/>
              <a:cs typeface="Cambria"/>
              <a:sym typeface="Cambria"/>
            </a:endParaRPr>
          </a:p>
          <a:p>
            <a:pPr indent="0" lvl="0" marL="0" marR="5080" rtl="0" algn="l">
              <a:lnSpc>
                <a:spcPct val="100000"/>
              </a:lnSpc>
              <a:spcBef>
                <a:spcPts val="0"/>
              </a:spcBef>
              <a:spcAft>
                <a:spcPts val="0"/>
              </a:spcAft>
              <a:buNone/>
            </a:pPr>
            <a:r>
              <a:rPr lang="en-US" sz="1000">
                <a:solidFill>
                  <a:schemeClr val="lt1"/>
                </a:solidFill>
                <a:latin typeface="Cambria"/>
                <a:ea typeface="Cambria"/>
                <a:cs typeface="Cambria"/>
                <a:sym typeface="Cambria"/>
              </a:rPr>
              <a:t>[10]</a:t>
            </a:r>
            <a:r>
              <a:rPr b="0" i="0" lang="en-US" sz="1000" u="none" cap="none" strike="noStrike">
                <a:solidFill>
                  <a:schemeClr val="lt1"/>
                </a:solidFill>
                <a:latin typeface="Cambria"/>
                <a:ea typeface="Cambria"/>
                <a:cs typeface="Cambria"/>
                <a:sym typeface="Cambria"/>
              </a:rPr>
              <a:t>Towards Understanding the Faults of JavaScript-Based Deep Learning Systems Authors: Lili Quan, Qianyu Guo, Xiaofei Xie, Sen Chen, Xiaohong Li, Yang Liu</a:t>
            </a:r>
            <a:endParaRPr b="0" i="0" sz="1000" u="none" cap="none" strike="noStrike">
              <a:solidFill>
                <a:schemeClr val="lt1"/>
              </a:solidFill>
              <a:latin typeface="Cambria"/>
              <a:ea typeface="Cambria"/>
              <a:cs typeface="Cambria"/>
              <a:sym typeface="Cambria"/>
            </a:endParaRPr>
          </a:p>
        </p:txBody>
      </p:sp>
      <p:pic>
        <p:nvPicPr>
          <p:cNvPr id="283" name="Google Shape;283;p29"/>
          <p:cNvPicPr preferRelativeResize="0"/>
          <p:nvPr/>
        </p:nvPicPr>
        <p:blipFill rotWithShape="1">
          <a:blip r:embed="rId3">
            <a:alphaModFix/>
          </a:blip>
          <a:srcRect b="0" l="0" r="0" t="0"/>
          <a:stretch/>
        </p:blipFill>
        <p:spPr>
          <a:xfrm>
            <a:off x="634275" y="0"/>
            <a:ext cx="7875449" cy="608050"/>
          </a:xfrm>
          <a:prstGeom prst="rect">
            <a:avLst/>
          </a:prstGeom>
          <a:noFill/>
          <a:ln>
            <a:noFill/>
          </a:ln>
        </p:spPr>
      </p:pic>
      <p:sp>
        <p:nvSpPr>
          <p:cNvPr id="284" name="Google Shape;284;p29"/>
          <p:cNvSpPr txBox="1"/>
          <p:nvPr>
            <p:ph type="title"/>
          </p:nvPr>
        </p:nvSpPr>
        <p:spPr>
          <a:xfrm>
            <a:off x="3156425" y="43625"/>
            <a:ext cx="31089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a:t>REFERENCES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FFFF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